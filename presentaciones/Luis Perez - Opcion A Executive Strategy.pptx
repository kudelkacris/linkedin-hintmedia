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spc="300">
                <a:solidFill>
                  <a:srgbClr val="C9A35A"/>
                </a:solidFill>
                <a:latin typeface="Calibri"/>
              </a:rPr>
              <a:t>HINT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6517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0" i="0">
                <a:solidFill>
                  <a:srgbClr val="F3EFE4"/>
                </a:solidFill>
                <a:latin typeface="Georgia"/>
              </a:rPr>
              <a:t>Luis Pérez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7490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B8B3A3"/>
                </a:solidFill>
                <a:latin typeface="Georgia"/>
              </a:rPr>
              <a:t>Una lectura estratégica de tu posición actual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spc="300">
                <a:solidFill>
                  <a:srgbClr val="C9A35A"/>
                </a:solidFill>
                <a:latin typeface="Calibri"/>
              </a:rPr>
              <a:t>DIAGNÓSTICO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1234440"/>
            <a:ext cx="457200" cy="19050"/>
          </a:xfrm>
          <a:prstGeom prst="rect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600">
                <a:solidFill>
                  <a:srgbClr val="F3EFE4"/>
                </a:solidFill>
                <a:latin typeface="Georgia"/>
              </a:rPr>
              <a:t>Construiste 16 años de autoridad que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F3EFE4"/>
                </a:solidFill>
                <a:latin typeface="Georgia"/>
              </a:rPr>
              <a:t>Construiste 16 años de autoridad que </a:t>
            </a:r>
            <a:r>
              <a:rPr sz="3600">
                <a:solidFill>
                  <a:srgbClr val="C9A35A"/>
                </a:solidFill>
                <a:latin typeface="Georgia"/>
              </a:rPr>
              <a:t>tu mercado no puede 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B8B3A3"/>
                </a:solidFill>
                <a:latin typeface="Calibri"/>
              </a:rPr>
              <a:t>Berkshire Corporation, Thunderbird, Foamtec. Trayectoria real. Visibilidad pública: prácticamente ninguna.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spc="300">
                <a:solidFill>
                  <a:srgbClr val="C9A35A"/>
                </a:solidFill>
                <a:latin typeface="Calibri"/>
              </a:rPr>
              <a:t>EL PATRÓN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1234440"/>
            <a:ext cx="457200" cy="19050"/>
          </a:xfrm>
          <a:prstGeom prst="rect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F3EFE4"/>
                </a:solidFill>
                <a:latin typeface="Georgia"/>
              </a:rPr>
              <a:t>Celebrás el éxito ajeno. </a:t>
            </a:r>
            <a:r>
              <a:rPr sz="3600">
                <a:solidFill>
                  <a:srgbClr val="C9A35A"/>
                </a:solidFill>
                <a:latin typeface="Georgia"/>
              </a:rPr>
              <a:t>Silenciás el propio.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6576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600" b="0" i="0">
                <a:solidFill>
                  <a:srgbClr val="C9A35A"/>
                </a:solidFill>
                <a:latin typeface="Georgia"/>
              </a:rPr>
              <a:t>30+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800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8B3A3"/>
                </a:solidFill>
                <a:latin typeface="Calibri"/>
              </a:rPr>
              <a:t>Felicitaciones a colegas, 6 meses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6576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600" b="0" i="0">
                <a:solidFill>
                  <a:srgbClr val="403D35"/>
                </a:solidFill>
                <a:latin typeface="Georgia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800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8B3A3"/>
                </a:solidFill>
                <a:latin typeface="Calibri"/>
              </a:rPr>
              <a:t>Posts propios sobre tu trabajo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spc="300">
                <a:solidFill>
                  <a:srgbClr val="C9A35A"/>
                </a:solidFill>
                <a:latin typeface="Calibri"/>
              </a:rPr>
              <a:t>EL RIESGO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1234440"/>
            <a:ext cx="457200" cy="19050"/>
          </a:xfrm>
          <a:prstGeom prst="rect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F3EFE4"/>
                </a:solidFill>
                <a:latin typeface="Georgia"/>
              </a:rPr>
              <a:t>La autoridad invisible </a:t>
            </a:r>
            <a:r>
              <a:rPr sz="3600">
                <a:solidFill>
                  <a:srgbClr val="C9A35A"/>
                </a:solidFill>
                <a:latin typeface="Georgia"/>
              </a:rPr>
              <a:t>no decide 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3832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B8B3A3"/>
                </a:solidFill>
                <a:latin typeface="Calibri"/>
              </a:rPr>
              <a:t>No la ve el comprador que te busca. No la ve el evento que invita a la empresa y no a vos. No la ve quien podría abrirte la próxima puerta.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spc="300">
                <a:solidFill>
                  <a:srgbClr val="C9A35A"/>
                </a:solidFill>
                <a:latin typeface="Calibri"/>
              </a:rPr>
              <a:t>EL MOMENTO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1234440"/>
            <a:ext cx="457200" cy="19050"/>
          </a:xfrm>
          <a:prstGeom prst="rect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>
                <a:solidFill>
                  <a:srgbClr val="F3EFE4"/>
                </a:solidFill>
                <a:latin typeface="Georgia"/>
              </a:rPr>
              <a:t>El cargo correcto. La red correcta. </a:t>
            </a:r>
            <a:r>
              <a:rPr sz="3400">
                <a:solidFill>
                  <a:srgbClr val="C9A35A"/>
                </a:solidFill>
                <a:latin typeface="Georgia"/>
              </a:rPr>
              <a:t>El momento que no se repite.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931920"/>
            <a:ext cx="5029200" cy="127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29000" y="3822191"/>
            <a:ext cx="164592" cy="164592"/>
          </a:xfrm>
          <a:prstGeom prst="rect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spc="300">
                <a:solidFill>
                  <a:srgbClr val="C9A35A"/>
                </a:solidFill>
                <a:latin typeface="Calibri"/>
              </a:rPr>
              <a:t>EL POSICIONAMIENTO POSIBLE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1234440"/>
            <a:ext cx="457200" cy="19050"/>
          </a:xfrm>
          <a:prstGeom prst="rect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>
                <a:solidFill>
                  <a:srgbClr val="F3EFE4"/>
                </a:solidFill>
                <a:latin typeface="Georgia"/>
              </a:rPr>
              <a:t>De responsable comercial regional a </a:t>
            </a:r>
            <a:r>
              <a:rPr sz="3400">
                <a:solidFill>
                  <a:srgbClr val="C9A35A"/>
                </a:solidFill>
                <a:latin typeface="Georgia"/>
              </a:rPr>
              <a:t>referencia</a:t>
            </a:r>
            <a:r>
              <a:rPr sz="3400">
                <a:solidFill>
                  <a:srgbClr val="F3EFE4"/>
                </a:solidFill>
                <a:latin typeface="Georgia"/>
              </a:rPr>
              <a:t> de su especialidad en LATAM.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spc="300">
                <a:solidFill>
                  <a:srgbClr val="C9A35A"/>
                </a:solidFill>
                <a:latin typeface="Calibri"/>
              </a:rPr>
              <a:t>CÓMO LO PENSAMOS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1234440"/>
            <a:ext cx="457200" cy="19050"/>
          </a:xfrm>
          <a:prstGeom prst="rect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F3EFE4"/>
                </a:solidFill>
                <a:latin typeface="Georgia"/>
              </a:rPr>
              <a:t>Vos seguís siendo el experto. </a:t>
            </a:r>
            <a:r>
              <a:rPr sz="3600">
                <a:solidFill>
                  <a:srgbClr val="C9A35A"/>
                </a:solidFill>
                <a:latin typeface="Georgia"/>
              </a:rPr>
              <a:t>Nosotros construimos el eco.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spc="300">
                <a:solidFill>
                  <a:srgbClr val="C9A35A"/>
                </a:solidFill>
                <a:latin typeface="Calibri"/>
              </a:rPr>
              <a:t>YA LO HICIMOS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1234440"/>
            <a:ext cx="457200" cy="19050"/>
          </a:xfrm>
          <a:prstGeom prst="rect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1">
                <a:solidFill>
                  <a:srgbClr val="F3EFE4"/>
                </a:solidFill>
                <a:latin typeface="Georgia"/>
              </a:rPr>
              <a:t>"Con Hint encontramos un socio estratégico más que una agencia. Son parte fundamental de nuestro crecimiento."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566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8B3A3"/>
                </a:solidFill>
                <a:latin typeface="Calibri"/>
              </a:rPr>
              <a:t>Mariano Aquino · CEO, Destiny Group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spc="300">
                <a:solidFill>
                  <a:srgbClr val="C9A35A"/>
                </a:solidFill>
                <a:latin typeface="Calibri"/>
              </a:rPr>
              <a:t>PRÓXIMO PASO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1234440"/>
            <a:ext cx="457200" cy="19050"/>
          </a:xfrm>
          <a:prstGeom prst="rect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>
                <a:solidFill>
                  <a:srgbClr val="E9D9AD"/>
                </a:solidFill>
                <a:latin typeface="Georgia"/>
              </a:rPr>
              <a:t>Esta conversación ya es </a:t>
            </a:r>
            <a:r>
              <a:rPr sz="3400">
                <a:solidFill>
                  <a:srgbClr val="C9A35A"/>
                </a:solidFill>
                <a:latin typeface="Georgia"/>
              </a:rPr>
              <a:t>el primer contenido.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3832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B8B3A3"/>
                </a:solidFill>
                <a:latin typeface="Calibri"/>
              </a:rPr>
              <a:t>¿Coordinamos 45 minutos la semana que viene para mapear tus primeros 3 posts?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E6A60"/>
                </a:solidFill>
                <a:latin typeface="Calibri"/>
              </a:rPr>
              <a:t>florencia@hintmedia.net · +54 11 2386 8788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