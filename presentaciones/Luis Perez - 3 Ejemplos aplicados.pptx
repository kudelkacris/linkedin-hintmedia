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82B"/>
        </a:solidFill>
        <a:effectLst/>
      </p:bgPr>
    </p:bg>
    <p:spTree>
      <p:nvGrpSpPr>
        <p:cNvPr id="1" name=""/>
        <p:cNvGrpSpPr/>
        <p:nvPr/>
      </p:nvGrpSpPr>
      <p:grpSpPr/>
      <p:sp>
        <p:nvSpPr>
          <p:cNvPr id="2" name="TextBox 1"/>
          <p:cNvSpPr txBox="1"/>
          <p:nvPr/>
        </p:nvSpPr>
        <p:spPr>
          <a:xfrm>
            <a:off x="822960" y="640080"/>
            <a:ext cx="5486400" cy="457200"/>
          </a:xfrm>
          <a:prstGeom prst="rect">
            <a:avLst/>
          </a:prstGeom>
          <a:noFill/>
        </p:spPr>
        <p:txBody>
          <a:bodyPr wrap="square">
            <a:spAutoFit/>
          </a:bodyPr>
          <a:lstStyle/>
          <a:p>
            <a:pPr algn="l">
              <a:spcAft>
                <a:spcPts val="600"/>
              </a:spcAft>
            </a:pPr>
            <a:r>
              <a:rPr sz="1100" b="1" i="0" spc="200">
                <a:solidFill>
                  <a:srgbClr val="EEE3CB"/>
                </a:solidFill>
                <a:latin typeface="Calibri"/>
              </a:rPr>
              <a:t>MATERIAL INTERNO · HINT MEDIA</a:t>
            </a:r>
          </a:p>
        </p:txBody>
      </p:sp>
      <p:sp>
        <p:nvSpPr>
          <p:cNvPr id="3" name="TextBox 2"/>
          <p:cNvSpPr txBox="1"/>
          <p:nvPr/>
        </p:nvSpPr>
        <p:spPr>
          <a:xfrm>
            <a:off x="822960" y="1920240"/>
            <a:ext cx="9601200" cy="1645920"/>
          </a:xfrm>
          <a:prstGeom prst="rect">
            <a:avLst/>
          </a:prstGeom>
          <a:noFill/>
        </p:spPr>
        <p:txBody>
          <a:bodyPr wrap="square">
            <a:spAutoFit/>
          </a:bodyPr>
          <a:lstStyle/>
          <a:p>
            <a:pPr algn="l">
              <a:spcAft>
                <a:spcPts val="600"/>
              </a:spcAft>
            </a:pPr>
            <a:r>
              <a:rPr sz="4400" b="1" i="0">
                <a:solidFill>
                  <a:srgbClr val="F9F6EE"/>
                </a:solidFill>
                <a:latin typeface="Georgia"/>
              </a:rPr>
              <a:t>Así se vería</a:t>
            </a:r>
          </a:p>
          <a:p>
            <a:pPr algn="l">
              <a:spcAft>
                <a:spcPts val="600"/>
              </a:spcAft>
            </a:pPr>
            <a:r>
              <a:rPr sz="4400" b="1" i="0">
                <a:solidFill>
                  <a:srgbClr val="F9F6EE"/>
                </a:solidFill>
                <a:latin typeface="Georgia"/>
              </a:rPr>
              <a:t>trabajar con Luis</a:t>
            </a:r>
          </a:p>
        </p:txBody>
      </p:sp>
      <p:sp>
        <p:nvSpPr>
          <p:cNvPr id="4" name="TextBox 3"/>
          <p:cNvSpPr txBox="1"/>
          <p:nvPr/>
        </p:nvSpPr>
        <p:spPr>
          <a:xfrm>
            <a:off x="822960" y="3383280"/>
            <a:ext cx="8229600" cy="640080"/>
          </a:xfrm>
          <a:prstGeom prst="rect">
            <a:avLst/>
          </a:prstGeom>
          <a:noFill/>
        </p:spPr>
        <p:txBody>
          <a:bodyPr wrap="square">
            <a:spAutoFit/>
          </a:bodyPr>
          <a:lstStyle/>
          <a:p>
            <a:pPr algn="l">
              <a:spcAft>
                <a:spcPts val="600"/>
              </a:spcAft>
            </a:pPr>
            <a:r>
              <a:rPr sz="2000" b="0" i="1">
                <a:solidFill>
                  <a:srgbClr val="CFC6AB"/>
                </a:solidFill>
                <a:latin typeface="Georgia"/>
              </a:rPr>
              <a:t>Ejemplos concretos aplicados a su perfil</a:t>
            </a:r>
          </a:p>
        </p:txBody>
      </p:sp>
      <p:sp>
        <p:nvSpPr>
          <p:cNvPr id="5" name="TextBox 4"/>
          <p:cNvSpPr txBox="1"/>
          <p:nvPr/>
        </p:nvSpPr>
        <p:spPr>
          <a:xfrm>
            <a:off x="685800" y="6446520"/>
            <a:ext cx="7315200" cy="320040"/>
          </a:xfrm>
          <a:prstGeom prst="rect">
            <a:avLst/>
          </a:prstGeom>
          <a:noFill/>
        </p:spPr>
        <p:txBody>
          <a:bodyPr wrap="square">
            <a:spAutoFit/>
          </a:bodyPr>
          <a:lstStyle/>
          <a:p>
            <a:pPr algn="l">
              <a:spcAft>
                <a:spcPts val="600"/>
              </a:spcAft>
            </a:pPr>
            <a:r>
              <a:rPr sz="900" b="0" i="1">
                <a:solidFill>
                  <a:srgbClr val="76705A"/>
                </a:solidFill>
                <a:latin typeface="Calibri"/>
              </a:rPr>
              <a:t>Ejemplos aplicados · 3 de 3 · Caso piloto del proyecto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6EE"/>
        </a:solidFill>
        <a:effectLst/>
      </p:bgPr>
    </p:bg>
    <p:spTree>
      <p:nvGrpSpPr>
        <p:cNvPr id="1" name=""/>
        <p:cNvGrpSpPr/>
        <p:nvPr/>
      </p:nvGrpSpPr>
      <p:grpSpPr/>
      <p:sp>
        <p:nvSpPr>
          <p:cNvPr id="2" name="TextBox 1"/>
          <p:cNvSpPr txBox="1"/>
          <p:nvPr/>
        </p:nvSpPr>
        <p:spPr>
          <a:xfrm>
            <a:off x="685800" y="502920"/>
            <a:ext cx="7315200" cy="365760"/>
          </a:xfrm>
          <a:prstGeom prst="rect">
            <a:avLst/>
          </a:prstGeom>
          <a:noFill/>
        </p:spPr>
        <p:txBody>
          <a:bodyPr wrap="square">
            <a:spAutoFit/>
          </a:bodyPr>
          <a:lstStyle/>
          <a:p>
            <a:pPr algn="l">
              <a:spcAft>
                <a:spcPts val="600"/>
              </a:spcAft>
            </a:pPr>
            <a:r>
              <a:rPr sz="1200" b="1" i="0" spc="220">
                <a:solidFill>
                  <a:srgbClr val="9C7A3F"/>
                </a:solidFill>
                <a:latin typeface="Calibri"/>
              </a:rPr>
              <a:t>UN MES TÍPICO</a:t>
            </a:r>
          </a:p>
        </p:txBody>
      </p:sp>
      <p:sp>
        <p:nvSpPr>
          <p:cNvPr id="3" name="TextBox 2"/>
          <p:cNvSpPr txBox="1"/>
          <p:nvPr/>
        </p:nvSpPr>
        <p:spPr>
          <a:xfrm>
            <a:off x="685800" y="914400"/>
            <a:ext cx="10515600" cy="914400"/>
          </a:xfrm>
          <a:prstGeom prst="rect">
            <a:avLst/>
          </a:prstGeom>
          <a:noFill/>
        </p:spPr>
        <p:txBody>
          <a:bodyPr wrap="square">
            <a:spAutoFit/>
          </a:bodyPr>
          <a:lstStyle/>
          <a:p>
            <a:pPr algn="l">
              <a:spcAft>
                <a:spcPts val="600"/>
              </a:spcAft>
            </a:pPr>
            <a:r>
              <a:rPr sz="3000" b="1" i="0">
                <a:solidFill>
                  <a:srgbClr val="15182B"/>
                </a:solidFill>
                <a:latin typeface="Georgia"/>
              </a:rPr>
              <a:t>Calendario editorial de ejemplo</a:t>
            </a:r>
          </a:p>
        </p:txBody>
      </p:sp>
      <p:sp>
        <p:nvSpPr>
          <p:cNvPr id="4" name="Rectangle 3"/>
          <p:cNvSpPr/>
          <p:nvPr/>
        </p:nvSpPr>
        <p:spPr>
          <a:xfrm>
            <a:off x="685800" y="1920240"/>
            <a:ext cx="2606040" cy="3017520"/>
          </a:xfrm>
          <a:prstGeom prst="rect">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920240"/>
            <a:ext cx="2606040" cy="38100"/>
          </a:xfrm>
          <a:prstGeom prst="rect">
            <a:avLst/>
          </a:prstGeom>
          <a:solidFill>
            <a:srgbClr val="9C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03120"/>
            <a:ext cx="2240280" cy="320040"/>
          </a:xfrm>
          <a:prstGeom prst="rect">
            <a:avLst/>
          </a:prstGeom>
          <a:noFill/>
        </p:spPr>
        <p:txBody>
          <a:bodyPr wrap="square">
            <a:spAutoFit/>
          </a:bodyPr>
          <a:lstStyle/>
          <a:p>
            <a:pPr algn="l">
              <a:spcAft>
                <a:spcPts val="600"/>
              </a:spcAft>
            </a:pPr>
            <a:r>
              <a:rPr sz="950" b="1" i="0" spc="80">
                <a:solidFill>
                  <a:srgbClr val="9C7A3F"/>
                </a:solidFill>
                <a:latin typeface="Calibri"/>
              </a:rPr>
              <a:t>SEMANA 1</a:t>
            </a:r>
          </a:p>
        </p:txBody>
      </p:sp>
      <p:sp>
        <p:nvSpPr>
          <p:cNvPr id="7" name="TextBox 6"/>
          <p:cNvSpPr txBox="1"/>
          <p:nvPr/>
        </p:nvSpPr>
        <p:spPr>
          <a:xfrm>
            <a:off x="868680" y="2468880"/>
            <a:ext cx="2240280" cy="822960"/>
          </a:xfrm>
          <a:prstGeom prst="rect">
            <a:avLst/>
          </a:prstGeom>
          <a:noFill/>
        </p:spPr>
        <p:txBody>
          <a:bodyPr wrap="square">
            <a:spAutoFit/>
          </a:bodyPr>
          <a:lstStyle/>
          <a:p>
            <a:pPr algn="l">
              <a:spcAft>
                <a:spcPts val="600"/>
              </a:spcAft>
            </a:pPr>
            <a:r>
              <a:rPr sz="1250" b="1" i="0">
                <a:solidFill>
                  <a:srgbClr val="15182B"/>
                </a:solidFill>
                <a:latin typeface="Calibri"/>
              </a:rPr>
              <a:t>Caso de contaminación real</a:t>
            </a:r>
          </a:p>
        </p:txBody>
      </p:sp>
      <p:sp>
        <p:nvSpPr>
          <p:cNvPr id="8" name="TextBox 7"/>
          <p:cNvSpPr txBox="1"/>
          <p:nvPr/>
        </p:nvSpPr>
        <p:spPr>
          <a:xfrm>
            <a:off x="868680" y="3246120"/>
            <a:ext cx="2240280" cy="1554480"/>
          </a:xfrm>
          <a:prstGeom prst="rect">
            <a:avLst/>
          </a:prstGeom>
          <a:noFill/>
        </p:spPr>
        <p:txBody>
          <a:bodyPr wrap="square">
            <a:spAutoFit/>
          </a:bodyPr>
          <a:lstStyle/>
          <a:p>
            <a:pPr algn="l">
              <a:spcAft>
                <a:spcPts val="600"/>
              </a:spcAft>
            </a:pPr>
            <a:r>
              <a:rPr sz="1100" b="0" i="0">
                <a:solidFill>
                  <a:srgbClr val="6B7080"/>
                </a:solidFill>
                <a:latin typeface="Calibri"/>
              </a:rPr>
              <a:t>Un hallazgo anónimo, cómo lo rastreó, qué costó en FPY.</a:t>
            </a:r>
          </a:p>
        </p:txBody>
      </p:sp>
      <p:sp>
        <p:nvSpPr>
          <p:cNvPr id="9" name="Rectangle 8"/>
          <p:cNvSpPr/>
          <p:nvPr/>
        </p:nvSpPr>
        <p:spPr>
          <a:xfrm>
            <a:off x="3429000" y="1920240"/>
            <a:ext cx="2606040" cy="3017520"/>
          </a:xfrm>
          <a:prstGeom prst="rect">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920240"/>
            <a:ext cx="2606040" cy="38100"/>
          </a:xfrm>
          <a:prstGeom prst="rect">
            <a:avLst/>
          </a:prstGeom>
          <a:solidFill>
            <a:srgbClr val="9C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103120"/>
            <a:ext cx="2240280" cy="320040"/>
          </a:xfrm>
          <a:prstGeom prst="rect">
            <a:avLst/>
          </a:prstGeom>
          <a:noFill/>
        </p:spPr>
        <p:txBody>
          <a:bodyPr wrap="square">
            <a:spAutoFit/>
          </a:bodyPr>
          <a:lstStyle/>
          <a:p>
            <a:pPr algn="l">
              <a:spcAft>
                <a:spcPts val="600"/>
              </a:spcAft>
            </a:pPr>
            <a:r>
              <a:rPr sz="950" b="1" i="0" spc="80">
                <a:solidFill>
                  <a:srgbClr val="9C7A3F"/>
                </a:solidFill>
                <a:latin typeface="Calibri"/>
              </a:rPr>
              <a:t>SEMANA 2</a:t>
            </a:r>
          </a:p>
        </p:txBody>
      </p:sp>
      <p:sp>
        <p:nvSpPr>
          <p:cNvPr id="12" name="TextBox 11"/>
          <p:cNvSpPr txBox="1"/>
          <p:nvPr/>
        </p:nvSpPr>
        <p:spPr>
          <a:xfrm>
            <a:off x="3611880" y="2468880"/>
            <a:ext cx="2240280" cy="822960"/>
          </a:xfrm>
          <a:prstGeom prst="rect">
            <a:avLst/>
          </a:prstGeom>
          <a:noFill/>
        </p:spPr>
        <p:txBody>
          <a:bodyPr wrap="square">
            <a:spAutoFit/>
          </a:bodyPr>
          <a:lstStyle/>
          <a:p>
            <a:pPr algn="l">
              <a:spcAft>
                <a:spcPts val="600"/>
              </a:spcAft>
            </a:pPr>
            <a:r>
              <a:rPr sz="1250" b="1" i="0">
                <a:solidFill>
                  <a:srgbClr val="15182B"/>
                </a:solidFill>
                <a:latin typeface="Calibri"/>
              </a:rPr>
              <a:t>Método técnico explicado</a:t>
            </a:r>
          </a:p>
        </p:txBody>
      </p:sp>
      <p:sp>
        <p:nvSpPr>
          <p:cNvPr id="13" name="TextBox 12"/>
          <p:cNvSpPr txBox="1"/>
          <p:nvPr/>
        </p:nvSpPr>
        <p:spPr>
          <a:xfrm>
            <a:off x="3611880" y="3246120"/>
            <a:ext cx="2240280" cy="1554480"/>
          </a:xfrm>
          <a:prstGeom prst="rect">
            <a:avLst/>
          </a:prstGeom>
          <a:noFill/>
        </p:spPr>
        <p:txBody>
          <a:bodyPr wrap="square">
            <a:spAutoFit/>
          </a:bodyPr>
          <a:lstStyle/>
          <a:p>
            <a:pPr algn="l">
              <a:spcAft>
                <a:spcPts val="600"/>
              </a:spcAft>
            </a:pPr>
            <a:r>
              <a:rPr sz="1100" b="0" i="0">
                <a:solidFill>
                  <a:srgbClr val="6B7080"/>
                </a:solidFill>
                <a:latin typeface="Calibri"/>
              </a:rPr>
              <a:t>Microscopía o trazadores UV, en lenguaje accesible.</a:t>
            </a:r>
          </a:p>
        </p:txBody>
      </p:sp>
      <p:sp>
        <p:nvSpPr>
          <p:cNvPr id="14" name="Rectangle 13"/>
          <p:cNvSpPr/>
          <p:nvPr/>
        </p:nvSpPr>
        <p:spPr>
          <a:xfrm>
            <a:off x="6172200" y="1920240"/>
            <a:ext cx="2606040" cy="3017520"/>
          </a:xfrm>
          <a:prstGeom prst="rect">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920240"/>
            <a:ext cx="2606040" cy="38100"/>
          </a:xfrm>
          <a:prstGeom prst="rect">
            <a:avLst/>
          </a:prstGeom>
          <a:solidFill>
            <a:srgbClr val="9C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2103120"/>
            <a:ext cx="2240280" cy="320040"/>
          </a:xfrm>
          <a:prstGeom prst="rect">
            <a:avLst/>
          </a:prstGeom>
          <a:noFill/>
        </p:spPr>
        <p:txBody>
          <a:bodyPr wrap="square">
            <a:spAutoFit/>
          </a:bodyPr>
          <a:lstStyle/>
          <a:p>
            <a:pPr algn="l">
              <a:spcAft>
                <a:spcPts val="600"/>
              </a:spcAft>
            </a:pPr>
            <a:r>
              <a:rPr sz="950" b="1" i="0" spc="80">
                <a:solidFill>
                  <a:srgbClr val="9C7A3F"/>
                </a:solidFill>
                <a:latin typeface="Calibri"/>
              </a:rPr>
              <a:t>SEMANA 3</a:t>
            </a:r>
          </a:p>
        </p:txBody>
      </p:sp>
      <p:sp>
        <p:nvSpPr>
          <p:cNvPr id="17" name="TextBox 16"/>
          <p:cNvSpPr txBox="1"/>
          <p:nvPr/>
        </p:nvSpPr>
        <p:spPr>
          <a:xfrm>
            <a:off x="6355080" y="2468880"/>
            <a:ext cx="2240280" cy="822960"/>
          </a:xfrm>
          <a:prstGeom prst="rect">
            <a:avLst/>
          </a:prstGeom>
          <a:noFill/>
        </p:spPr>
        <p:txBody>
          <a:bodyPr wrap="square">
            <a:spAutoFit/>
          </a:bodyPr>
          <a:lstStyle/>
          <a:p>
            <a:pPr algn="l">
              <a:spcAft>
                <a:spcPts val="600"/>
              </a:spcAft>
            </a:pPr>
            <a:r>
              <a:rPr sz="1250" b="1" i="0">
                <a:solidFill>
                  <a:srgbClr val="15182B"/>
                </a:solidFill>
                <a:latin typeface="Calibri"/>
              </a:rPr>
              <a:t>LATAM en cuartos limpios</a:t>
            </a:r>
          </a:p>
        </p:txBody>
      </p:sp>
      <p:sp>
        <p:nvSpPr>
          <p:cNvPr id="18" name="TextBox 17"/>
          <p:cNvSpPr txBox="1"/>
          <p:nvPr/>
        </p:nvSpPr>
        <p:spPr>
          <a:xfrm>
            <a:off x="6355080" y="3246120"/>
            <a:ext cx="2240280" cy="1554480"/>
          </a:xfrm>
          <a:prstGeom prst="rect">
            <a:avLst/>
          </a:prstGeom>
          <a:noFill/>
        </p:spPr>
        <p:txBody>
          <a:bodyPr wrap="square">
            <a:spAutoFit/>
          </a:bodyPr>
          <a:lstStyle/>
          <a:p>
            <a:pPr algn="l">
              <a:spcAft>
                <a:spcPts val="600"/>
              </a:spcAft>
            </a:pPr>
            <a:r>
              <a:rPr sz="1100" b="0" i="0">
                <a:solidFill>
                  <a:srgbClr val="6B7080"/>
                </a:solidFill>
                <a:latin typeface="Calibri"/>
              </a:rPr>
              <a:t>Realidad regional frente a estándares globales.</a:t>
            </a:r>
          </a:p>
        </p:txBody>
      </p:sp>
      <p:sp>
        <p:nvSpPr>
          <p:cNvPr id="19" name="Rectangle 18"/>
          <p:cNvSpPr/>
          <p:nvPr/>
        </p:nvSpPr>
        <p:spPr>
          <a:xfrm>
            <a:off x="8915400" y="1920240"/>
            <a:ext cx="2606040" cy="3017520"/>
          </a:xfrm>
          <a:prstGeom prst="rect">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15400" y="1920240"/>
            <a:ext cx="2606040" cy="38100"/>
          </a:xfrm>
          <a:prstGeom prst="rect">
            <a:avLst/>
          </a:prstGeom>
          <a:solidFill>
            <a:srgbClr val="9C7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103120"/>
            <a:ext cx="2240280" cy="320040"/>
          </a:xfrm>
          <a:prstGeom prst="rect">
            <a:avLst/>
          </a:prstGeom>
          <a:noFill/>
        </p:spPr>
        <p:txBody>
          <a:bodyPr wrap="square">
            <a:spAutoFit/>
          </a:bodyPr>
          <a:lstStyle/>
          <a:p>
            <a:pPr algn="l">
              <a:spcAft>
                <a:spcPts val="600"/>
              </a:spcAft>
            </a:pPr>
            <a:r>
              <a:rPr sz="950" b="1" i="0" spc="80">
                <a:solidFill>
                  <a:srgbClr val="9C7A3F"/>
                </a:solidFill>
                <a:latin typeface="Calibri"/>
              </a:rPr>
              <a:t>SEMANA 4</a:t>
            </a:r>
          </a:p>
        </p:txBody>
      </p:sp>
      <p:sp>
        <p:nvSpPr>
          <p:cNvPr id="22" name="TextBox 21"/>
          <p:cNvSpPr txBox="1"/>
          <p:nvPr/>
        </p:nvSpPr>
        <p:spPr>
          <a:xfrm>
            <a:off x="9098280" y="2468880"/>
            <a:ext cx="2240280" cy="822960"/>
          </a:xfrm>
          <a:prstGeom prst="rect">
            <a:avLst/>
          </a:prstGeom>
          <a:noFill/>
        </p:spPr>
        <p:txBody>
          <a:bodyPr wrap="square">
            <a:spAutoFit/>
          </a:bodyPr>
          <a:lstStyle/>
          <a:p>
            <a:pPr algn="l">
              <a:spcAft>
                <a:spcPts val="600"/>
              </a:spcAft>
            </a:pPr>
            <a:r>
              <a:rPr sz="1250" b="1" i="0">
                <a:solidFill>
                  <a:srgbClr val="15182B"/>
                </a:solidFill>
                <a:latin typeface="Calibri"/>
              </a:rPr>
              <a:t>Bitácora de evento</a:t>
            </a:r>
          </a:p>
        </p:txBody>
      </p:sp>
      <p:sp>
        <p:nvSpPr>
          <p:cNvPr id="23" name="TextBox 22"/>
          <p:cNvSpPr txBox="1"/>
          <p:nvPr/>
        </p:nvSpPr>
        <p:spPr>
          <a:xfrm>
            <a:off x="9098280" y="3246120"/>
            <a:ext cx="2240280" cy="1554480"/>
          </a:xfrm>
          <a:prstGeom prst="rect">
            <a:avLst/>
          </a:prstGeom>
          <a:noFill/>
        </p:spPr>
        <p:txBody>
          <a:bodyPr wrap="square">
            <a:spAutoFit/>
          </a:bodyPr>
          <a:lstStyle/>
          <a:p>
            <a:pPr algn="l">
              <a:spcAft>
                <a:spcPts val="600"/>
              </a:spcAft>
            </a:pPr>
            <a:r>
              <a:rPr sz="1100" b="0" i="0">
                <a:solidFill>
                  <a:srgbClr val="6B7080"/>
                </a:solidFill>
                <a:latin typeface="Calibri"/>
              </a:rPr>
              <a:t>Lo que vivió en primera persona, no el comunicado de Foamtec.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6EE"/>
        </a:solidFill>
        <a:effectLst/>
      </p:bgPr>
    </p:bg>
    <p:spTree>
      <p:nvGrpSpPr>
        <p:cNvPr id="1" name=""/>
        <p:cNvGrpSpPr/>
        <p:nvPr/>
      </p:nvGrpSpPr>
      <p:grpSpPr/>
      <p:sp>
        <p:nvSpPr>
          <p:cNvPr id="2" name="TextBox 1"/>
          <p:cNvSpPr txBox="1"/>
          <p:nvPr/>
        </p:nvSpPr>
        <p:spPr>
          <a:xfrm>
            <a:off x="685800" y="502920"/>
            <a:ext cx="7315200" cy="365760"/>
          </a:xfrm>
          <a:prstGeom prst="rect">
            <a:avLst/>
          </a:prstGeom>
          <a:noFill/>
        </p:spPr>
        <p:txBody>
          <a:bodyPr wrap="square">
            <a:spAutoFit/>
          </a:bodyPr>
          <a:lstStyle/>
          <a:p>
            <a:pPr algn="l">
              <a:spcAft>
                <a:spcPts val="600"/>
              </a:spcAft>
            </a:pPr>
            <a:r>
              <a:rPr sz="1200" b="1" i="0" spc="220">
                <a:solidFill>
                  <a:srgbClr val="9C7A3F"/>
                </a:solidFill>
                <a:latin typeface="Calibri"/>
              </a:rPr>
              <a:t>EJEMPLO DE POST · PILAR 1</a:t>
            </a:r>
          </a:p>
        </p:txBody>
      </p:sp>
      <p:sp>
        <p:nvSpPr>
          <p:cNvPr id="3" name="TextBox 2"/>
          <p:cNvSpPr txBox="1"/>
          <p:nvPr/>
        </p:nvSpPr>
        <p:spPr>
          <a:xfrm>
            <a:off x="685800" y="914400"/>
            <a:ext cx="10515600" cy="914400"/>
          </a:xfrm>
          <a:prstGeom prst="rect">
            <a:avLst/>
          </a:prstGeom>
          <a:noFill/>
        </p:spPr>
        <p:txBody>
          <a:bodyPr wrap="square">
            <a:spAutoFit/>
          </a:bodyPr>
          <a:lstStyle/>
          <a:p>
            <a:pPr algn="l">
              <a:spcAft>
                <a:spcPts val="600"/>
              </a:spcAft>
            </a:pPr>
            <a:r>
              <a:rPr sz="3000" b="1" i="0">
                <a:solidFill>
                  <a:srgbClr val="15182B"/>
                </a:solidFill>
                <a:latin typeface="Georgia"/>
              </a:rPr>
              <a:t>Caso real, contado en su voz</a:t>
            </a:r>
          </a:p>
        </p:txBody>
      </p:sp>
      <p:sp>
        <p:nvSpPr>
          <p:cNvPr id="4" name="Rectangle 3"/>
          <p:cNvSpPr/>
          <p:nvPr/>
        </p:nvSpPr>
        <p:spPr>
          <a:xfrm>
            <a:off x="685800" y="1920240"/>
            <a:ext cx="6858000" cy="1920240"/>
          </a:xfrm>
          <a:prstGeom prst="rect">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 y="2194560"/>
            <a:ext cx="548640" cy="548640"/>
          </a:xfrm>
          <a:prstGeom prst="rect">
            <a:avLst/>
          </a:prstGeom>
          <a:solidFill>
            <a:srgbClr val="EEE3CB"/>
          </a:solidFill>
          <a:ln w="9525">
            <a:solidFill>
              <a:srgbClr val="9C7A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2304288"/>
            <a:ext cx="502920" cy="365760"/>
          </a:xfrm>
          <a:prstGeom prst="rect">
            <a:avLst/>
          </a:prstGeom>
          <a:noFill/>
        </p:spPr>
        <p:txBody>
          <a:bodyPr wrap="square">
            <a:spAutoFit/>
          </a:bodyPr>
          <a:lstStyle/>
          <a:p>
            <a:pPr algn="l">
              <a:spcAft>
                <a:spcPts val="600"/>
              </a:spcAft>
            </a:pPr>
            <a:r>
              <a:rPr sz="1200" b="1" i="0">
                <a:solidFill>
                  <a:srgbClr val="9C7A3F"/>
                </a:solidFill>
                <a:latin typeface="Georgia"/>
              </a:rPr>
              <a:t>LP</a:t>
            </a:r>
          </a:p>
        </p:txBody>
      </p:sp>
      <p:sp>
        <p:nvSpPr>
          <p:cNvPr id="7" name="TextBox 6"/>
          <p:cNvSpPr txBox="1"/>
          <p:nvPr/>
        </p:nvSpPr>
        <p:spPr>
          <a:xfrm>
            <a:off x="1691640" y="2176272"/>
            <a:ext cx="4572000" cy="548640"/>
          </a:xfrm>
          <a:prstGeom prst="rect">
            <a:avLst/>
          </a:prstGeom>
          <a:noFill/>
        </p:spPr>
        <p:txBody>
          <a:bodyPr wrap="square">
            <a:spAutoFit/>
          </a:bodyPr>
          <a:lstStyle/>
          <a:p>
            <a:pPr algn="l">
              <a:spcAft>
                <a:spcPts val="600"/>
              </a:spcAft>
            </a:pPr>
            <a:r>
              <a:rPr sz="1300" b="1" i="0">
                <a:solidFill>
                  <a:srgbClr val="15182B"/>
                </a:solidFill>
                <a:latin typeface="Calibri"/>
              </a:rPr>
              <a:t>Luis Pérez</a:t>
            </a:r>
          </a:p>
          <a:p>
            <a:pPr algn="l">
              <a:spcAft>
                <a:spcPts val="600"/>
              </a:spcAft>
            </a:pPr>
            <a:r>
              <a:rPr sz="1050" b="0" i="0">
                <a:solidFill>
                  <a:srgbClr val="6B7080"/>
                </a:solidFill>
                <a:latin typeface="Calibri"/>
              </a:rPr>
              <a:t>Foamtec International WCC</a:t>
            </a:r>
          </a:p>
        </p:txBody>
      </p:sp>
      <p:sp>
        <p:nvSpPr>
          <p:cNvPr id="8" name="TextBox 7"/>
          <p:cNvSpPr txBox="1"/>
          <p:nvPr/>
        </p:nvSpPr>
        <p:spPr>
          <a:xfrm>
            <a:off x="960120" y="2834640"/>
            <a:ext cx="6309360" cy="822960"/>
          </a:xfrm>
          <a:prstGeom prst="rect">
            <a:avLst/>
          </a:prstGeom>
          <a:noFill/>
        </p:spPr>
        <p:txBody>
          <a:bodyPr wrap="square">
            <a:spAutoFit/>
          </a:bodyPr>
          <a:lstStyle/>
          <a:p>
            <a:pPr algn="l">
              <a:spcAft>
                <a:spcPts val="600"/>
              </a:spcAft>
            </a:pPr>
            <a:r>
              <a:rPr sz="1450" b="0" i="1">
                <a:solidFill>
                  <a:srgbClr val="15182B"/>
                </a:solidFill>
                <a:latin typeface="Georgia"/>
              </a:rPr>
              <a:t>Encontré la causa de un defecto que llevaba 8 meses sin explicación. Estaba en un guante, no en la máquina.</a:t>
            </a:r>
          </a:p>
        </p:txBody>
      </p:sp>
      <p:sp>
        <p:nvSpPr>
          <p:cNvPr id="9" name="Rectangle 8"/>
          <p:cNvSpPr/>
          <p:nvPr/>
        </p:nvSpPr>
        <p:spPr>
          <a:xfrm>
            <a:off x="960120" y="3547872"/>
            <a:ext cx="1828800" cy="292608"/>
          </a:xfrm>
          <a:prstGeom prst="rect">
            <a:avLst/>
          </a:prstGeom>
          <a:solidFill>
            <a:srgbClr val="EEE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575304"/>
            <a:ext cx="1737360" cy="274320"/>
          </a:xfrm>
          <a:prstGeom prst="rect">
            <a:avLst/>
          </a:prstGeom>
          <a:noFill/>
        </p:spPr>
        <p:txBody>
          <a:bodyPr wrap="square">
            <a:spAutoFit/>
          </a:bodyPr>
          <a:lstStyle/>
          <a:p>
            <a:pPr algn="l">
              <a:spcAft>
                <a:spcPts val="600"/>
              </a:spcAft>
            </a:pPr>
            <a:r>
              <a:rPr sz="850" b="1" i="0" spc="50">
                <a:solidFill>
                  <a:srgbClr val="15182B"/>
                </a:solidFill>
                <a:latin typeface="Calibri"/>
              </a:rPr>
              <a:t>PILAR 1 · CASO REAL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6EE"/>
        </a:solidFill>
        <a:effectLst/>
      </p:bgPr>
    </p:bg>
    <p:spTree>
      <p:nvGrpSpPr>
        <p:cNvPr id="1" name=""/>
        <p:cNvGrpSpPr/>
        <p:nvPr/>
      </p:nvGrpSpPr>
      <p:grpSpPr/>
      <p:sp>
        <p:nvSpPr>
          <p:cNvPr id="2" name="TextBox 1"/>
          <p:cNvSpPr txBox="1"/>
          <p:nvPr/>
        </p:nvSpPr>
        <p:spPr>
          <a:xfrm>
            <a:off x="685800" y="502920"/>
            <a:ext cx="7315200" cy="365760"/>
          </a:xfrm>
          <a:prstGeom prst="rect">
            <a:avLst/>
          </a:prstGeom>
          <a:noFill/>
        </p:spPr>
        <p:txBody>
          <a:bodyPr wrap="square">
            <a:spAutoFit/>
          </a:bodyPr>
          <a:lstStyle/>
          <a:p>
            <a:pPr algn="l">
              <a:spcAft>
                <a:spcPts val="600"/>
              </a:spcAft>
            </a:pPr>
            <a:r>
              <a:rPr sz="1200" b="1" i="0" spc="220">
                <a:solidFill>
                  <a:srgbClr val="9C7A3F"/>
                </a:solidFill>
                <a:latin typeface="Calibri"/>
              </a:rPr>
              <a:t>EJEMPLO DE POST · PILAR 4</a:t>
            </a:r>
          </a:p>
        </p:txBody>
      </p:sp>
      <p:sp>
        <p:nvSpPr>
          <p:cNvPr id="3" name="TextBox 2"/>
          <p:cNvSpPr txBox="1"/>
          <p:nvPr/>
        </p:nvSpPr>
        <p:spPr>
          <a:xfrm>
            <a:off x="685800" y="914400"/>
            <a:ext cx="10515600" cy="914400"/>
          </a:xfrm>
          <a:prstGeom prst="rect">
            <a:avLst/>
          </a:prstGeom>
          <a:noFill/>
        </p:spPr>
        <p:txBody>
          <a:bodyPr wrap="square">
            <a:spAutoFit/>
          </a:bodyPr>
          <a:lstStyle/>
          <a:p>
            <a:pPr algn="l">
              <a:spcAft>
                <a:spcPts val="600"/>
              </a:spcAft>
            </a:pPr>
            <a:r>
              <a:rPr sz="3000" b="1" i="0">
                <a:solidFill>
                  <a:srgbClr val="15182B"/>
                </a:solidFill>
                <a:latin typeface="Georgia"/>
              </a:rPr>
              <a:t>El argumento regional</a:t>
            </a:r>
          </a:p>
        </p:txBody>
      </p:sp>
      <p:sp>
        <p:nvSpPr>
          <p:cNvPr id="4" name="Rectangle 3"/>
          <p:cNvSpPr/>
          <p:nvPr/>
        </p:nvSpPr>
        <p:spPr>
          <a:xfrm>
            <a:off x="685800" y="1920240"/>
            <a:ext cx="6858000" cy="1920240"/>
          </a:xfrm>
          <a:prstGeom prst="rect">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 y="2194560"/>
            <a:ext cx="548640" cy="548640"/>
          </a:xfrm>
          <a:prstGeom prst="rect">
            <a:avLst/>
          </a:prstGeom>
          <a:solidFill>
            <a:srgbClr val="EEE3CB"/>
          </a:solidFill>
          <a:ln w="9525">
            <a:solidFill>
              <a:srgbClr val="9C7A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2304288"/>
            <a:ext cx="502920" cy="365760"/>
          </a:xfrm>
          <a:prstGeom prst="rect">
            <a:avLst/>
          </a:prstGeom>
          <a:noFill/>
        </p:spPr>
        <p:txBody>
          <a:bodyPr wrap="square">
            <a:spAutoFit/>
          </a:bodyPr>
          <a:lstStyle/>
          <a:p>
            <a:pPr algn="l">
              <a:spcAft>
                <a:spcPts val="600"/>
              </a:spcAft>
            </a:pPr>
            <a:r>
              <a:rPr sz="1200" b="1" i="0">
                <a:solidFill>
                  <a:srgbClr val="9C7A3F"/>
                </a:solidFill>
                <a:latin typeface="Georgia"/>
              </a:rPr>
              <a:t>LP</a:t>
            </a:r>
          </a:p>
        </p:txBody>
      </p:sp>
      <p:sp>
        <p:nvSpPr>
          <p:cNvPr id="7" name="TextBox 6"/>
          <p:cNvSpPr txBox="1"/>
          <p:nvPr/>
        </p:nvSpPr>
        <p:spPr>
          <a:xfrm>
            <a:off x="1691640" y="2176272"/>
            <a:ext cx="4572000" cy="548640"/>
          </a:xfrm>
          <a:prstGeom prst="rect">
            <a:avLst/>
          </a:prstGeom>
          <a:noFill/>
        </p:spPr>
        <p:txBody>
          <a:bodyPr wrap="square">
            <a:spAutoFit/>
          </a:bodyPr>
          <a:lstStyle/>
          <a:p>
            <a:pPr algn="l">
              <a:spcAft>
                <a:spcPts val="600"/>
              </a:spcAft>
            </a:pPr>
            <a:r>
              <a:rPr sz="1300" b="1" i="0">
                <a:solidFill>
                  <a:srgbClr val="15182B"/>
                </a:solidFill>
                <a:latin typeface="Calibri"/>
              </a:rPr>
              <a:t>Luis Pérez</a:t>
            </a:r>
          </a:p>
          <a:p>
            <a:pPr algn="l">
              <a:spcAft>
                <a:spcPts val="600"/>
              </a:spcAft>
            </a:pPr>
            <a:r>
              <a:rPr sz="1050" b="0" i="0">
                <a:solidFill>
                  <a:srgbClr val="6B7080"/>
                </a:solidFill>
                <a:latin typeface="Calibri"/>
              </a:rPr>
              <a:t>Foamtec International WCC</a:t>
            </a:r>
          </a:p>
        </p:txBody>
      </p:sp>
      <p:sp>
        <p:nvSpPr>
          <p:cNvPr id="8" name="TextBox 7"/>
          <p:cNvSpPr txBox="1"/>
          <p:nvPr/>
        </p:nvSpPr>
        <p:spPr>
          <a:xfrm>
            <a:off x="960120" y="2834640"/>
            <a:ext cx="6309360" cy="822960"/>
          </a:xfrm>
          <a:prstGeom prst="rect">
            <a:avLst/>
          </a:prstGeom>
          <a:noFill/>
        </p:spPr>
        <p:txBody>
          <a:bodyPr wrap="square">
            <a:spAutoFit/>
          </a:bodyPr>
          <a:lstStyle/>
          <a:p>
            <a:pPr algn="l">
              <a:spcAft>
                <a:spcPts val="600"/>
              </a:spcAft>
            </a:pPr>
            <a:r>
              <a:rPr sz="1450" b="0" i="1">
                <a:solidFill>
                  <a:srgbClr val="15182B"/>
                </a:solidFill>
                <a:latin typeface="Georgia"/>
              </a:rPr>
              <a:t>El 80% de los problemas de FPY que veo en cuartos limpios de LATAM no son de proceso. Son de superficie. Y nadie los está midiendo.</a:t>
            </a:r>
          </a:p>
        </p:txBody>
      </p:sp>
      <p:sp>
        <p:nvSpPr>
          <p:cNvPr id="9" name="Rectangle 8"/>
          <p:cNvSpPr/>
          <p:nvPr/>
        </p:nvSpPr>
        <p:spPr>
          <a:xfrm>
            <a:off x="960120" y="3547872"/>
            <a:ext cx="1828800" cy="292608"/>
          </a:xfrm>
          <a:prstGeom prst="rect">
            <a:avLst/>
          </a:prstGeom>
          <a:solidFill>
            <a:srgbClr val="EEE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575304"/>
            <a:ext cx="1737360" cy="274320"/>
          </a:xfrm>
          <a:prstGeom prst="rect">
            <a:avLst/>
          </a:prstGeom>
          <a:noFill/>
        </p:spPr>
        <p:txBody>
          <a:bodyPr wrap="square">
            <a:spAutoFit/>
          </a:bodyPr>
          <a:lstStyle/>
          <a:p>
            <a:pPr algn="l">
              <a:spcAft>
                <a:spcPts val="600"/>
              </a:spcAft>
            </a:pPr>
            <a:r>
              <a:rPr sz="850" b="1" i="0" spc="50">
                <a:solidFill>
                  <a:srgbClr val="15182B"/>
                </a:solidFill>
                <a:latin typeface="Calibri"/>
              </a:rPr>
              <a:t>PILAR 4 · LATAM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6EE"/>
        </a:solidFill>
        <a:effectLst/>
      </p:bgPr>
    </p:bg>
    <p:spTree>
      <p:nvGrpSpPr>
        <p:cNvPr id="1" name=""/>
        <p:cNvGrpSpPr/>
        <p:nvPr/>
      </p:nvGrpSpPr>
      <p:grpSpPr/>
      <p:sp>
        <p:nvSpPr>
          <p:cNvPr id="2" name="TextBox 1"/>
          <p:cNvSpPr txBox="1"/>
          <p:nvPr/>
        </p:nvSpPr>
        <p:spPr>
          <a:xfrm>
            <a:off x="685800" y="502920"/>
            <a:ext cx="7315200" cy="365760"/>
          </a:xfrm>
          <a:prstGeom prst="rect">
            <a:avLst/>
          </a:prstGeom>
          <a:noFill/>
        </p:spPr>
        <p:txBody>
          <a:bodyPr wrap="square">
            <a:spAutoFit/>
          </a:bodyPr>
          <a:lstStyle/>
          <a:p>
            <a:pPr algn="l">
              <a:spcAft>
                <a:spcPts val="600"/>
              </a:spcAft>
            </a:pPr>
            <a:r>
              <a:rPr sz="1200" b="1" i="0" spc="220">
                <a:solidFill>
                  <a:srgbClr val="9C7A3F"/>
                </a:solidFill>
                <a:latin typeface="Calibri"/>
              </a:rPr>
              <a:t>EJEMPLO DE POST · PILAR 5</a:t>
            </a:r>
          </a:p>
        </p:txBody>
      </p:sp>
      <p:sp>
        <p:nvSpPr>
          <p:cNvPr id="3" name="TextBox 2"/>
          <p:cNvSpPr txBox="1"/>
          <p:nvPr/>
        </p:nvSpPr>
        <p:spPr>
          <a:xfrm>
            <a:off x="685800" y="914400"/>
            <a:ext cx="10515600" cy="914400"/>
          </a:xfrm>
          <a:prstGeom prst="rect">
            <a:avLst/>
          </a:prstGeom>
          <a:noFill/>
        </p:spPr>
        <p:txBody>
          <a:bodyPr wrap="square">
            <a:spAutoFit/>
          </a:bodyPr>
          <a:lstStyle/>
          <a:p>
            <a:pPr algn="l">
              <a:spcAft>
                <a:spcPts val="600"/>
              </a:spcAft>
            </a:pPr>
            <a:r>
              <a:rPr sz="3000" b="1" i="0">
                <a:solidFill>
                  <a:srgbClr val="15182B"/>
                </a:solidFill>
                <a:latin typeface="Georgia"/>
              </a:rPr>
              <a:t>El evento, desde adentro</a:t>
            </a:r>
          </a:p>
        </p:txBody>
      </p:sp>
      <p:sp>
        <p:nvSpPr>
          <p:cNvPr id="4" name="Rectangle 3"/>
          <p:cNvSpPr/>
          <p:nvPr/>
        </p:nvSpPr>
        <p:spPr>
          <a:xfrm>
            <a:off x="685800" y="1920240"/>
            <a:ext cx="6858000" cy="1920240"/>
          </a:xfrm>
          <a:prstGeom prst="rect">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 y="2194560"/>
            <a:ext cx="548640" cy="548640"/>
          </a:xfrm>
          <a:prstGeom prst="rect">
            <a:avLst/>
          </a:prstGeom>
          <a:solidFill>
            <a:srgbClr val="EEE3CB"/>
          </a:solidFill>
          <a:ln w="9525">
            <a:solidFill>
              <a:srgbClr val="9C7A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2304288"/>
            <a:ext cx="502920" cy="365760"/>
          </a:xfrm>
          <a:prstGeom prst="rect">
            <a:avLst/>
          </a:prstGeom>
          <a:noFill/>
        </p:spPr>
        <p:txBody>
          <a:bodyPr wrap="square">
            <a:spAutoFit/>
          </a:bodyPr>
          <a:lstStyle/>
          <a:p>
            <a:pPr algn="l">
              <a:spcAft>
                <a:spcPts val="600"/>
              </a:spcAft>
            </a:pPr>
            <a:r>
              <a:rPr sz="1200" b="1" i="0">
                <a:solidFill>
                  <a:srgbClr val="9C7A3F"/>
                </a:solidFill>
                <a:latin typeface="Georgia"/>
              </a:rPr>
              <a:t>LP</a:t>
            </a:r>
          </a:p>
        </p:txBody>
      </p:sp>
      <p:sp>
        <p:nvSpPr>
          <p:cNvPr id="7" name="TextBox 6"/>
          <p:cNvSpPr txBox="1"/>
          <p:nvPr/>
        </p:nvSpPr>
        <p:spPr>
          <a:xfrm>
            <a:off x="1691640" y="2176272"/>
            <a:ext cx="4572000" cy="548640"/>
          </a:xfrm>
          <a:prstGeom prst="rect">
            <a:avLst/>
          </a:prstGeom>
          <a:noFill/>
        </p:spPr>
        <p:txBody>
          <a:bodyPr wrap="square">
            <a:spAutoFit/>
          </a:bodyPr>
          <a:lstStyle/>
          <a:p>
            <a:pPr algn="l">
              <a:spcAft>
                <a:spcPts val="600"/>
              </a:spcAft>
            </a:pPr>
            <a:r>
              <a:rPr sz="1300" b="1" i="0">
                <a:solidFill>
                  <a:srgbClr val="15182B"/>
                </a:solidFill>
                <a:latin typeface="Calibri"/>
              </a:rPr>
              <a:t>Luis Pérez</a:t>
            </a:r>
          </a:p>
          <a:p>
            <a:pPr algn="l">
              <a:spcAft>
                <a:spcPts val="600"/>
              </a:spcAft>
            </a:pPr>
            <a:r>
              <a:rPr sz="1050" b="0" i="0">
                <a:solidFill>
                  <a:srgbClr val="6B7080"/>
                </a:solidFill>
                <a:latin typeface="Calibri"/>
              </a:rPr>
              <a:t>Foamtec International WCC</a:t>
            </a:r>
          </a:p>
        </p:txBody>
      </p:sp>
      <p:sp>
        <p:nvSpPr>
          <p:cNvPr id="8" name="TextBox 7"/>
          <p:cNvSpPr txBox="1"/>
          <p:nvPr/>
        </p:nvSpPr>
        <p:spPr>
          <a:xfrm>
            <a:off x="960120" y="2834640"/>
            <a:ext cx="6309360" cy="822960"/>
          </a:xfrm>
          <a:prstGeom prst="rect">
            <a:avLst/>
          </a:prstGeom>
          <a:noFill/>
        </p:spPr>
        <p:txBody>
          <a:bodyPr wrap="square">
            <a:spAutoFit/>
          </a:bodyPr>
          <a:lstStyle/>
          <a:p>
            <a:pPr algn="l">
              <a:spcAft>
                <a:spcPts val="600"/>
              </a:spcAft>
            </a:pPr>
            <a:r>
              <a:rPr sz="1450" b="0" i="1">
                <a:solidFill>
                  <a:srgbClr val="15182B"/>
                </a:solidFill>
                <a:latin typeface="Georgia"/>
              </a:rPr>
              <a:t>Booth S49, Life Sciences Forum 2026. Un comprador me preguntó por qué su línea seguía rechazando lotes después de cambiar todo el protocolo de limpieza. La respuesta estaba en un trazador UV.</a:t>
            </a:r>
          </a:p>
        </p:txBody>
      </p:sp>
      <p:sp>
        <p:nvSpPr>
          <p:cNvPr id="9" name="Rectangle 8"/>
          <p:cNvSpPr/>
          <p:nvPr/>
        </p:nvSpPr>
        <p:spPr>
          <a:xfrm>
            <a:off x="960120" y="3547872"/>
            <a:ext cx="1828800" cy="292608"/>
          </a:xfrm>
          <a:prstGeom prst="rect">
            <a:avLst/>
          </a:prstGeom>
          <a:solidFill>
            <a:srgbClr val="EEE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575304"/>
            <a:ext cx="1737360" cy="274320"/>
          </a:xfrm>
          <a:prstGeom prst="rect">
            <a:avLst/>
          </a:prstGeom>
          <a:noFill/>
        </p:spPr>
        <p:txBody>
          <a:bodyPr wrap="square">
            <a:spAutoFit/>
          </a:bodyPr>
          <a:lstStyle/>
          <a:p>
            <a:pPr algn="l">
              <a:spcAft>
                <a:spcPts val="600"/>
              </a:spcAft>
            </a:pPr>
            <a:r>
              <a:rPr sz="850" b="1" i="0" spc="50">
                <a:solidFill>
                  <a:srgbClr val="15182B"/>
                </a:solidFill>
                <a:latin typeface="Calibri"/>
              </a:rPr>
              <a:t>PILAR 5 · EVENTO</a:t>
            </a:r>
          </a:p>
        </p:txBody>
      </p:sp>
      <p:sp>
        <p:nvSpPr>
          <p:cNvPr id="11" name="TextBox 10"/>
          <p:cNvSpPr txBox="1"/>
          <p:nvPr/>
        </p:nvSpPr>
        <p:spPr>
          <a:xfrm>
            <a:off x="685800" y="4114800"/>
            <a:ext cx="9144000" cy="457200"/>
          </a:xfrm>
          <a:prstGeom prst="rect">
            <a:avLst/>
          </a:prstGeom>
          <a:noFill/>
        </p:spPr>
        <p:txBody>
          <a:bodyPr wrap="square">
            <a:spAutoFit/>
          </a:bodyPr>
          <a:lstStyle/>
          <a:p>
            <a:pPr algn="l">
              <a:spcAft>
                <a:spcPts val="600"/>
              </a:spcAft>
            </a:pPr>
            <a:r>
              <a:rPr sz="1100" b="0" i="1">
                <a:solidFill>
                  <a:srgbClr val="6B7080"/>
                </a:solidFill>
                <a:latin typeface="Calibri"/>
              </a:rPr>
              <a:t>Estos tres ejemplos son borradores de tono. Nada se publica sin que Luis lo revise y ajuste antes.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6EE"/>
        </a:solidFill>
        <a:effectLst/>
      </p:bgPr>
    </p:bg>
    <p:spTree>
      <p:nvGrpSpPr>
        <p:cNvPr id="1" name=""/>
        <p:cNvGrpSpPr/>
        <p:nvPr/>
      </p:nvGrpSpPr>
      <p:grpSpPr/>
      <p:sp>
        <p:nvSpPr>
          <p:cNvPr id="2" name="TextBox 1"/>
          <p:cNvSpPr txBox="1"/>
          <p:nvPr/>
        </p:nvSpPr>
        <p:spPr>
          <a:xfrm>
            <a:off x="685800" y="502920"/>
            <a:ext cx="7315200" cy="365760"/>
          </a:xfrm>
          <a:prstGeom prst="rect">
            <a:avLst/>
          </a:prstGeom>
          <a:noFill/>
        </p:spPr>
        <p:txBody>
          <a:bodyPr wrap="square">
            <a:spAutoFit/>
          </a:bodyPr>
          <a:lstStyle/>
          <a:p>
            <a:pPr algn="l">
              <a:spcAft>
                <a:spcPts val="600"/>
              </a:spcAft>
            </a:pPr>
            <a:r>
              <a:rPr sz="1200" b="1" i="0" spc="220">
                <a:solidFill>
                  <a:srgbClr val="9C7A3F"/>
                </a:solidFill>
                <a:latin typeface="Calibri"/>
              </a:rPr>
              <a:t>SU PERFIL HOY Y MAÑANA</a:t>
            </a:r>
          </a:p>
        </p:txBody>
      </p:sp>
      <p:sp>
        <p:nvSpPr>
          <p:cNvPr id="3" name="TextBox 2"/>
          <p:cNvSpPr txBox="1"/>
          <p:nvPr/>
        </p:nvSpPr>
        <p:spPr>
          <a:xfrm>
            <a:off x="685800" y="914400"/>
            <a:ext cx="10515600" cy="914400"/>
          </a:xfrm>
          <a:prstGeom prst="rect">
            <a:avLst/>
          </a:prstGeom>
          <a:noFill/>
        </p:spPr>
        <p:txBody>
          <a:bodyPr wrap="square">
            <a:spAutoFit/>
          </a:bodyPr>
          <a:lstStyle/>
          <a:p>
            <a:pPr algn="l">
              <a:spcAft>
                <a:spcPts val="600"/>
              </a:spcAft>
            </a:pPr>
            <a:r>
              <a:rPr sz="3000" b="1" i="0">
                <a:solidFill>
                  <a:srgbClr val="15182B"/>
                </a:solidFill>
                <a:latin typeface="Georgia"/>
              </a:rPr>
              <a:t>De autoridad invisible a autoridad activa</a:t>
            </a:r>
          </a:p>
        </p:txBody>
      </p:sp>
      <p:sp>
        <p:nvSpPr>
          <p:cNvPr id="4" name="Rectangle 3"/>
          <p:cNvSpPr/>
          <p:nvPr/>
        </p:nvSpPr>
        <p:spPr>
          <a:xfrm>
            <a:off x="685800" y="1874519"/>
            <a:ext cx="5212080" cy="3931920"/>
          </a:xfrm>
          <a:prstGeom prst="rect">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172200" y="1874519"/>
            <a:ext cx="5212080" cy="3931920"/>
          </a:xfrm>
          <a:prstGeom prst="rect">
            <a:avLst/>
          </a:prstGeom>
          <a:solidFill>
            <a:srgbClr val="EEE3CB"/>
          </a:solidFill>
          <a:ln w="9525">
            <a:solidFill>
              <a:srgbClr val="9C7A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57400"/>
            <a:ext cx="4754880" cy="365760"/>
          </a:xfrm>
          <a:prstGeom prst="rect">
            <a:avLst/>
          </a:prstGeom>
          <a:noFill/>
        </p:spPr>
        <p:txBody>
          <a:bodyPr wrap="square">
            <a:spAutoFit/>
          </a:bodyPr>
          <a:lstStyle/>
          <a:p>
            <a:pPr algn="l">
              <a:spcAft>
                <a:spcPts val="600"/>
              </a:spcAft>
            </a:pPr>
            <a:r>
              <a:rPr sz="1100" b="1" i="0" spc="100">
                <a:solidFill>
                  <a:srgbClr val="9C7A3F"/>
                </a:solidFill>
                <a:latin typeface="Calibri"/>
              </a:rPr>
              <a:t>HOY</a:t>
            </a:r>
          </a:p>
        </p:txBody>
      </p:sp>
      <p:sp>
        <p:nvSpPr>
          <p:cNvPr id="7" name="TextBox 6"/>
          <p:cNvSpPr txBox="1"/>
          <p:nvPr/>
        </p:nvSpPr>
        <p:spPr>
          <a:xfrm>
            <a:off x="914400" y="2514600"/>
            <a:ext cx="4754880" cy="3017520"/>
          </a:xfrm>
          <a:prstGeom prst="rect">
            <a:avLst/>
          </a:prstGeom>
          <a:noFill/>
        </p:spPr>
        <p:txBody>
          <a:bodyPr wrap="square">
            <a:spAutoFit/>
          </a:bodyPr>
          <a:lstStyle/>
          <a:p>
            <a:pPr algn="l">
              <a:spcAft>
                <a:spcPts val="1200"/>
              </a:spcAft>
            </a:pPr>
            <a:r>
              <a:rPr sz="1300" b="0" i="0">
                <a:solidFill>
                  <a:srgbClr val="3C4156"/>
                </a:solidFill>
                <a:latin typeface="Calibri"/>
              </a:rPr>
              <a:t>—  "Acerca de" excelente, sin ningún post que lo respalde.</a:t>
            </a:r>
          </a:p>
          <a:p>
            <a:pPr algn="l">
              <a:spcAft>
                <a:spcPts val="1200"/>
              </a:spcAft>
            </a:pPr>
            <a:r>
              <a:rPr sz="1300" b="0" i="0">
                <a:solidFill>
                  <a:srgbClr val="3C4156"/>
                </a:solidFill>
                <a:latin typeface="Calibri"/>
              </a:rPr>
              <a:t>—  90% de la actividad reciente es felicitar o resharear a otros.</a:t>
            </a:r>
          </a:p>
          <a:p>
            <a:pPr algn="l">
              <a:spcAft>
                <a:spcPts val="1200"/>
              </a:spcAft>
            </a:pPr>
            <a:r>
              <a:rPr sz="1300" b="0" i="0">
                <a:solidFill>
                  <a:srgbClr val="3C4156"/>
                </a:solidFill>
                <a:latin typeface="Calibri"/>
              </a:rPr>
              <a:t>—  El evento más relevante del semestre quedó solo en la cuenta corporativa.</a:t>
            </a:r>
          </a:p>
        </p:txBody>
      </p:sp>
      <p:sp>
        <p:nvSpPr>
          <p:cNvPr id="8" name="TextBox 7"/>
          <p:cNvSpPr txBox="1"/>
          <p:nvPr/>
        </p:nvSpPr>
        <p:spPr>
          <a:xfrm>
            <a:off x="6400800" y="2057400"/>
            <a:ext cx="4754880" cy="365760"/>
          </a:xfrm>
          <a:prstGeom prst="rect">
            <a:avLst/>
          </a:prstGeom>
          <a:noFill/>
        </p:spPr>
        <p:txBody>
          <a:bodyPr wrap="square">
            <a:spAutoFit/>
          </a:bodyPr>
          <a:lstStyle/>
          <a:p>
            <a:pPr algn="l">
              <a:spcAft>
                <a:spcPts val="600"/>
              </a:spcAft>
            </a:pPr>
            <a:r>
              <a:rPr sz="1100" b="1" i="0" spc="100">
                <a:solidFill>
                  <a:srgbClr val="15182B"/>
                </a:solidFill>
                <a:latin typeface="Calibri"/>
              </a:rPr>
              <a:t>CON EL PLAN EN MARCHA</a:t>
            </a:r>
          </a:p>
        </p:txBody>
      </p:sp>
      <p:sp>
        <p:nvSpPr>
          <p:cNvPr id="9" name="TextBox 8"/>
          <p:cNvSpPr txBox="1"/>
          <p:nvPr/>
        </p:nvSpPr>
        <p:spPr>
          <a:xfrm>
            <a:off x="6400800" y="2514600"/>
            <a:ext cx="4754880" cy="3017520"/>
          </a:xfrm>
          <a:prstGeom prst="rect">
            <a:avLst/>
          </a:prstGeom>
          <a:noFill/>
        </p:spPr>
        <p:txBody>
          <a:bodyPr wrap="square">
            <a:spAutoFit/>
          </a:bodyPr>
          <a:lstStyle/>
          <a:p>
            <a:pPr algn="l">
              <a:spcAft>
                <a:spcPts val="1200"/>
              </a:spcAft>
            </a:pPr>
            <a:r>
              <a:rPr sz="1300" b="0" i="0">
                <a:solidFill>
                  <a:srgbClr val="15182B"/>
                </a:solidFill>
                <a:latin typeface="Calibri"/>
              </a:rPr>
              <a:t>—  2 a 3 publicaciones mensuales con su voz real y su vocabulario técnico.</a:t>
            </a:r>
          </a:p>
          <a:p>
            <a:pPr algn="l">
              <a:spcAft>
                <a:spcPts val="1200"/>
              </a:spcAft>
            </a:pPr>
            <a:r>
              <a:rPr sz="1300" b="0" i="0">
                <a:solidFill>
                  <a:srgbClr val="15182B"/>
                </a:solidFill>
                <a:latin typeface="Calibri"/>
              </a:rPr>
              <a:t>—  Casos y hallazgos propios convertidos en contenido, no solo informes internos.</a:t>
            </a:r>
          </a:p>
          <a:p>
            <a:pPr algn="l">
              <a:spcAft>
                <a:spcPts val="1200"/>
              </a:spcAft>
            </a:pPr>
            <a:r>
              <a:rPr sz="1300" b="0" i="0">
                <a:solidFill>
                  <a:srgbClr val="15182B"/>
                </a:solidFill>
                <a:latin typeface="Calibri"/>
              </a:rPr>
              <a:t>—  Cobertura en primera persona del próximo evento regional.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6EE"/>
        </a:solidFill>
        <a:effectLst/>
      </p:bgPr>
    </p:bg>
    <p:spTree>
      <p:nvGrpSpPr>
        <p:cNvPr id="1" name=""/>
        <p:cNvGrpSpPr/>
        <p:nvPr/>
      </p:nvGrpSpPr>
      <p:grpSpPr/>
      <p:sp>
        <p:nvSpPr>
          <p:cNvPr id="2" name="TextBox 1"/>
          <p:cNvSpPr txBox="1"/>
          <p:nvPr/>
        </p:nvSpPr>
        <p:spPr>
          <a:xfrm>
            <a:off x="685800" y="502920"/>
            <a:ext cx="7315200" cy="365760"/>
          </a:xfrm>
          <a:prstGeom prst="rect">
            <a:avLst/>
          </a:prstGeom>
          <a:noFill/>
        </p:spPr>
        <p:txBody>
          <a:bodyPr wrap="square">
            <a:spAutoFit/>
          </a:bodyPr>
          <a:lstStyle/>
          <a:p>
            <a:pPr algn="l">
              <a:spcAft>
                <a:spcPts val="600"/>
              </a:spcAft>
            </a:pPr>
            <a:r>
              <a:rPr sz="1200" b="1" i="0" spc="220">
                <a:solidFill>
                  <a:srgbClr val="9C7A3F"/>
                </a:solidFill>
                <a:latin typeface="Calibri"/>
              </a:rPr>
              <a:t>PRIMEROS 90 DÍAS</a:t>
            </a:r>
          </a:p>
        </p:txBody>
      </p:sp>
      <p:sp>
        <p:nvSpPr>
          <p:cNvPr id="3" name="TextBox 2"/>
          <p:cNvSpPr txBox="1"/>
          <p:nvPr/>
        </p:nvSpPr>
        <p:spPr>
          <a:xfrm>
            <a:off x="685800" y="914400"/>
            <a:ext cx="10515600" cy="914400"/>
          </a:xfrm>
          <a:prstGeom prst="rect">
            <a:avLst/>
          </a:prstGeom>
          <a:noFill/>
        </p:spPr>
        <p:txBody>
          <a:bodyPr wrap="square">
            <a:spAutoFit/>
          </a:bodyPr>
          <a:lstStyle/>
          <a:p>
            <a:pPr algn="l">
              <a:spcAft>
                <a:spcPts val="600"/>
              </a:spcAft>
            </a:pPr>
            <a:r>
              <a:rPr sz="3000" b="1" i="0">
                <a:solidFill>
                  <a:srgbClr val="15182B"/>
                </a:solidFill>
                <a:latin typeface="Georgia"/>
              </a:rPr>
              <a:t>Cronograma concreto</a:t>
            </a:r>
          </a:p>
        </p:txBody>
      </p:sp>
      <p:sp>
        <p:nvSpPr>
          <p:cNvPr id="4" name="Rectangle 3"/>
          <p:cNvSpPr/>
          <p:nvPr/>
        </p:nvSpPr>
        <p:spPr>
          <a:xfrm>
            <a:off x="685800" y="2834640"/>
            <a:ext cx="10789920" cy="12700"/>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65960"/>
            <a:ext cx="1554480" cy="822960"/>
          </a:xfrm>
          <a:prstGeom prst="rect">
            <a:avLst/>
          </a:prstGeom>
          <a:noFill/>
        </p:spPr>
        <p:txBody>
          <a:bodyPr wrap="square">
            <a:spAutoFit/>
          </a:bodyPr>
          <a:lstStyle/>
          <a:p>
            <a:pPr algn="l">
              <a:spcAft>
                <a:spcPts val="600"/>
              </a:spcAft>
            </a:pPr>
            <a:r>
              <a:rPr sz="1400" b="1" i="0">
                <a:solidFill>
                  <a:srgbClr val="9C7A3F"/>
                </a:solidFill>
                <a:latin typeface="Calibri"/>
              </a:rPr>
              <a:t>Días 1-30</a:t>
            </a:r>
          </a:p>
        </p:txBody>
      </p:sp>
      <p:sp>
        <p:nvSpPr>
          <p:cNvPr id="6" name="TextBox 5"/>
          <p:cNvSpPr txBox="1"/>
          <p:nvPr/>
        </p:nvSpPr>
        <p:spPr>
          <a:xfrm>
            <a:off x="2377440" y="1965960"/>
            <a:ext cx="8869680" cy="868680"/>
          </a:xfrm>
          <a:prstGeom prst="rect">
            <a:avLst/>
          </a:prstGeom>
          <a:noFill/>
        </p:spPr>
        <p:txBody>
          <a:bodyPr wrap="square">
            <a:spAutoFit/>
          </a:bodyPr>
          <a:lstStyle/>
          <a:p>
            <a:pPr algn="l">
              <a:spcAft>
                <a:spcPts val="600"/>
              </a:spcAft>
            </a:pPr>
            <a:r>
              <a:rPr sz="1500" b="1" i="0">
                <a:solidFill>
                  <a:srgbClr val="15182B"/>
                </a:solidFill>
                <a:latin typeface="Calibri"/>
              </a:rPr>
              <a:t>Captura y primer contenido</a:t>
            </a:r>
          </a:p>
          <a:p>
            <a:pPr algn="l">
              <a:spcAft>
                <a:spcPts val="600"/>
              </a:spcAft>
            </a:pPr>
            <a:r>
              <a:rPr sz="1250" b="0" i="0">
                <a:solidFill>
                  <a:srgbClr val="6B7080"/>
                </a:solidFill>
                <a:latin typeface="Calibri"/>
              </a:rPr>
              <a:t>Entrevista inicial, definición de pilares, primeras 2 publicaciones.</a:t>
            </a:r>
          </a:p>
        </p:txBody>
      </p:sp>
      <p:sp>
        <p:nvSpPr>
          <p:cNvPr id="7" name="Rectangle 6"/>
          <p:cNvSpPr/>
          <p:nvPr/>
        </p:nvSpPr>
        <p:spPr>
          <a:xfrm>
            <a:off x="685800" y="3886200"/>
            <a:ext cx="10789920" cy="12700"/>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017520"/>
            <a:ext cx="1554480" cy="822960"/>
          </a:xfrm>
          <a:prstGeom prst="rect">
            <a:avLst/>
          </a:prstGeom>
          <a:noFill/>
        </p:spPr>
        <p:txBody>
          <a:bodyPr wrap="square">
            <a:spAutoFit/>
          </a:bodyPr>
          <a:lstStyle/>
          <a:p>
            <a:pPr algn="l">
              <a:spcAft>
                <a:spcPts val="600"/>
              </a:spcAft>
            </a:pPr>
            <a:r>
              <a:rPr sz="1400" b="1" i="0">
                <a:solidFill>
                  <a:srgbClr val="9C7A3F"/>
                </a:solidFill>
                <a:latin typeface="Calibri"/>
              </a:rPr>
              <a:t>Días 31-60</a:t>
            </a:r>
          </a:p>
        </p:txBody>
      </p:sp>
      <p:sp>
        <p:nvSpPr>
          <p:cNvPr id="9" name="TextBox 8"/>
          <p:cNvSpPr txBox="1"/>
          <p:nvPr/>
        </p:nvSpPr>
        <p:spPr>
          <a:xfrm>
            <a:off x="2377440" y="3017520"/>
            <a:ext cx="8869680" cy="868680"/>
          </a:xfrm>
          <a:prstGeom prst="rect">
            <a:avLst/>
          </a:prstGeom>
          <a:noFill/>
        </p:spPr>
        <p:txBody>
          <a:bodyPr wrap="square">
            <a:spAutoFit/>
          </a:bodyPr>
          <a:lstStyle/>
          <a:p>
            <a:pPr algn="l">
              <a:spcAft>
                <a:spcPts val="600"/>
              </a:spcAft>
            </a:pPr>
            <a:r>
              <a:rPr sz="1500" b="1" i="0">
                <a:solidFill>
                  <a:srgbClr val="15182B"/>
                </a:solidFill>
                <a:latin typeface="Calibri"/>
              </a:rPr>
              <a:t>Ritmo y ajuste de tono</a:t>
            </a:r>
          </a:p>
          <a:p>
            <a:pPr algn="l">
              <a:spcAft>
                <a:spcPts val="600"/>
              </a:spcAft>
            </a:pPr>
            <a:r>
              <a:rPr sz="1250" b="0" i="0">
                <a:solidFill>
                  <a:srgbClr val="6B7080"/>
                </a:solidFill>
                <a:latin typeface="Calibri"/>
              </a:rPr>
              <a:t>Calendario mensual estable, primeras lecturas de qué resuena más.</a:t>
            </a:r>
          </a:p>
        </p:txBody>
      </p:sp>
      <p:sp>
        <p:nvSpPr>
          <p:cNvPr id="10" name="Rectangle 9"/>
          <p:cNvSpPr/>
          <p:nvPr/>
        </p:nvSpPr>
        <p:spPr>
          <a:xfrm>
            <a:off x="685800" y="4937760"/>
            <a:ext cx="10789920" cy="12700"/>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069080"/>
            <a:ext cx="1554480" cy="822960"/>
          </a:xfrm>
          <a:prstGeom prst="rect">
            <a:avLst/>
          </a:prstGeom>
          <a:noFill/>
        </p:spPr>
        <p:txBody>
          <a:bodyPr wrap="square">
            <a:spAutoFit/>
          </a:bodyPr>
          <a:lstStyle/>
          <a:p>
            <a:pPr algn="l">
              <a:spcAft>
                <a:spcPts val="600"/>
              </a:spcAft>
            </a:pPr>
            <a:r>
              <a:rPr sz="1400" b="1" i="0">
                <a:solidFill>
                  <a:srgbClr val="9C7A3F"/>
                </a:solidFill>
                <a:latin typeface="Calibri"/>
              </a:rPr>
              <a:t>Días 61-90</a:t>
            </a:r>
          </a:p>
        </p:txBody>
      </p:sp>
      <p:sp>
        <p:nvSpPr>
          <p:cNvPr id="12" name="TextBox 11"/>
          <p:cNvSpPr txBox="1"/>
          <p:nvPr/>
        </p:nvSpPr>
        <p:spPr>
          <a:xfrm>
            <a:off x="2377440" y="4069080"/>
            <a:ext cx="8869680" cy="868680"/>
          </a:xfrm>
          <a:prstGeom prst="rect">
            <a:avLst/>
          </a:prstGeom>
          <a:noFill/>
        </p:spPr>
        <p:txBody>
          <a:bodyPr wrap="square">
            <a:spAutoFit/>
          </a:bodyPr>
          <a:lstStyle/>
          <a:p>
            <a:pPr algn="l">
              <a:spcAft>
                <a:spcPts val="600"/>
              </a:spcAft>
            </a:pPr>
            <a:r>
              <a:rPr sz="1500" b="1" i="0">
                <a:solidFill>
                  <a:srgbClr val="15182B"/>
                </a:solidFill>
                <a:latin typeface="Calibri"/>
              </a:rPr>
              <a:t>Cobertura de evento en vivo</a:t>
            </a:r>
          </a:p>
          <a:p>
            <a:pPr algn="l">
              <a:spcAft>
                <a:spcPts val="600"/>
              </a:spcAft>
            </a:pPr>
            <a:r>
              <a:rPr sz="1250" b="0" i="0">
                <a:solidFill>
                  <a:srgbClr val="6B7080"/>
                </a:solidFill>
                <a:latin typeface="Calibri"/>
              </a:rPr>
              <a:t>Primera bitácora de evento desde su perfil personal, no desde Foamtec.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6EE"/>
        </a:solidFill>
        <a:effectLst/>
      </p:bgPr>
    </p:bg>
    <p:spTree>
      <p:nvGrpSpPr>
        <p:cNvPr id="1" name=""/>
        <p:cNvGrpSpPr/>
        <p:nvPr/>
      </p:nvGrpSpPr>
      <p:grpSpPr/>
      <p:sp>
        <p:nvSpPr>
          <p:cNvPr id="2" name="TextBox 1"/>
          <p:cNvSpPr txBox="1"/>
          <p:nvPr/>
        </p:nvSpPr>
        <p:spPr>
          <a:xfrm>
            <a:off x="685800" y="502920"/>
            <a:ext cx="7315200" cy="365760"/>
          </a:xfrm>
          <a:prstGeom prst="rect">
            <a:avLst/>
          </a:prstGeom>
          <a:noFill/>
        </p:spPr>
        <p:txBody>
          <a:bodyPr wrap="square">
            <a:spAutoFit/>
          </a:bodyPr>
          <a:lstStyle/>
          <a:p>
            <a:pPr algn="l">
              <a:spcAft>
                <a:spcPts val="600"/>
              </a:spcAft>
            </a:pPr>
            <a:r>
              <a:rPr sz="1200" b="1" i="0" spc="220">
                <a:solidFill>
                  <a:srgbClr val="9C7A3F"/>
                </a:solidFill>
                <a:latin typeface="Calibri"/>
              </a:rPr>
              <a:t>LO QUE VAMOS A MIRAR JUNTOS</a:t>
            </a:r>
          </a:p>
        </p:txBody>
      </p:sp>
      <p:sp>
        <p:nvSpPr>
          <p:cNvPr id="3" name="TextBox 2"/>
          <p:cNvSpPr txBox="1"/>
          <p:nvPr/>
        </p:nvSpPr>
        <p:spPr>
          <a:xfrm>
            <a:off x="685800" y="914400"/>
            <a:ext cx="10515600" cy="914400"/>
          </a:xfrm>
          <a:prstGeom prst="rect">
            <a:avLst/>
          </a:prstGeom>
          <a:noFill/>
        </p:spPr>
        <p:txBody>
          <a:bodyPr wrap="square">
            <a:spAutoFit/>
          </a:bodyPr>
          <a:lstStyle/>
          <a:p>
            <a:pPr algn="l">
              <a:spcAft>
                <a:spcPts val="600"/>
              </a:spcAft>
            </a:pPr>
            <a:r>
              <a:rPr sz="3000" b="1" i="0">
                <a:solidFill>
                  <a:srgbClr val="15182B"/>
                </a:solidFill>
                <a:latin typeface="Georgia"/>
              </a:rPr>
              <a:t>Indicadores del plan</a:t>
            </a:r>
          </a:p>
        </p:txBody>
      </p:sp>
      <p:sp>
        <p:nvSpPr>
          <p:cNvPr id="4" name="Rectangle 3"/>
          <p:cNvSpPr/>
          <p:nvPr/>
        </p:nvSpPr>
        <p:spPr>
          <a:xfrm>
            <a:off x="685800" y="1920240"/>
            <a:ext cx="3429000" cy="2468880"/>
          </a:xfrm>
          <a:prstGeom prst="rect">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103120"/>
            <a:ext cx="2880360" cy="320040"/>
          </a:xfrm>
          <a:prstGeom prst="rect">
            <a:avLst/>
          </a:prstGeom>
          <a:noFill/>
        </p:spPr>
        <p:txBody>
          <a:bodyPr wrap="square">
            <a:spAutoFit/>
          </a:bodyPr>
          <a:lstStyle/>
          <a:p>
            <a:pPr algn="l">
              <a:spcAft>
                <a:spcPts val="600"/>
              </a:spcAft>
            </a:pPr>
            <a:r>
              <a:rPr sz="950" b="1" i="0" spc="80">
                <a:solidFill>
                  <a:srgbClr val="6B7080"/>
                </a:solidFill>
                <a:latin typeface="Calibri"/>
              </a:rPr>
              <a:t>ALCANCE</a:t>
            </a:r>
          </a:p>
        </p:txBody>
      </p:sp>
      <p:sp>
        <p:nvSpPr>
          <p:cNvPr id="6" name="TextBox 5"/>
          <p:cNvSpPr txBox="1"/>
          <p:nvPr/>
        </p:nvSpPr>
        <p:spPr>
          <a:xfrm>
            <a:off x="960120" y="2423160"/>
            <a:ext cx="2880360" cy="548640"/>
          </a:xfrm>
          <a:prstGeom prst="rect">
            <a:avLst/>
          </a:prstGeom>
          <a:noFill/>
        </p:spPr>
        <p:txBody>
          <a:bodyPr wrap="square">
            <a:spAutoFit/>
          </a:bodyPr>
          <a:lstStyle/>
          <a:p>
            <a:pPr algn="l">
              <a:spcAft>
                <a:spcPts val="600"/>
              </a:spcAft>
            </a:pPr>
            <a:r>
              <a:rPr sz="1900" b="1" i="0">
                <a:solidFill>
                  <a:srgbClr val="15182B"/>
                </a:solidFill>
                <a:latin typeface="Georgia"/>
              </a:rPr>
              <a:t>Impresiones</a:t>
            </a:r>
          </a:p>
        </p:txBody>
      </p:sp>
      <p:sp>
        <p:nvSpPr>
          <p:cNvPr id="7" name="TextBox 6"/>
          <p:cNvSpPr txBox="1"/>
          <p:nvPr/>
        </p:nvSpPr>
        <p:spPr>
          <a:xfrm>
            <a:off x="960120" y="3017520"/>
            <a:ext cx="2880360" cy="1188720"/>
          </a:xfrm>
          <a:prstGeom prst="rect">
            <a:avLst/>
          </a:prstGeom>
          <a:noFill/>
        </p:spPr>
        <p:txBody>
          <a:bodyPr wrap="square">
            <a:spAutoFit/>
          </a:bodyPr>
          <a:lstStyle/>
          <a:p>
            <a:pPr algn="l">
              <a:spcAft>
                <a:spcPts val="600"/>
              </a:spcAft>
            </a:pPr>
            <a:r>
              <a:rPr sz="1150" b="0" i="0">
                <a:solidFill>
                  <a:srgbClr val="6B7080"/>
                </a:solidFill>
                <a:latin typeface="Calibri"/>
              </a:rPr>
              <a:t>Crecimiento de impresiones mes a mes sobre el contenido propio.</a:t>
            </a:r>
          </a:p>
        </p:txBody>
      </p:sp>
      <p:sp>
        <p:nvSpPr>
          <p:cNvPr id="8" name="Rectangle 7"/>
          <p:cNvSpPr/>
          <p:nvPr/>
        </p:nvSpPr>
        <p:spPr>
          <a:xfrm>
            <a:off x="4343400" y="1920240"/>
            <a:ext cx="3429000" cy="2468880"/>
          </a:xfrm>
          <a:prstGeom prst="rect">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103120"/>
            <a:ext cx="2880360" cy="320040"/>
          </a:xfrm>
          <a:prstGeom prst="rect">
            <a:avLst/>
          </a:prstGeom>
          <a:noFill/>
        </p:spPr>
        <p:txBody>
          <a:bodyPr wrap="square">
            <a:spAutoFit/>
          </a:bodyPr>
          <a:lstStyle/>
          <a:p>
            <a:pPr algn="l">
              <a:spcAft>
                <a:spcPts val="600"/>
              </a:spcAft>
            </a:pPr>
            <a:r>
              <a:rPr sz="950" b="1" i="0" spc="80">
                <a:solidFill>
                  <a:srgbClr val="6B7080"/>
                </a:solidFill>
                <a:latin typeface="Calibri"/>
              </a:rPr>
              <a:t>CONVERSACIÓN</a:t>
            </a:r>
          </a:p>
        </p:txBody>
      </p:sp>
      <p:sp>
        <p:nvSpPr>
          <p:cNvPr id="10" name="TextBox 9"/>
          <p:cNvSpPr txBox="1"/>
          <p:nvPr/>
        </p:nvSpPr>
        <p:spPr>
          <a:xfrm>
            <a:off x="4617720" y="2423160"/>
            <a:ext cx="2880360" cy="548640"/>
          </a:xfrm>
          <a:prstGeom prst="rect">
            <a:avLst/>
          </a:prstGeom>
          <a:noFill/>
        </p:spPr>
        <p:txBody>
          <a:bodyPr wrap="square">
            <a:spAutoFit/>
          </a:bodyPr>
          <a:lstStyle/>
          <a:p>
            <a:pPr algn="l">
              <a:spcAft>
                <a:spcPts val="600"/>
              </a:spcAft>
            </a:pPr>
            <a:r>
              <a:rPr sz="1900" b="1" i="0">
                <a:solidFill>
                  <a:srgbClr val="15182B"/>
                </a:solidFill>
                <a:latin typeface="Georgia"/>
              </a:rPr>
              <a:t>Comentarios</a:t>
            </a:r>
          </a:p>
        </p:txBody>
      </p:sp>
      <p:sp>
        <p:nvSpPr>
          <p:cNvPr id="11" name="TextBox 10"/>
          <p:cNvSpPr txBox="1"/>
          <p:nvPr/>
        </p:nvSpPr>
        <p:spPr>
          <a:xfrm>
            <a:off x="4617720" y="3017520"/>
            <a:ext cx="2880360" cy="1188720"/>
          </a:xfrm>
          <a:prstGeom prst="rect">
            <a:avLst/>
          </a:prstGeom>
          <a:noFill/>
        </p:spPr>
        <p:txBody>
          <a:bodyPr wrap="square">
            <a:spAutoFit/>
          </a:bodyPr>
          <a:lstStyle/>
          <a:p>
            <a:pPr algn="l">
              <a:spcAft>
                <a:spcPts val="600"/>
              </a:spcAft>
            </a:pPr>
            <a:r>
              <a:rPr sz="1150" b="0" i="0">
                <a:solidFill>
                  <a:srgbClr val="6B7080"/>
                </a:solidFill>
                <a:latin typeface="Calibri"/>
              </a:rPr>
              <a:t>Calidad de comentarios: ¿son colegas o son potenciales clientes?</a:t>
            </a:r>
          </a:p>
        </p:txBody>
      </p:sp>
      <p:sp>
        <p:nvSpPr>
          <p:cNvPr id="12" name="Rectangle 11"/>
          <p:cNvSpPr/>
          <p:nvPr/>
        </p:nvSpPr>
        <p:spPr>
          <a:xfrm>
            <a:off x="8001000" y="1920240"/>
            <a:ext cx="3429000" cy="2468880"/>
          </a:xfrm>
          <a:prstGeom prst="rect">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103120"/>
            <a:ext cx="2880360" cy="320040"/>
          </a:xfrm>
          <a:prstGeom prst="rect">
            <a:avLst/>
          </a:prstGeom>
          <a:noFill/>
        </p:spPr>
        <p:txBody>
          <a:bodyPr wrap="square">
            <a:spAutoFit/>
          </a:bodyPr>
          <a:lstStyle/>
          <a:p>
            <a:pPr algn="l">
              <a:spcAft>
                <a:spcPts val="600"/>
              </a:spcAft>
            </a:pPr>
            <a:r>
              <a:rPr sz="950" b="1" i="0" spc="80">
                <a:solidFill>
                  <a:srgbClr val="6B7080"/>
                </a:solidFill>
                <a:latin typeface="Calibri"/>
              </a:rPr>
              <a:t>NEGOCIO</a:t>
            </a:r>
          </a:p>
        </p:txBody>
      </p:sp>
      <p:sp>
        <p:nvSpPr>
          <p:cNvPr id="14" name="TextBox 13"/>
          <p:cNvSpPr txBox="1"/>
          <p:nvPr/>
        </p:nvSpPr>
        <p:spPr>
          <a:xfrm>
            <a:off x="8275320" y="2423160"/>
            <a:ext cx="2880360" cy="548640"/>
          </a:xfrm>
          <a:prstGeom prst="rect">
            <a:avLst/>
          </a:prstGeom>
          <a:noFill/>
        </p:spPr>
        <p:txBody>
          <a:bodyPr wrap="square">
            <a:spAutoFit/>
          </a:bodyPr>
          <a:lstStyle/>
          <a:p>
            <a:pPr algn="l">
              <a:spcAft>
                <a:spcPts val="600"/>
              </a:spcAft>
            </a:pPr>
            <a:r>
              <a:rPr sz="1900" b="1" i="0">
                <a:solidFill>
                  <a:srgbClr val="15182B"/>
                </a:solidFill>
                <a:latin typeface="Georgia"/>
              </a:rPr>
              <a:t>Conexiones</a:t>
            </a:r>
          </a:p>
        </p:txBody>
      </p:sp>
      <p:sp>
        <p:nvSpPr>
          <p:cNvPr id="15" name="TextBox 14"/>
          <p:cNvSpPr txBox="1"/>
          <p:nvPr/>
        </p:nvSpPr>
        <p:spPr>
          <a:xfrm>
            <a:off x="8275320" y="3017520"/>
            <a:ext cx="2880360" cy="1188720"/>
          </a:xfrm>
          <a:prstGeom prst="rect">
            <a:avLst/>
          </a:prstGeom>
          <a:noFill/>
        </p:spPr>
        <p:txBody>
          <a:bodyPr wrap="square">
            <a:spAutoFit/>
          </a:bodyPr>
          <a:lstStyle/>
          <a:p>
            <a:pPr algn="l">
              <a:spcAft>
                <a:spcPts val="600"/>
              </a:spcAft>
            </a:pPr>
            <a:r>
              <a:rPr sz="1150" b="0" i="0">
                <a:solidFill>
                  <a:srgbClr val="6B7080"/>
                </a:solidFill>
                <a:latin typeface="Calibri"/>
              </a:rPr>
              <a:t>Nuevas conexiones de perfiles con poder de decisión en la industria.</a:t>
            </a:r>
          </a:p>
        </p:txBody>
      </p:sp>
      <p:sp>
        <p:nvSpPr>
          <p:cNvPr id="16" name="TextBox 15"/>
          <p:cNvSpPr txBox="1"/>
          <p:nvPr/>
        </p:nvSpPr>
        <p:spPr>
          <a:xfrm>
            <a:off x="685800" y="4663440"/>
            <a:ext cx="10058400" cy="548640"/>
          </a:xfrm>
          <a:prstGeom prst="rect">
            <a:avLst/>
          </a:prstGeom>
          <a:noFill/>
        </p:spPr>
        <p:txBody>
          <a:bodyPr wrap="square">
            <a:spAutoFit/>
          </a:bodyPr>
          <a:lstStyle/>
          <a:p>
            <a:pPr algn="l">
              <a:spcAft>
                <a:spcPts val="600"/>
              </a:spcAft>
            </a:pPr>
            <a:r>
              <a:rPr sz="1100" b="0" i="1">
                <a:solidFill>
                  <a:srgbClr val="6B7080"/>
                </a:solidFill>
                <a:latin typeface="Calibri"/>
              </a:rPr>
              <a:t>Los números reales salen del perfil de Luis una vez en marcha. Esto es la estructura de seguimiento, no una promesa de resultado.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182B"/>
        </a:solidFill>
        <a:effectLst/>
      </p:bgPr>
    </p:bg>
    <p:spTree>
      <p:nvGrpSpPr>
        <p:cNvPr id="1" name=""/>
        <p:cNvGrpSpPr/>
        <p:nvPr/>
      </p:nvGrpSpPr>
      <p:grpSpPr/>
      <p:sp>
        <p:nvSpPr>
          <p:cNvPr id="2" name="TextBox 1"/>
          <p:cNvSpPr txBox="1"/>
          <p:nvPr/>
        </p:nvSpPr>
        <p:spPr>
          <a:xfrm>
            <a:off x="685800" y="502920"/>
            <a:ext cx="7315200" cy="365760"/>
          </a:xfrm>
          <a:prstGeom prst="rect">
            <a:avLst/>
          </a:prstGeom>
          <a:noFill/>
        </p:spPr>
        <p:txBody>
          <a:bodyPr wrap="square">
            <a:spAutoFit/>
          </a:bodyPr>
          <a:lstStyle/>
          <a:p>
            <a:pPr algn="l">
              <a:spcAft>
                <a:spcPts val="600"/>
              </a:spcAft>
            </a:pPr>
            <a:r>
              <a:rPr sz="1200" b="1" i="0" spc="220">
                <a:solidFill>
                  <a:srgbClr val="EEE3CB"/>
                </a:solidFill>
                <a:latin typeface="Calibri"/>
              </a:rPr>
              <a:t>EN UNA FRASE</a:t>
            </a:r>
          </a:p>
        </p:txBody>
      </p:sp>
      <p:sp>
        <p:nvSpPr>
          <p:cNvPr id="3" name="TextBox 2"/>
          <p:cNvSpPr txBox="1"/>
          <p:nvPr/>
        </p:nvSpPr>
        <p:spPr>
          <a:xfrm>
            <a:off x="685800" y="914400"/>
            <a:ext cx="10515600" cy="914400"/>
          </a:xfrm>
          <a:prstGeom prst="rect">
            <a:avLst/>
          </a:prstGeom>
          <a:noFill/>
        </p:spPr>
        <p:txBody>
          <a:bodyPr wrap="square">
            <a:spAutoFit/>
          </a:bodyPr>
          <a:lstStyle/>
          <a:p>
            <a:pPr algn="l">
              <a:spcAft>
                <a:spcPts val="600"/>
              </a:spcAft>
            </a:pPr>
            <a:r>
              <a:rPr sz="3000" b="1" i="0">
                <a:solidFill>
                  <a:srgbClr val="F9F6EE"/>
                </a:solidFill>
                <a:latin typeface="Georgia"/>
              </a:rPr>
              <a:t>Lo aplicado a Luis, resumido</a:t>
            </a:r>
          </a:p>
        </p:txBody>
      </p:sp>
      <p:sp>
        <p:nvSpPr>
          <p:cNvPr id="4" name="TextBox 3"/>
          <p:cNvSpPr txBox="1"/>
          <p:nvPr/>
        </p:nvSpPr>
        <p:spPr>
          <a:xfrm>
            <a:off x="685800" y="2194560"/>
            <a:ext cx="10058400" cy="1828800"/>
          </a:xfrm>
          <a:prstGeom prst="rect">
            <a:avLst/>
          </a:prstGeom>
          <a:noFill/>
        </p:spPr>
        <p:txBody>
          <a:bodyPr wrap="square">
            <a:spAutoFit/>
          </a:bodyPr>
          <a:lstStyle/>
          <a:p>
            <a:pPr algn="l">
              <a:spcAft>
                <a:spcPts val="600"/>
              </a:spcAft>
            </a:pPr>
            <a:r>
              <a:rPr sz="1800" b="0" i="1">
                <a:solidFill>
                  <a:srgbClr val="C9C2A8"/>
                </a:solidFill>
                <a:latin typeface="Georgia"/>
              </a:rPr>
              <a:t>No se trata de crearle una voz nueva, sino de poner en público lo que ya genera todos los días en su trabajo. El material existe, solo falta el canal.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