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200">
                <a:solidFill>
                  <a:srgbClr val="EEE3CB"/>
                </a:solidFill>
                <a:latin typeface="Calibri"/>
              </a:rPr>
              <a:t>MATERIAL INTERNO · HINT 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9F6EE"/>
                </a:solidFill>
                <a:latin typeface="Georgia"/>
              </a:rPr>
              <a:t>Luis Pérez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CFC6AB"/>
                </a:solidFill>
                <a:latin typeface="Georgia"/>
              </a:rPr>
              <a:t>Quién es el cliente que vamos a ver mañana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120">
                <a:solidFill>
                  <a:srgbClr val="8D8567"/>
                </a:solidFill>
                <a:latin typeface="Calibri"/>
              </a:rPr>
              <a:t>EMPRESA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9F6EE"/>
                </a:solidFill>
                <a:latin typeface="Calibri"/>
              </a:rPr>
              <a:t>Foamtec International WCC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120">
                <a:solidFill>
                  <a:srgbClr val="8D8567"/>
                </a:solidFill>
                <a:latin typeface="Calibri"/>
              </a:rPr>
              <a:t>CARGO REAL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9F6EE"/>
                </a:solidFill>
                <a:latin typeface="Calibri"/>
              </a:rPr>
              <a:t>Responsable Comercial LATAM &amp; Caribe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48463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 spc="120">
                <a:solidFill>
                  <a:srgbClr val="8D8567"/>
                </a:solidFill>
                <a:latin typeface="Calibri"/>
              </a:rPr>
              <a:t>CALL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9F6EE"/>
                </a:solidFill>
                <a:latin typeface="Calibri"/>
              </a:rPr>
              <a:t>Mañana · 16hs ARG ·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1">
                <a:solidFill>
                  <a:srgbClr val="76705A"/>
                </a:solidFill>
                <a:latin typeface="Calibri"/>
              </a:rPr>
              <a:t>Perfil del cliente · 1 de 3 · Caso piloto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QUIÉN 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Una trayectoria técnica sólida, poco visible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0195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00">
                <a:solidFill>
                  <a:srgbClr val="6B7080"/>
                </a:solidFill>
                <a:latin typeface="Calibri"/>
              </a:rPr>
              <a:t>ORIGEN / RESIDENCIA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7452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5182B"/>
                </a:solidFill>
                <a:latin typeface="Calibri"/>
              </a:rPr>
              <a:t>Mexicano, radicado en Costa Rica por el ecosistema de dispositivos médicos de la región.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3464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0779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00">
                <a:solidFill>
                  <a:srgbClr val="6B7080"/>
                </a:solidFill>
                <a:latin typeface="Calibri"/>
              </a:rPr>
              <a:t>FORMACIÓN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8036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5182B"/>
                </a:solidFill>
                <a:latin typeface="Calibri"/>
              </a:rPr>
              <a:t>Ingeniería en el Tecnológico de Monterrey. MBA en Thunderbird School of Global Management.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84048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91363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00">
                <a:solidFill>
                  <a:srgbClr val="6B7080"/>
                </a:solidFill>
                <a:latin typeface="Calibri"/>
              </a:rPr>
              <a:t>TRAYECTORIA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88620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5182B"/>
                </a:solidFill>
                <a:latin typeface="Calibri"/>
              </a:rPr>
              <a:t>16 años en Berkshire Corporation antes de su rol actual en Foamtec International WCC.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84632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91947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 spc="100">
                <a:solidFill>
                  <a:srgbClr val="6B7080"/>
                </a:solidFill>
                <a:latin typeface="Calibri"/>
              </a:rPr>
              <a:t>TÍTULO EN 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89204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5182B"/>
                </a:solidFill>
                <a:latin typeface="Calibri"/>
              </a:rPr>
              <a:t>"Contamination Surface Investigation Specialist", aunque hoy su función real es comercial.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QUÉ HACE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Un detective de fábricas, en lenguaje simple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38100" cy="100584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15182B"/>
                </a:solidFill>
                <a:latin typeface="Georgia"/>
              </a:rPr>
              <a:t>Cuando un fabricante de dispositivos médicos o una farmacéutica tiene un problema de calidad que nadie puede explicar, Luis encuentra de dónde viene la contaminación y le pone precio en dólares a la solución.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089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3C4156"/>
                </a:solidFill>
                <a:latin typeface="Calibri"/>
              </a:rPr>
              <a:t>Usa microscopía óptica, SEM-EDS y trazadores UV para rastrear partículas invisibles en superficies de producción. Su argumento final no es científico, es financiero: cuánto mejora el FPY (productos que pasan el control de calidad a la primera) si se corrige el origen.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480560"/>
            <a:ext cx="141732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4456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C4156"/>
                </a:solidFill>
                <a:latin typeface="Calibri"/>
              </a:rPr>
              <a:t>Costa 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4480560"/>
            <a:ext cx="101498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4544568"/>
            <a:ext cx="832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C4156"/>
                </a:solidFill>
                <a:latin typeface="Calibri"/>
              </a:rPr>
              <a:t>México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2424" y="4480560"/>
            <a:ext cx="101498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9584" y="4544568"/>
            <a:ext cx="832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C4156"/>
                </a:solidFill>
                <a:latin typeface="Calibri"/>
              </a:rPr>
              <a:t>Brasil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4568" y="4480560"/>
            <a:ext cx="151790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4544568"/>
            <a:ext cx="1335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C4156"/>
                </a:solidFill>
                <a:latin typeface="Calibri"/>
              </a:rPr>
              <a:t>Puerto Rico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4480560"/>
            <a:ext cx="19202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454456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C4156"/>
                </a:solidFill>
                <a:latin typeface="Calibri"/>
              </a:rPr>
              <a:t>Rep. Dominicana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SU HUELLA EN LINKEDIN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Autoridad real, casi sin voz propia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74519"/>
            <a:ext cx="10789920" cy="1143000"/>
          </a:xfrm>
          <a:prstGeom prst="rect">
            <a:avLst/>
          </a:prstGeom>
          <a:solidFill>
            <a:srgbClr val="F3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38100" cy="1143000"/>
          </a:xfrm>
          <a:prstGeom prst="rect">
            <a:avLst/>
          </a:prstGeom>
          <a:solidFill>
            <a:srgbClr val="7A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8424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3B2E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6595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5182B"/>
                </a:solidFill>
                <a:latin typeface="Calibri"/>
              </a:rPr>
              <a:t>5.331 seguidores, pero el 90% de su actividad de los últimos 6 meses es felicitar o resharear a otros.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080"/>
                </a:solidFill>
                <a:latin typeface="Calibri"/>
              </a:rPr>
              <a:t>Cero publicaciones propias con su voz en ese período.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00399"/>
            <a:ext cx="10789920" cy="1143000"/>
          </a:xfrm>
          <a:prstGeom prst="rect">
            <a:avLst/>
          </a:prstGeom>
          <a:solidFill>
            <a:srgbClr val="F3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200399"/>
            <a:ext cx="38100" cy="1143000"/>
          </a:xfrm>
          <a:prstGeom prst="rect">
            <a:avLst/>
          </a:prstGeom>
          <a:solidFill>
            <a:srgbClr val="7A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1012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A3B2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9183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5182B"/>
                </a:solidFill>
                <a:latin typeface="Calibri"/>
              </a:rPr>
              <a:t>Representó a Foamtec en el Life Sciences Forum 2026 (booth S49), pero todo el contenido salió de la cuenta corporativa, no de la suya.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080"/>
                </a:solidFill>
                <a:latin typeface="Calibri"/>
              </a:rPr>
              <a:t>Perdió la oportunidad más barata de generar pipeline propio.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526279"/>
            <a:ext cx="1078992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526279"/>
            <a:ext cx="38100" cy="1143000"/>
          </a:xfrm>
          <a:prstGeom prst="rect">
            <a:avLst/>
          </a:prstGeom>
          <a:solidFill>
            <a:srgbClr val="9C7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36007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C7A3F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1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5182B"/>
                </a:solidFill>
                <a:latin typeface="Calibri"/>
              </a:rPr>
              <a:t>Su sección "Acerca de" ya vende sola: problema, método científico, impacto financiero.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6B7080"/>
                </a:solidFill>
                <a:latin typeface="Calibri"/>
              </a:rPr>
              <a:t>No hay ningún post que la respalde con prueba real.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LECTURA DEL CASO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A favor y en contra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solidFill>
            <a:srgbClr val="EEE3CB"/>
          </a:solidFill>
          <a:ln w="9525">
            <a:solidFill>
              <a:srgbClr val="9C7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72200" y="1828800"/>
            <a:ext cx="5212080" cy="4206240"/>
          </a:xfrm>
          <a:prstGeom prst="rect">
            <a:avLst/>
          </a:prstGeom>
          <a:solidFill>
            <a:srgbClr val="F3E2DA"/>
          </a:solidFill>
          <a:ln w="9525">
            <a:solidFill>
              <a:srgbClr val="D9B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5182B"/>
                </a:solidFill>
                <a:latin typeface="Georgia"/>
              </a:rPr>
              <a:t>Lo que juega a favor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C4156"/>
                </a:solidFill>
                <a:latin typeface="Calibri"/>
              </a:rPr>
              <a:t>—  Autoridad técnica real, no impostada.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C4156"/>
                </a:solidFill>
                <a:latin typeface="Calibri"/>
              </a:rPr>
              <a:t>—  Ya tiene base de seguidores, solo falta activarla.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C4156"/>
                </a:solidFill>
                <a:latin typeface="Calibri"/>
              </a:rPr>
              <a:t>—  Genera materia prima de contenido todos los días: informes, hallazgos, conversaciones.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C4156"/>
                </a:solidFill>
                <a:latin typeface="Calibri"/>
              </a:rPr>
              <a:t>—  Habla naturalmente en términos de ROI, encaja con el ángulo financiero.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3C4156"/>
                </a:solidFill>
                <a:latin typeface="Calibri"/>
              </a:rPr>
              <a:t>—  Engagement HIGH confirmado: respondió rápido, dio contexto propio, agendó la call enseguida.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5182B"/>
                </a:solidFill>
                <a:latin typeface="Georgia"/>
              </a:rPr>
              <a:t>Lo que falta validar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C2A20"/>
                </a:solidFill>
                <a:latin typeface="Calibri"/>
              </a:rPr>
              <a:t>—  Hoy estamos con un solo contacto y un solo canal (riesgo single-threaded).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C2A20"/>
                </a:solidFill>
                <a:latin typeface="Calibri"/>
              </a:rPr>
              <a:t>—  No sabemos si Luis decide presupuesto o si esto escala a marketing corporativo o a un VP regional.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C2A20"/>
                </a:solidFill>
                <a:latin typeface="Calibri"/>
              </a:rPr>
              <a:t>—  No está confirmado si hay presupuesto asignado a la región.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5C2A20"/>
                </a:solidFill>
                <a:latin typeface="Calibri"/>
              </a:rPr>
              <a:t>—  No sabemos si el interés es un dolor de negocio vigente o curiosidad intelectual.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CÓMO LLEGAMOS HASTA ACÁ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El camino del primer contacto a la 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4028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C7A3F"/>
                </a:solidFill>
                <a:latin typeface="Calibri"/>
              </a:rPr>
              <a:t>14/06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MSG1 enviado a partir de cómo describió su propuesta de valor en un post propio.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807208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95728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C7A3F"/>
                </a:solidFill>
                <a:latin typeface="Calibri"/>
              </a:rPr>
              <a:t>14/06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39572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MSG2: gap de coherencia de marca entre LATAM y Caribe. Mención de TGS como cliente.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74136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62656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C7A3F"/>
                </a:solidFill>
                <a:latin typeface="Calibri"/>
              </a:rPr>
              <a:t>14/06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626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Dossier enviado. Luis preguntó "¿Cómo me ubicaste?", señal de interés real.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941064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958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C7A3F"/>
                </a:solidFill>
                <a:latin typeface="Calibri"/>
              </a:rPr>
              <a:t>19/06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29584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SEG1 enviado, engagement clasificado como HIGH. Propuso coordinar 15 minutos.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07992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C7A3F"/>
                </a:solidFill>
                <a:latin typeface="Calibri"/>
              </a:rPr>
              <a:t>20-22/06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096512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Coordinación de horario y agenda. Confirmó que se puede grabar la call.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074920"/>
            <a:ext cx="10789920" cy="12700"/>
          </a:xfrm>
          <a:prstGeom prst="rect">
            <a:avLst/>
          </a:prstGeom>
          <a:solidFill>
            <a:srgbClr val="DCD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9C7A3F"/>
                </a:solidFill>
                <a:latin typeface="Calibri"/>
              </a:rPr>
              <a:t>Mañana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6634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Call agendada, 16hs hora Argentina, vía Teams, máximo 30 minutos.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9C7A3F"/>
                </a:solidFill>
                <a:latin typeface="Calibri"/>
              </a:rPr>
              <a:t>PARA LA CALL DE 30 MINUTOS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5182B"/>
                </a:solidFill>
                <a:latin typeface="Georgia"/>
              </a:rPr>
              <a:t>Qué necesitamos validar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10789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8483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9C7A3F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2996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Quién más participa en decisiones de comunicación o marca en Foamtec, y si LATAM tiene presupuesto propio.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926080"/>
            <a:ext cx="10789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9C7A3F"/>
                </a:solidFill>
                <a:latin typeface="Georg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03580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Si esto sería una propuesta nueva que Luis debe vender hacia arriba, o si ya hay presupuesto asignado.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31920"/>
            <a:ext cx="10789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965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9C7A3F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4164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Qué disparó el interés real: un problema vigente o una exploración curiosa.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CD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023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9C7A3F"/>
                </a:solidFill>
                <a:latin typeface="Georg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04748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5182B"/>
                </a:solidFill>
                <a:latin typeface="Calibri"/>
              </a:rPr>
              <a:t>Si Luis sería el champion interno (se beneficia directo) o solo el punto de entrada.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220">
                <a:solidFill>
                  <a:srgbClr val="EEE3CB"/>
                </a:solidFill>
                <a:latin typeface="Calibri"/>
              </a:rPr>
              <a:t>EN UNA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9F6EE"/>
                </a:solidFill>
                <a:latin typeface="Georgia"/>
              </a:rPr>
              <a:t>El caso, resumido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9456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1">
                <a:solidFill>
                  <a:srgbClr val="C9C2A8"/>
                </a:solidFill>
                <a:latin typeface="Georgia"/>
              </a:rPr>
              <a:t>Luis tiene autoridad técnica real y un primer interés genuino, pero todavía no sabemos si decide o si solo abre la puerta. La call de mañana no es para cerrar nada, es para confirmar eso.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