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200">
                <a:solidFill>
                  <a:srgbClr val="EEE3CB"/>
                </a:solidFill>
                <a:latin typeface="Calibri"/>
              </a:rPr>
              <a:t>MATERIAL INTERNO · HINT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9F6EE"/>
                </a:solidFill>
                <a:latin typeface="Georgia"/>
              </a:rPr>
              <a:t>Cómo vamos a</a:t>
            </a:r>
          </a:p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9F6EE"/>
                </a:solidFill>
                <a:latin typeface="Georgia"/>
              </a:rPr>
              <a:t>abordar a Luis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CFC6AB"/>
                </a:solidFill>
                <a:latin typeface="Georgia"/>
              </a:rPr>
              <a:t>Plan de conversación para la call de mañana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1">
                <a:solidFill>
                  <a:srgbClr val="76705A"/>
                </a:solidFill>
                <a:latin typeface="Calibri"/>
              </a:rPr>
              <a:t>Estrategia para la call · 2 de 3 · Caso piloto del proyecto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9C7A3F"/>
                </a:solidFill>
                <a:latin typeface="Calibri"/>
              </a:rPr>
              <a:t>OBJETIVO REAL DE LA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5182B"/>
                </a:solidFill>
                <a:latin typeface="Georgia"/>
              </a:rPr>
              <a:t>No es cerrar, es validar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3C4156"/>
                </a:solidFill>
                <a:latin typeface="Calibri"/>
              </a:rPr>
              <a:t>El objetivo no es que Luis diga sí en 30 minutos. Es confirmar tres cosas: si hay presupuesto real, si hay urgencia real, y quién más decide dentro de Foamtec.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926080"/>
            <a:ext cx="34290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15468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5182B"/>
                </a:solidFill>
                <a:latin typeface="Georgia"/>
              </a:rPr>
              <a:t>Presupuesto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5760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080"/>
                </a:solidFill>
                <a:latin typeface="Calibri"/>
              </a:rPr>
              <a:t>¿Existe budget de marketing en la región o esto sería una propuesta nueva que Luis tendría que vender hacia arriba?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926080"/>
            <a:ext cx="34290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15468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5182B"/>
                </a:solidFill>
                <a:latin typeface="Georgia"/>
              </a:rPr>
              <a:t>Urgencia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65760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080"/>
                </a:solidFill>
                <a:latin typeface="Calibri"/>
              </a:rPr>
              <a:t>¿Hay un problema vigente o estamos frente a curiosidad intelectual sin presión de tiempo?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2926080"/>
            <a:ext cx="34290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15468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5182B"/>
                </a:solidFill>
                <a:latin typeface="Georgia"/>
              </a:rPr>
              <a:t>Mapa de decisión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65760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080"/>
                </a:solidFill>
                <a:latin typeface="Calibri"/>
              </a:rPr>
              <a:t>¿Luis decide o es la puerta de entrada a alguien más senior en Foamtec?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9C7A3F"/>
                </a:solidFill>
                <a:latin typeface="Calibri"/>
              </a:rPr>
              <a:t>DOS CAMINOS POSIBLES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5182B"/>
                </a:solidFill>
                <a:latin typeface="Georgia"/>
              </a:rPr>
              <a:t>Qué deck abrir según cómo hable Luis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74519"/>
            <a:ext cx="5120640" cy="4206240"/>
          </a:xfrm>
          <a:prstGeom prst="rect">
            <a:avLst/>
          </a:prstGeom>
          <a:solidFill>
            <a:srgbClr val="15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0760" y="1874519"/>
            <a:ext cx="51206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 spc="50">
                <a:solidFill>
                  <a:srgbClr val="EEE3CB"/>
                </a:solidFill>
                <a:latin typeface="Calibri"/>
              </a:rPr>
              <a:t>SI HABLA DE VISIÓN, DE CARRERA, DE HACIA DÓNDE VA LA INDUSTRIA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9F6EE"/>
                </a:solidFill>
                <a:latin typeface="Georgia"/>
              </a:rPr>
              <a:t>Opción A — Executive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CFC6AB"/>
                </a:solidFill>
                <a:latin typeface="Calibri"/>
              </a:rPr>
              <a:t>—  9 slides, minimalista, fondo oscuro.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CFC6AB"/>
                </a:solidFill>
                <a:latin typeface="Calibri"/>
              </a:rPr>
              <a:t>—  Foco en posicionamiento: de responsable comercial regional a referencia de su especialidad en LATAM.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CFC6AB"/>
                </a:solidFill>
                <a:latin typeface="Calibri"/>
              </a:rPr>
              <a:t>—  Cierra con una sola pregunta: coordinar 45 minutos la semana próxima.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57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 spc="50">
                <a:solidFill>
                  <a:srgbClr val="9C7A3F"/>
                </a:solidFill>
                <a:latin typeface="Calibri"/>
              </a:rPr>
              <a:t>SI PREGUNTA CÓMO SERÍA EL DÍA A DÍA, QUIÉN HACE QUÉ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423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5182B"/>
                </a:solidFill>
                <a:latin typeface="Georgia"/>
              </a:rPr>
              <a:t>Opción B — Growth Blueprint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9718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3C4156"/>
                </a:solidFill>
                <a:latin typeface="Calibri"/>
              </a:rPr>
              <a:t>—  13 slides, más densa, con mockups de posts, calendario y cronograma.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3C4156"/>
                </a:solidFill>
                <a:latin typeface="Calibri"/>
              </a:rPr>
              <a:t>—  Responde "cómo sería trabajar con ustedes" sin que él tenga que preguntarlo.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3C4156"/>
                </a:solidFill>
                <a:latin typeface="Calibri"/>
              </a:rPr>
              <a:t>—  Más probable que aterrice bien: Luis viene de ingeniería, calidad y ventas técnicas.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9C7A3F"/>
                </a:solidFill>
                <a:latin typeface="Calibri"/>
              </a:rPr>
              <a:t>QUÉ LE VAMOS A PROPONER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5182B"/>
                </a:solidFill>
                <a:latin typeface="Georgia"/>
              </a:rPr>
              <a:t>5 pilares de contenido para su voz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20240"/>
            <a:ext cx="20574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2057400" cy="38100"/>
          </a:xfrm>
          <a:prstGeom prst="rect">
            <a:avLst/>
          </a:prstGeom>
          <a:solidFill>
            <a:srgbClr val="9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9C7A3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6060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5182B"/>
                </a:solidFill>
                <a:latin typeface="Calibri"/>
              </a:rPr>
              <a:t>Casos de contaminación real (anónimos)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520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6B7080"/>
                </a:solidFill>
                <a:latin typeface="Calibri"/>
              </a:rPr>
              <a:t>Qué encontró, cómo lo rastreó, qué costó en FPY.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920240"/>
            <a:ext cx="20574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920240"/>
            <a:ext cx="2057400" cy="38100"/>
          </a:xfrm>
          <a:prstGeom prst="rect">
            <a:avLst/>
          </a:prstGeom>
          <a:solidFill>
            <a:srgbClr val="9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9C7A3F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6060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5182B"/>
                </a:solidFill>
                <a:latin typeface="Calibri"/>
              </a:rPr>
              <a:t>Método técnico en lenguaje simple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3520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6B7080"/>
                </a:solidFill>
                <a:latin typeface="Calibri"/>
              </a:rPr>
              <a:t>Microscopía, SEM-EDS, trazadores UV, accesibles.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920240"/>
            <a:ext cx="20574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3480" y="1920240"/>
            <a:ext cx="2057400" cy="38100"/>
          </a:xfrm>
          <a:prstGeom prst="rect">
            <a:avLst/>
          </a:prstGeom>
          <a:solidFill>
            <a:srgbClr val="9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9C7A3F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26060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5182B"/>
                </a:solidFill>
                <a:latin typeface="Calibri"/>
              </a:rPr>
              <a:t>El argumento financiero del CAPA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72" y="3520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6B7080"/>
                </a:solidFill>
                <a:latin typeface="Calibri"/>
              </a:rPr>
              <a:t>Traducir 'partícula en superficie' a dólares perdidos.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920240"/>
            <a:ext cx="20574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0" y="1920240"/>
            <a:ext cx="2057400" cy="38100"/>
          </a:xfrm>
          <a:prstGeom prst="rect">
            <a:avLst/>
          </a:prstGeom>
          <a:solidFill>
            <a:srgbClr val="9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9C7A3F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26060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5182B"/>
                </a:solidFill>
                <a:latin typeface="Calibri"/>
              </a:rPr>
              <a:t>LATAM en cuartos limpios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3520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6B7080"/>
                </a:solidFill>
                <a:latin typeface="Calibri"/>
              </a:rPr>
              <a:t>Realidad regional frente a estándares globales.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1920240"/>
            <a:ext cx="20574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1920240"/>
            <a:ext cx="2057400" cy="38100"/>
          </a:xfrm>
          <a:prstGeom prst="rect">
            <a:avLst/>
          </a:prstGeom>
          <a:solidFill>
            <a:srgbClr val="9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5752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9C7A3F"/>
                </a:solidFill>
                <a:latin typeface="Georgi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6060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5182B"/>
                </a:solidFill>
                <a:latin typeface="Calibri"/>
              </a:rPr>
              <a:t>Bitácora de eventos como protagonista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3520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6B7080"/>
                </a:solidFill>
                <a:latin typeface="Calibri"/>
              </a:rPr>
              <a:t>Lo que él vivió, no el comunicado de la empresa.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9C7A3F"/>
                </a:solidFill>
                <a:latin typeface="Calibri"/>
              </a:rPr>
              <a:t>GUION DE APERTURA Y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5182B"/>
                </a:solidFill>
                <a:latin typeface="Georgia"/>
              </a:rPr>
              <a:t>Qué le vamos a decir, exactamente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77439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 spc="80">
                <a:solidFill>
                  <a:srgbClr val="9C7A3F"/>
                </a:solidFill>
                <a:latin typeface="Calibri"/>
              </a:rPr>
              <a:t>APERTURA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799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15182B"/>
                </a:solidFill>
                <a:latin typeface="Georgia"/>
              </a:rPr>
              <a:t>"Luis, antes de nada, quiero compartirte cómo vemos tu posición hoy."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044951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4203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 spc="80">
                <a:solidFill>
                  <a:srgbClr val="9C7A3F"/>
                </a:solidFill>
                <a:latin typeface="Calibri"/>
              </a:rPr>
              <a:t>EL PATRÓN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96311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15182B"/>
                </a:solidFill>
                <a:latin typeface="Georgia"/>
              </a:rPr>
              <a:t>"Más de 30 felicitaciones a colegas en 6 meses. Cero posts propios. ¿Te suena familiar?"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12463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09543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 spc="80">
                <a:solidFill>
                  <a:srgbClr val="9C7A3F"/>
                </a:solidFill>
                <a:latin typeface="Calibri"/>
              </a:rPr>
              <a:t>EL RIESGO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163823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15182B"/>
                </a:solidFill>
                <a:latin typeface="Georgia"/>
              </a:rPr>
              <a:t>"Esa autoridad, si no se ve, no decide nada."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379975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77055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 spc="80">
                <a:solidFill>
                  <a:srgbClr val="9C7A3F"/>
                </a:solidFill>
                <a:latin typeface="Calibri"/>
              </a:rPr>
              <a:t>LA PROPUESTA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831335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15182B"/>
                </a:solidFill>
                <a:latin typeface="Georgia"/>
              </a:rPr>
              <a:t>"Vos seguís siendo el experto. Nosotros construimos el eco."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047487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44567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 spc="80">
                <a:solidFill>
                  <a:srgbClr val="9C7A3F"/>
                </a:solidFill>
                <a:latin typeface="Calibri"/>
              </a:rPr>
              <a:t>CIERRE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498847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15182B"/>
                </a:solidFill>
                <a:latin typeface="Georgia"/>
              </a:rPr>
              <a:t>"¿Coordinamos 45 minutos la semana que viene?"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9C7A3F"/>
                </a:solidFill>
                <a:latin typeface="Calibri"/>
              </a:rPr>
              <a:t>LÍNEAS ROJAS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5182B"/>
                </a:solidFill>
                <a:latin typeface="Georgia"/>
              </a:rPr>
              <a:t>Qué no vamos a hacer en esta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20240"/>
            <a:ext cx="10789920" cy="1005840"/>
          </a:xfrm>
          <a:prstGeom prst="rect">
            <a:avLst/>
          </a:prstGeom>
          <a:solidFill>
            <a:srgbClr val="F3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38100" cy="1005840"/>
          </a:xfrm>
          <a:prstGeom prst="rect">
            <a:avLst/>
          </a:prstGeom>
          <a:solidFill>
            <a:srgbClr val="7A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C2A20"/>
                </a:solidFill>
                <a:latin typeface="Calibri"/>
              </a:rPr>
              <a:t>No mencionar cifras en dólares. El riesgo es disparar una negociación de precio antes de establecer valor.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154680"/>
            <a:ext cx="10789920" cy="1005840"/>
          </a:xfrm>
          <a:prstGeom prst="rect">
            <a:avLst/>
          </a:prstGeom>
          <a:solidFill>
            <a:srgbClr val="F3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154680"/>
            <a:ext cx="38100" cy="1005840"/>
          </a:xfrm>
          <a:prstGeom prst="rect">
            <a:avLst/>
          </a:prstGeom>
          <a:solidFill>
            <a:srgbClr val="7A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C2A20"/>
                </a:solidFill>
                <a:latin typeface="Calibri"/>
              </a:rPr>
              <a:t>No prometer resultados concretos. El lenguaje sobre 'resultados esperados' es consultivo, con disclaimer, nunca una promesa cerrada.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389120"/>
            <a:ext cx="10789920" cy="1005840"/>
          </a:xfrm>
          <a:prstGeom prst="rect">
            <a:avLst/>
          </a:prstGeom>
          <a:solidFill>
            <a:srgbClr val="F3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389120"/>
            <a:ext cx="38100" cy="1005840"/>
          </a:xfrm>
          <a:prstGeom prst="rect">
            <a:avLst/>
          </a:prstGeom>
          <a:solidFill>
            <a:srgbClr val="7A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C2A20"/>
                </a:solidFill>
                <a:latin typeface="Calibri"/>
              </a:rPr>
              <a:t>No mencionar que es la primera call de todo el proyecto, ni ningún comentario interno de Hint Media.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9C7A3F"/>
                </a:solidFill>
                <a:latin typeface="Calibri"/>
              </a:rPr>
              <a:t>SI LA CALL VA BIEN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5182B"/>
                </a:solidFill>
                <a:latin typeface="Georgia"/>
              </a:rPr>
              <a:t>Próximos pasos concretos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43200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9C7A3F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659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5182B"/>
                </a:solidFill>
                <a:latin typeface="Calibri"/>
              </a:rPr>
              <a:t>Entrevista mensual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080"/>
                </a:solidFill>
                <a:latin typeface="Calibri"/>
              </a:rPr>
              <a:t>Una conversación corta de 30 minutos al mes para capturar casos y hallazgos reales.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703320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9C7A3F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2608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5182B"/>
                </a:solidFill>
                <a:latin typeface="Calibri"/>
              </a:rPr>
              <a:t>Redacción en su voz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080"/>
                </a:solidFill>
                <a:latin typeface="Calibri"/>
              </a:rPr>
              <a:t>2 a 3 posts mensuales, directo y técnico, sin jerga de marketing.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663440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9C7A3F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8862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5182B"/>
                </a:solidFill>
                <a:latin typeface="Calibri"/>
              </a:rPr>
              <a:t>Gestión activa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080"/>
                </a:solidFill>
                <a:latin typeface="Calibri"/>
              </a:rPr>
              <a:t>Foco en los primeros 60 minutos de cada publicación, no solo en publicar.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EEE3CB"/>
                </a:solidFill>
                <a:latin typeface="Calibri"/>
              </a:rPr>
              <a:t>EN UNA FRASE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9F6EE"/>
                </a:solidFill>
                <a:latin typeface="Georgia"/>
              </a:rPr>
              <a:t>La estrategia, resumida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C9C2A8"/>
                </a:solidFill>
                <a:latin typeface="Georgia"/>
              </a:rPr>
              <a:t>Escuchamos los primeros cinco minutos antes de decidir qué deck abrir, mostramos visión sin hablar de plata, y cerramos pidiendo una segunda conversación, no una firma.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