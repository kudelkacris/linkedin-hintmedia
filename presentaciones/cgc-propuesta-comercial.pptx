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HINT MEDIA · PROPUESTA COMERCIAL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251460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2697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0" i="0">
                <a:solidFill>
                  <a:srgbClr val="F3EFE4"/>
                </a:solidFill>
                <a:latin typeface="Georgia"/>
              </a:rPr>
              <a:t>CGC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B8B3A6"/>
                </a:solidFill>
                <a:latin typeface="Georgia"/>
              </a:rPr>
              <a:t>Cómo activamos la narrativa pública de una compañía con escala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POR QUÉ IMPORTA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F3EFE4"/>
                </a:solidFill>
                <a:latin typeface="Georgia"/>
              </a:rPr>
              <a:t>La percepción pública ya no es un tema de marketing.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B8B3A6"/>
                </a:solidFill>
                <a:latin typeface="Segoe UI"/>
              </a:rPr>
              <a:t>CGC refinancia USD 591M en 2026, en una posición de fuerza según las calificadoras. Ese mensaje hoy solo lo leen los analistas de Moody's y FIX SCR. Inversores, prensa especializada, talento técnico y la comunidad del sector no lo ven en ningún canal propio de la compañía. Cada día sin narrativa pública es una oportunidad de percepción que se la queda otro.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DIAGNÓSTICO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F3EFE4"/>
                </a:solidFill>
                <a:latin typeface="Georgia"/>
              </a:rPr>
              <a:t>La base ya está. El contenido no la usa.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0" i="0">
                <a:solidFill>
                  <a:srgbClr val="C9A35A"/>
                </a:solidFill>
                <a:latin typeface="Georgia"/>
              </a:rPr>
              <a:t>58.031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8B3A6"/>
                </a:solidFill>
                <a:latin typeface="Segoe UI"/>
              </a:rPr>
              <a:t>Seguidores en LinkedIn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2918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0" i="0">
                <a:solidFill>
                  <a:srgbClr val="C9A35A"/>
                </a:solidFill>
                <a:latin typeface="Georgia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4160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8B3A6"/>
                </a:solidFill>
                <a:latin typeface="Segoe UI"/>
              </a:rPr>
              <a:t>Posts de negocio o vocería
en el último semestre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2918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0" i="0">
                <a:solidFill>
                  <a:srgbClr val="C9A35A"/>
                </a:solidFill>
                <a:latin typeface="Georgia"/>
              </a:rPr>
              <a:t>106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160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8B3A6"/>
                </a:solidFill>
                <a:latin typeface="Segoe UI"/>
              </a:rPr>
              <a:t>Años de trayectoria
sin sala de prensa propia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CÓMO SE VERÍAN LOS POSTS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F3EFE4"/>
                </a:solidFill>
                <a:latin typeface="Georgia"/>
              </a:rPr>
              <a:t>De la efeméride al posicionamiento.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5029200" cy="3931920"/>
          </a:xfrm>
          <a:prstGeom prst="roundRect">
            <a:avLst>
              <a:gd name="adj" fmla="val 4000"/>
            </a:avLst>
          </a:prstGeom>
          <a:solidFill>
            <a:srgbClr val="1C1C1C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2304288"/>
            <a:ext cx="137160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8A4A4A"/>
                </a:solidFill>
                <a:latin typeface="Segoe UI"/>
              </a:rPr>
              <a:t>ASÍ ES HOY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697479"/>
            <a:ext cx="411480" cy="411480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267004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3EFE4"/>
                </a:solidFill>
                <a:latin typeface="Segoe UI"/>
              </a:rPr>
              <a:t>CGC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944368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B8B3A6"/>
                </a:solidFill>
                <a:latin typeface="Segoe UI"/>
              </a:rPr>
              <a:t>CGC · Energía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37560"/>
            <a:ext cx="4480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¡Feliz Día del Geólogo! 🎉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/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Hoy celebramos a todos los profesionales que con su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conocimiento y dedicación hacen posible nuestra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actividad. ¡Gracias por su compromiso!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/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#DiaDelGeologo #CGC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532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B8B3A6"/>
                </a:solidFill>
                <a:latin typeface="Segoe UI"/>
              </a:rPr>
              <a:t>👍 34    💬 2 comentarios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03120"/>
            <a:ext cx="5029200" cy="3931920"/>
          </a:xfrm>
          <a:prstGeom prst="roundRect">
            <a:avLst>
              <a:gd name="adj" fmla="val 4000"/>
            </a:avLst>
          </a:prstGeom>
          <a:solidFill>
            <a:srgbClr val="1C1C1C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304288"/>
            <a:ext cx="137160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C9A35A"/>
                </a:solidFill>
                <a:latin typeface="Segoe UI"/>
              </a:rPr>
              <a:t>PROPUESTA HINT MEDIA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0" y="2697479"/>
            <a:ext cx="411480" cy="411480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67004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3EFE4"/>
                </a:solidFill>
                <a:latin typeface="Segoe UI"/>
              </a:rPr>
              <a:t>Juan Pérez, Gerente de Exploración · CGC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944368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B8B3A6"/>
                </a:solidFill>
                <a:latin typeface="Segoe UI"/>
              </a:rPr>
              <a:t>CGC · Energía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37560"/>
            <a:ext cx="4480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El mercado de gas regional está cambiando más rápido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de lo que se discute públicamente.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/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En los últimos 18 meses vimos 3 movimientos que van a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redefinir el midstream argentino. Acá mi lectura técnica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de lo que se viene, y por qué CGC está posicionada para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liderarlo →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/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#MercadoDeGas #Energía #Argentina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532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B8B3A6"/>
                </a:solidFill>
                <a:latin typeface="Segoe UI"/>
              </a:rPr>
              <a:t>👍 187    💬 24 comentarios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POR QUÉ FUNCIONA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F3EFE4"/>
                </a:solidFill>
                <a:latin typeface="Georgia"/>
              </a:rPr>
              <a:t>No se trata de publicar más. Se trata de que alguien hable.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880360"/>
            <a:ext cx="109728" cy="109728"/>
          </a:xfrm>
          <a:prstGeom prst="ellipse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7249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3EFE4"/>
                </a:solidFill>
                <a:latin typeface="Georgia"/>
              </a:rPr>
              <a:t>Persona, no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1272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8B3A6"/>
                </a:solidFill>
                <a:latin typeface="Segoe UI"/>
              </a:rPr>
              <a:t>Los posts de directivos generan en promedio 3 a 5 veces más alcance organico que los de la página corporativa.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931920"/>
            <a:ext cx="109728" cy="109728"/>
          </a:xfrm>
          <a:prstGeom prst="ellipse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776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3EFE4"/>
                </a:solidFill>
                <a:latin typeface="Georgia"/>
              </a:rPr>
              <a:t>Sustancia, no protocolo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17880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8B3A6"/>
                </a:solidFill>
                <a:latin typeface="Segoe UI"/>
              </a:rPr>
              <a:t>El contenido técnico/sectorial posiciona autoridad real frente a inversores, prensa y talento — la efeméride no construye nada.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983480"/>
            <a:ext cx="109728" cy="109728"/>
          </a:xfrm>
          <a:prstGeom prst="ellipse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828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3EFE4"/>
                </a:solidFill>
                <a:latin typeface="Georgia"/>
              </a:rPr>
              <a:t>Consistencia, no campaña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2303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8B3A6"/>
                </a:solidFill>
                <a:latin typeface="Segoe UI"/>
              </a:rPr>
              <a:t>Una cadencia sostenida de vocería es lo que construye confianza antes de que la necesites (ej. una refinanciación).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CASOS DE ÉXITO · HINT MEDIA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F3EFE4"/>
                </a:solidFill>
                <a:latin typeface="Georgia"/>
              </a:rPr>
              <a:t>Resultados reales, en el mismo sector y en otros.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5029200" cy="178308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5059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C9A35A"/>
                </a:solidFill>
                <a:latin typeface="Georgia"/>
              </a:rPr>
              <a:t>TGS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5292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3A6"/>
                </a:solidFill>
                <a:latin typeface="Segoe UI"/>
              </a:rPr>
              <a:t>Transportadora de Gas del Sur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5468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3EFE4"/>
                </a:solidFill>
                <a:latin typeface="Segoe UI"/>
              </a:rPr>
              <a:t>Identidad Digital, RRSS y Vocería Digital en una de las
principales transportadoras de gas de Argentina.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86000"/>
            <a:ext cx="5029200" cy="178308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45059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C9A35A"/>
                </a:solidFill>
                <a:latin typeface="Georgia"/>
              </a:rPr>
              <a:t>Transener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5292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3A6"/>
                </a:solidFill>
                <a:latin typeface="Segoe UI"/>
              </a:rPr>
              <a:t>Transporte de energía eléctrica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15468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3EFE4"/>
                </a:solidFill>
                <a:latin typeface="Segoe UI"/>
              </a:rPr>
              <a:t>Vocería Digital para una compañía del mismo ecosistema
energético regulado que CGC.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343400"/>
            <a:ext cx="5029200" cy="178308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50799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C9A35A"/>
                </a:solidFill>
                <a:latin typeface="Georgia"/>
              </a:rPr>
              <a:t>Destiny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91032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3A6"/>
                </a:solidFill>
                <a:latin typeface="Segoe UI"/>
              </a:rPr>
              <a:t>8 marcas · Turismo, Fuerteventura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21208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3EFE4"/>
                </a:solidFill>
                <a:latin typeface="Segoe UI"/>
              </a:rPr>
              <a:t>De 30% a 70% de reservas directas mediante estrategia
digital integral.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343400"/>
            <a:ext cx="5029200" cy="178308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50799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C9A35A"/>
                </a:solidFill>
                <a:latin typeface="Georgia"/>
              </a:rPr>
              <a:t>Tassaroli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91032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3A6"/>
                </a:solidFill>
                <a:latin typeface="Segoe UI"/>
              </a:rPr>
              <a:t>Retail / Moda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21208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3EFE4"/>
                </a:solidFill>
                <a:latin typeface="Segoe UI"/>
              </a:rPr>
              <a:t>Identidad Digital, RRSS y producción de video.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CÓMO PODEMOS AYUDAR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F3EFE4"/>
                </a:solidFill>
                <a:latin typeface="Georgia"/>
              </a:rPr>
              <a:t>Plan de trabajo propuesto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697480" cy="521207"/>
          </a:xfrm>
          <a:prstGeom prst="roundRect">
            <a:avLst>
              <a:gd name="adj" fmla="val 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C9A35A"/>
                </a:solidFill>
                <a:latin typeface="Segoe UI"/>
              </a:rPr>
              <a:t>Servicio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828800"/>
            <a:ext cx="4526280" cy="521207"/>
          </a:xfrm>
          <a:prstGeom prst="roundRect">
            <a:avLst>
              <a:gd name="adj" fmla="val 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83664"/>
            <a:ext cx="4343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C9A35A"/>
                </a:solidFill>
                <a:latin typeface="Segoe UI"/>
              </a:rPr>
              <a:t>Qué incluye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828800"/>
            <a:ext cx="4160520" cy="521207"/>
          </a:xfrm>
          <a:prstGeom prst="roundRect">
            <a:avLst>
              <a:gd name="adj" fmla="val 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83664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C9A35A"/>
                </a:solidFill>
                <a:latin typeface="Segoe UI"/>
              </a:rPr>
              <a:t>Objetivo para CGC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50592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Vocería Digital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50592"/>
            <a:ext cx="4343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Perfiles de directivos activados, calendario
de contenido, ghostwriting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50592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Construir autoridad personal que respalde
la institucional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2935224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301752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Content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17520"/>
            <a:ext cx="4343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Artículos técnicos bilingües (ES/EN),
posicionamiento sectorial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017520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Ocupar el terreno de pensamiento que hoy
está vacío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" y="3502152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358444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Identidad Digital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84448"/>
            <a:ext cx="4343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Auditoría y relanzamiento de tono y
estilo en todos los canales propios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584448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Coherencia entre gobierno corporativo,
RSE y operación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60" y="4069080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4151376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RRSS / LinkedIn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151376"/>
            <a:ext cx="4343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Calendario editorial, gestión de
publicaciones, métricas mensuales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151376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Pasar de efeméride a contenido
de negocio real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" y="4636007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4718303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SEO + Sala de Prensa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18303"/>
            <a:ext cx="4343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Optimización on-page, sección de
noticias centralizando cobertura existente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718303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Control de narrativa en buscadores
y medios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2960" y="5202936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5285231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Producción Audiovisual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285231"/>
            <a:ext cx="4343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Video institucional y de producto,
relanzamiento de canal YouTube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285231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Respaldo visual a la nueva narrativa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22960" y="5769864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PLAN DE IMPLEMENTACIÓN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F3EFE4"/>
                </a:solidFill>
                <a:latin typeface="Georgia"/>
              </a:rPr>
              <a:t>Tres fases, resultados visibles desde la primera.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3520440" cy="310896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C9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974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35A"/>
                </a:solidFill>
                <a:latin typeface="Segoe UI"/>
              </a:rPr>
              <a:t>FASE 1 · SEMANAS 1-4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3EFE4"/>
                </a:solidFill>
                <a:latin typeface="Georgia"/>
              </a:rPr>
              <a:t>Fundación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1188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8B3A6"/>
                </a:solidFill>
                <a:latin typeface="Segoe UI"/>
              </a:rPr>
              <a:t>SEO básico, sala de prensa, primeros
posts reconvertidos en LinkedIn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468880"/>
            <a:ext cx="3520440" cy="310896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6974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35A"/>
                </a:solidFill>
                <a:latin typeface="Segoe UI"/>
              </a:rPr>
              <a:t>FASE 2 · MES 2-3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06324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3EFE4"/>
                </a:solidFill>
                <a:latin typeface="Georgia"/>
              </a:rPr>
              <a:t>Narrativa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61188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8B3A6"/>
                </a:solidFill>
                <a:latin typeface="Segoe UI"/>
              </a:rPr>
              <a:t>Vocería Digital activa, Content Hub
en marcha, calendario editorial estable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2468880"/>
            <a:ext cx="3520440" cy="310896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6974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35A"/>
                </a:solidFill>
                <a:latin typeface="Segoe UI"/>
              </a:rPr>
              <a:t>FASE 3 · MES 4+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06324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3EFE4"/>
                </a:solidFill>
                <a:latin typeface="Georgia"/>
              </a:rPr>
              <a:t>Escala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61188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8B3A6"/>
                </a:solidFill>
                <a:latin typeface="Segoe UI"/>
              </a:rPr>
              <a:t>Relanzamiento de YouTube, marca
empleadora, métricas de posicionamiento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INVERSIÓN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F3EFE4"/>
                </a:solidFill>
                <a:latin typeface="Georgia"/>
              </a:rPr>
              <a:t>El alcance se define con tu equipo, no al revés.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B8B3A6"/>
                </a:solidFill>
                <a:latin typeface="Segoe UI"/>
              </a:rPr>
              <a:t>No proponemos un paquete cerrado sin conocer presupuesto, prioridades internas y qué áreas ya tienen recursos (ej. comunicación interna, RSE). Las fases del plan permiten arrancar acotado y escalar según resultados. Definimos el número exacto en una reunión de alcance.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PRÓXIMO PASO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269748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288036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F3EFE4"/>
                </a:solidFill>
                <a:latin typeface="Georgia"/>
              </a:rPr>
              <a:t>30 minutos para definir el alcance con tu equipo.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9D9AD"/>
                </a:solidFill>
                <a:latin typeface="Georgia"/>
              </a:rPr>
              <a:t>Activamos el ADN de organizaciones, marcas y líderes.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8B3A6"/>
                </a:solidFill>
                <a:latin typeface="Segoe UI"/>
              </a:rPr>
              <a:t>— Hint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