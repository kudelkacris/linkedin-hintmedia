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HINT MEDIA · PROPUESTA COMERCIAL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51460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0">
                <a:solidFill>
                  <a:srgbClr val="F3EFE4"/>
                </a:solidFill>
                <a:latin typeface="Georgia"/>
              </a:rPr>
              <a:t>CGC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B8B3A6"/>
                </a:solidFill>
                <a:latin typeface="Georgia"/>
              </a:rPr>
              <a:t>Cómo activamos la narrativa pública de una compañía con escala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POR QUÉ IMPORTA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0" i="0">
                <a:solidFill>
                  <a:srgbClr val="F3EFE4"/>
                </a:solidFill>
                <a:latin typeface="Georgia"/>
              </a:rPr>
              <a:t>CGC está mejorando rápido. Casi nadie afuera lo sabe.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C9A35A"/>
                </a:solidFill>
                <a:latin typeface="Georgia"/>
              </a:rPr>
              <a:t>A → AA-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Suba de rating en
febrero 2026 (FIX SCR)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C9A35A"/>
                </a:solidFill>
                <a:latin typeface="Georgia"/>
              </a:rPr>
              <a:t>USD 150M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Aporte de capital del
accionista mayoritario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C9A35A"/>
                </a:solidFill>
                <a:latin typeface="Georgia"/>
              </a:rPr>
              <a:t>USD 275M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86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EBITDA en 9 meses 2025,
margen del 39%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B8B3A6"/>
                </a:solidFill>
                <a:latin typeface="Calibri"/>
              </a:rPr>
              <a:t>Esa mejora hoy solo la ven analistas de calificadoras (FIX SCR, Moody's). Inversores, prensa especializada y el mercado de talento del sector no la ven en ningún canal propio de la compañía. Es una historia de fortaleza que nadie está contando.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DIAGNÓSTICO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La base ya está. El contenido no la usa.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58.031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Seguidores en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Posts de negocio o vocería
en el último semestre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C9A35A"/>
                </a:solidFill>
                <a:latin typeface="Georgia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023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Años de trayectoria
sin sala de prensa propia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CÓMO SE VERÍAN LOS POSTS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De la efeméride al posicionamiento.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19456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8A4A4A"/>
                </a:solidFill>
                <a:latin typeface="Calibri"/>
              </a:rPr>
              <a:t>ASÍ ES HOY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578608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3EFE4"/>
                </a:solidFill>
                <a:latin typeface="Calibri"/>
              </a:rPr>
              <a:t>CGC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2549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Calibri"/>
              </a:rPr>
              <a:t>CGC · Energía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¡Feliz Día del Geólogo! 🎉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Hoy celebramos a todos los profesionales que con su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conocimiento y dedicación hacen posible nuestra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actividad. ¡Gracias por su compromiso!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#DiaDelGeologo #CGC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Georgia"/>
              </a:rPr>
              <a:t>👍 34    💬 2 comentarios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94560"/>
            <a:ext cx="155448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C9A35A"/>
                </a:solidFill>
                <a:latin typeface="Calibri"/>
              </a:rPr>
              <a:t>PROPUESTA HINT MEDIA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0" y="2578608"/>
            <a:ext cx="411480" cy="41148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55117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3EFE4"/>
                </a:solidFill>
                <a:latin typeface="Calibri"/>
              </a:rPr>
              <a:t>Juan Pérez, Gerente de Exploración · CGC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25496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B3A6"/>
                </a:solidFill>
                <a:latin typeface="Calibri"/>
              </a:rPr>
              <a:t>CGC · Energía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El mercado de gas regional está cambiando más rápido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de lo que se discute públicamente.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En los últimos 18 meses vimos 3 movimientos que van 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redefinir el midstream argentino. Mi lectura técnica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de lo que se viene, y por qué CGC está posicionada para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liderarlo →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F3EFE4"/>
                </a:solidFill>
                <a:latin typeface="Calibri"/>
              </a:rPr>
              <a:t>#MercadoDeGas #Energía #Argentina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77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B8B3A6"/>
                </a:solidFill>
                <a:latin typeface="Georgia"/>
              </a:rPr>
              <a:t>👍 187    💬 24 comentarios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POR QUÉ FUNCIONA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No se trata de publicar más. Se trata de que alguien hable.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697479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3EFE4"/>
                </a:solidFill>
                <a:latin typeface="Georgia"/>
              </a:rPr>
              <a:t>Persona, no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26079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Los posts de directivos generan en promedio varias veces más alcance orgánico que los de la página corporativa.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3EFE4"/>
                </a:solidFill>
                <a:latin typeface="Georgia"/>
              </a:rPr>
              <a:t>Sustancia, no protocolo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El contenido técnico y sectorial posiciona autoridad real frente a inversores, prensa y talento.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3EFE4"/>
                </a:solidFill>
                <a:latin typeface="Georgia"/>
              </a:rPr>
              <a:t>Consistencia, no campaña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4632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Una cadencia sostenida de vocería construye confianza antes de que la necesites, no durante la crisis.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MÁS ALLÁ DE LA VISIBILIDAD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Visibilidad es el efecto. Esto es lo que realmente compran.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Una agencia que solo promete 'más alcance' compite por presupuesto de marketing. Lo que CGC necesita hoy toca finanzas, talento y manejo de riesgo reputacional al mismo tiempo. Por eso el valor real de este trabajo se mide en estas cuatro áreas: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MÁS ALLÁ DE LA VISIBILIDAD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Cuatro frentes, un mismo activo: confianza pública.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Confianza financiera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Contenido propio y consistente respalda el proceso de refinanciación: inversores y calificadoras no dependen solo de informes técnicos para evaluar a la compañía.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2402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Atracción de talento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En un sector competido por perfiles técnicos, una marca empleadora visible reduce el costo y tiempo de atraer ingenieros, geólogos y especialistas.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Blindaje reputacional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Un canal propio activo, con audiencia y confianza ya construidas, es la diferencia entre responder una crisis desde cero o desde una base sólida.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3434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Puertas institucionales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3EFE4"/>
                </a:solidFill>
                <a:latin typeface="Calibri"/>
              </a:rPr>
              <a:t>Una vocería ejecutiva visible abre invitaciones a paneles, mejores conversaciones con cámaras y reguladores, y mayor peso reputacional en procesos donde la imagen pública cuenta.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CASOS DE ÉXITO · SECTOR ENERGÍA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No llegamos a aprender el sector. Ya trabajamos en él.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Calibri"/>
              </a:rPr>
              <a:t>TGS — Transporte de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Calibri"/>
              </a:rPr>
              <a:t>Transener — Transporte eléctrico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743200"/>
            <a:ext cx="352044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E9D9AD"/>
                </a:solidFill>
                <a:latin typeface="Calibri"/>
              </a:rPr>
              <a:t>Tassaroli — Equipamiento petrolero y minero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Tres compañías del mismo ecosistema energético/industrial argentino, con la misma necesidad de fondo que CGC: instituciones técnicamente sólidas, públicamente silenciosas. Las próximas dos diapositivas muestran cómo encontramos cada una y qué activamos.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CASO DE ÉXITO · TGS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Transportadora de Gas del Sur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8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8A8A"/>
                </a:solidFill>
                <a:latin typeface="Calibri"/>
              </a:rPr>
              <a:t>PUNTO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Comunicación institucional estándar del sector regulado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Presencia en redes funcional, sin narrativa propia diferenciada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Sin vocería individual de directivos en canales digitales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Identidad visual no unificada entre canales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120640" cy="3749039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LO QUE ACTIVAMOS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5720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Identidad Digital unificada en todos los canales propios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Vocería Digital: directivos con presencia pública activa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Calendario editorial sostenido en RRSS con tono propio del sector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50">
                <a:solidFill>
                  <a:srgbClr val="F3EFE4"/>
                </a:solidFill>
                <a:latin typeface="Calibri"/>
              </a:rPr>
              <a:t>•  Narrativa consistente entre operación, RSE y posicionamiento técnico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813048"/>
            <a:ext cx="457200" cy="329184"/>
          </a:xfrm>
          <a:prstGeom prst="rightArrow">
            <a:avLst/>
          </a:prstGeom>
          <a:solidFill>
            <a:srgbClr val="C9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CASO DE ÉXITO · TRANSENER Y TASSAROLI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3EFE4"/>
                </a:solidFill>
                <a:latin typeface="Georgia"/>
              </a:rPr>
              <a:t>Dos perfiles distintos, el mismo punto ciego.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TRANSENER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3A6"/>
                </a:solidFill>
                <a:latin typeface="Calibri"/>
              </a:rPr>
              <a:t>Transporte de energía eléctrica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Antes: comunicación institucional sin vocería personal,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directivos ausentes de la conversación pública del sector.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Activamos: Vocería Digital — directivos con voz propia,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hablando de la operación y el contexto energético, no solo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de la empresa como institución abstracta.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35A"/>
                </a:solidFill>
                <a:latin typeface="Georgia"/>
              </a:rPr>
              <a:t>TASSAROLI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3A6"/>
                </a:solidFill>
                <a:latin typeface="Calibri"/>
              </a:rPr>
              <a:t>Equipamiento petrolero y minero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Antes: capacidad técnica e industrial real (ISO 9001, API Spec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Q1, operaciones en 4 países), pero invisible fuera del trato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comercial directo con clientes existentes.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/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Activamos: Identidad Digital + RRSS + producción de video,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traduciendo capacidad técnica real en presencia pública que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>
                <a:solidFill>
                  <a:srgbClr val="F3EFE4"/>
                </a:solidFill>
                <a:latin typeface="Calibri"/>
              </a:rPr>
              <a:t>esa capacidad ya merecía.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CÓMO PODEMOS AYUDAR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Plan de trabajo propuesto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697480" cy="64922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9344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9A35A"/>
                </a:solidFill>
                <a:latin typeface="Calibri"/>
              </a:rPr>
              <a:t>Servicio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554480"/>
            <a:ext cx="4526280" cy="64922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09344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9A35A"/>
                </a:solidFill>
                <a:latin typeface="Calibri"/>
              </a:rPr>
              <a:t>Qué incluye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4160520" cy="649224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09344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C9A35A"/>
                </a:solidFill>
                <a:latin typeface="Calibri"/>
              </a:rPr>
              <a:t>Objetivo para CGC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Vocería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04288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Perfiles de directivos activados, calendario
de contenido, ghostwriting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04288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Construir autoridad personal que respalde
la institucional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91693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999232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Content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99232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Artículos técnicos bilingües (ES/EN),
posicionamiento sectorial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99232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Ocupar el terreno de pensamiento que hoy
está vacío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3611880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694176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Identidad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94176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Auditoría y relanzamiento de tono y
estilo en todos los canales propios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94176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Coherencia entre gobierno corporativo,
RSE y operación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4306824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389120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RRSS / LinkedIn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89120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Calendario editorial, gestión de
publicaciones, métricas mensuales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Pasar de efeméride a contenido
de negocio real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5001768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084064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SEO + Sala de Prensa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084064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Optimización on-page, sección de
noticias centralizando cobertura existente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84064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Control de narrativa en buscadores
y medios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5696712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779008"/>
            <a:ext cx="2514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Producción Audiovisual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779008"/>
            <a:ext cx="4343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Video institucional y de producto,
relanzamiento de canal YouTube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779008"/>
            <a:ext cx="397763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F3EFE4"/>
                </a:solidFill>
                <a:latin typeface="Calibri"/>
              </a:rPr>
              <a:t>Respaldo visual a la nueva narrativa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6391656"/>
            <a:ext cx="11521440" cy="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PLAN DE IMPLEMENTACIÓN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3EFE4"/>
                </a:solidFill>
                <a:latin typeface="Georgia"/>
              </a:rPr>
              <a:t>Tres fases, resultados visibles desde la primera.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C9A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Calibri"/>
              </a:rPr>
              <a:t>FASE 1 · SEMANAS 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F3EFE4"/>
                </a:solidFill>
                <a:latin typeface="Georgia"/>
              </a:rPr>
              <a:t>Fundación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Calibri"/>
              </a:rPr>
              <a:t>SEO básico, sala de prensa, primeros
posts reconvertidos en LinkedIn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Calibri"/>
              </a:rPr>
              <a:t>FASE 2 · MES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F3EFE4"/>
                </a:solidFill>
                <a:latin typeface="Georgia"/>
              </a:rPr>
              <a:t>Narrativa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Calibri"/>
              </a:rPr>
              <a:t>Vocería Digital activa, Content Hub
en marcha, calendario editorial estable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28600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35A"/>
                </a:solidFill>
                <a:latin typeface="Calibri"/>
              </a:rPr>
              <a:t>FASE 3 · MES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F3EFE4"/>
                </a:solidFill>
                <a:latin typeface="Georgia"/>
              </a:rPr>
              <a:t>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4290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8B3A6"/>
                </a:solidFill>
                <a:latin typeface="Calibri"/>
              </a:rPr>
              <a:t>Relanzamiento de YouTube, marca
empleadora, métricas de posicionamiento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CÓMO TRABAJAMOS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3EFE4"/>
                </a:solidFill>
                <a:latin typeface="Georgia"/>
              </a:rPr>
              <a:t>Un equipo, una cuenta, sin intermediarios.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Reunión de alcance inicial con tu equipo de comunicación para validar tono, prioridades y restricciones regulatorias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Punto de contacto único en Hint Media, reportes mensuales de avance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Aprobación de contenido en manos de CGC en cada etapa, sin publicar nada sin validación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>
                <a:solidFill>
                  <a:srgbClr val="F3EFE4"/>
                </a:solidFill>
                <a:latin typeface="Calibri"/>
              </a:rPr>
              <a:t>•  Métricas de seguimiento simples: alcance, calidad de conversación generada, cobertura de prensa propia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LA OPORTUNIDAD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3EFE4"/>
                </a:solidFill>
                <a:latin typeface="Georgia"/>
              </a:rPr>
              <a:t>Una historia real, todavía sin contar.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CGC tiene una historia financiera real y positiva que contar: subió de calificación, recibió un aporte de capital relevante, mejora su EBITDA y entró a un área no convencional operada por YPF. Hoy esa historia vive encerrada en informes técnicos que solo leen analistas.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El trabajo de Hint Media no es “generar más contenido”. Es tomar una historia de fortaleza ya real y verificable, y traducirla en una narrativa pública que inversores, prensa, talento técnico y la comunidad del sector puedan ver y entender, antes de que la necesiten.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9D9AD"/>
                </a:solidFill>
                <a:latin typeface="Georgia"/>
              </a:rPr>
              <a:t>Hint Media · Activamos el ADN de organizaciones, marcas y líderes.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INVERSIÓN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96012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i="0">
                <a:solidFill>
                  <a:srgbClr val="F3EFE4"/>
                </a:solidFill>
                <a:latin typeface="Georgia"/>
              </a:rPr>
              <a:t>El alcance se define con tu equipo, no al revés.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B8B3A6"/>
                </a:solidFill>
                <a:latin typeface="Calibri"/>
              </a:rPr>
              <a:t>No proponemos un paquete cerrado sin conocer presupuesto, prioridades internas y qué áreas ya tienen recursos (ej. comunicación interna, RSE). Las fases del plan permiten arrancar acotado y escalar según resultados. Definimos el número exacto en una reunión de alcance.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35A"/>
                </a:solidFill>
                <a:latin typeface="Calibri"/>
              </a:rPr>
              <a:t>PRÓXIMO PASO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697480"/>
            <a:ext cx="457200" cy="0"/>
          </a:xfrm>
          <a:prstGeom prst="line">
            <a:avLst/>
          </a:prstGeom>
          <a:ln w="19050">
            <a:solidFill>
              <a:srgbClr val="C9A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8803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3EFE4"/>
                </a:solidFill>
                <a:latin typeface="Georgia"/>
              </a:rPr>
              <a:t>30 minutos para definir el alcance con tu equipo.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9D9AD"/>
                </a:solidFill>
                <a:latin typeface="Georgia"/>
              </a:rPr>
              <a:t>Activamos el ADN de organizaciones, marcas y líderes.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3A6"/>
                </a:solidFill>
                <a:latin typeface="Calibri"/>
              </a:rPr>
              <a:t>— Hint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HINT MEDIA  ·  PROPUESTA COMERCIAL CGC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