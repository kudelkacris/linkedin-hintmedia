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9488"/>
        </a:solidFill>
        <a:effectLst/>
      </p:bgPr>
    </p:bg>
    <p:spTree>
      <p:nvGrpSpPr>
        <p:cNvPr id="1" name=""/>
        <p:cNvGrpSpPr/>
        <p:nvPr/>
      </p:nvGrpSpPr>
      <p:grpSpPr/>
      <p:sp>
        <p:nvSpPr>
          <p:cNvPr id="2" name="TextBox 1"/>
          <p:cNvSpPr txBox="1"/>
          <p:nvPr/>
        </p:nvSpPr>
        <p:spPr>
          <a:xfrm>
            <a:off x="822960" y="2194560"/>
            <a:ext cx="5486400" cy="457200"/>
          </a:xfrm>
          <a:prstGeom prst="rect">
            <a:avLst/>
          </a:prstGeom>
          <a:noFill/>
        </p:spPr>
        <p:txBody>
          <a:bodyPr wrap="square">
            <a:spAutoFit/>
          </a:bodyPr>
          <a:lstStyle/>
          <a:p>
            <a:pPr algn="l">
              <a:spcAft>
                <a:spcPts val="600"/>
              </a:spcAft>
            </a:pPr>
            <a:r>
              <a:rPr sz="1200" b="1" i="0" spc="100">
                <a:solidFill>
                  <a:srgbClr val="FFFFFF"/>
                </a:solidFill>
                <a:latin typeface="Calibri"/>
              </a:rPr>
              <a:t>GROWTH BLUEPRINT · HINT MEDIA</a:t>
            </a:r>
          </a:p>
        </p:txBody>
      </p:sp>
      <p:sp>
        <p:nvSpPr>
          <p:cNvPr id="3" name="TextBox 2"/>
          <p:cNvSpPr txBox="1"/>
          <p:nvPr/>
        </p:nvSpPr>
        <p:spPr>
          <a:xfrm>
            <a:off x="822960" y="2651760"/>
            <a:ext cx="7315200" cy="914400"/>
          </a:xfrm>
          <a:prstGeom prst="rect">
            <a:avLst/>
          </a:prstGeom>
          <a:noFill/>
        </p:spPr>
        <p:txBody>
          <a:bodyPr wrap="square">
            <a:spAutoFit/>
          </a:bodyPr>
          <a:lstStyle/>
          <a:p>
            <a:pPr algn="l">
              <a:spcAft>
                <a:spcPts val="600"/>
              </a:spcAft>
            </a:pPr>
            <a:r>
              <a:rPr sz="4200" b="1" i="0">
                <a:solidFill>
                  <a:srgbClr val="FFFFFF"/>
                </a:solidFill>
                <a:latin typeface="Georgia"/>
              </a:rPr>
              <a:t>Luis Pérez</a:t>
            </a:r>
          </a:p>
        </p:txBody>
      </p:sp>
      <p:sp>
        <p:nvSpPr>
          <p:cNvPr id="4" name="TextBox 3"/>
          <p:cNvSpPr txBox="1"/>
          <p:nvPr/>
        </p:nvSpPr>
        <p:spPr>
          <a:xfrm>
            <a:off x="822960" y="3383280"/>
            <a:ext cx="7315200" cy="548640"/>
          </a:xfrm>
          <a:prstGeom prst="rect">
            <a:avLst/>
          </a:prstGeom>
          <a:noFill/>
        </p:spPr>
        <p:txBody>
          <a:bodyPr wrap="square">
            <a:spAutoFit/>
          </a:bodyPr>
          <a:lstStyle/>
          <a:p>
            <a:pPr algn="l">
              <a:spcAft>
                <a:spcPts val="600"/>
              </a:spcAft>
            </a:pPr>
            <a:r>
              <a:rPr sz="1800" b="0" i="0">
                <a:solidFill>
                  <a:srgbClr val="E6F7F4"/>
                </a:solidFill>
                <a:latin typeface="Calibri"/>
              </a:rPr>
              <a:t>Cómo se vería trabajar juntos, en la práctica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MAPA DEL PROCESO COMPLETO</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Quién hace qué, cada mes</a:t>
            </a:r>
          </a:p>
        </p:txBody>
      </p:sp>
      <p:sp>
        <p:nvSpPr>
          <p:cNvPr id="4" name="TextBox 3"/>
          <p:cNvSpPr txBox="1"/>
          <p:nvPr/>
        </p:nvSpPr>
        <p:spPr>
          <a:xfrm>
            <a:off x="640080" y="1920240"/>
            <a:ext cx="914400" cy="365760"/>
          </a:xfrm>
          <a:prstGeom prst="rect">
            <a:avLst/>
          </a:prstGeom>
          <a:noFill/>
        </p:spPr>
        <p:txBody>
          <a:bodyPr wrap="square">
            <a:spAutoFit/>
          </a:bodyPr>
          <a:lstStyle/>
          <a:p>
            <a:pPr algn="l">
              <a:spcAft>
                <a:spcPts val="600"/>
              </a:spcAft>
            </a:pPr>
            <a:r>
              <a:rPr sz="1100" b="1" i="0">
                <a:solidFill>
                  <a:srgbClr val="2563EB"/>
                </a:solidFill>
                <a:latin typeface="Calibri"/>
              </a:rPr>
              <a:t>LUIS</a:t>
            </a:r>
          </a:p>
        </p:txBody>
      </p:sp>
      <p:sp>
        <p:nvSpPr>
          <p:cNvPr id="5" name="Rectangle 4"/>
          <p:cNvSpPr/>
          <p:nvPr/>
        </p:nvSpPr>
        <p:spPr>
          <a:xfrm>
            <a:off x="1645920" y="1874519"/>
            <a:ext cx="2171700" cy="457200"/>
          </a:xfrm>
          <a:prstGeom prst="rect">
            <a:avLst/>
          </a:prstGeom>
          <a:solidFill>
            <a:srgbClr val="DBE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83080" y="1984248"/>
            <a:ext cx="1897380" cy="274320"/>
          </a:xfrm>
          <a:prstGeom prst="rect">
            <a:avLst/>
          </a:prstGeom>
          <a:noFill/>
        </p:spPr>
        <p:txBody>
          <a:bodyPr wrap="square">
            <a:spAutoFit/>
          </a:bodyPr>
          <a:lstStyle/>
          <a:p>
            <a:pPr algn="l">
              <a:spcAft>
                <a:spcPts val="600"/>
              </a:spcAft>
            </a:pPr>
            <a:r>
              <a:rPr sz="1050" b="1" i="0">
                <a:solidFill>
                  <a:srgbClr val="1D3F9E"/>
                </a:solidFill>
                <a:latin typeface="Calibri"/>
              </a:rPr>
              <a:t>Entrevista mensual (30 min)</a:t>
            </a:r>
          </a:p>
        </p:txBody>
      </p:sp>
      <p:sp>
        <p:nvSpPr>
          <p:cNvPr id="7" name="Rectangle 6"/>
          <p:cNvSpPr/>
          <p:nvPr/>
        </p:nvSpPr>
        <p:spPr>
          <a:xfrm>
            <a:off x="3954780" y="1874519"/>
            <a:ext cx="1554479" cy="457200"/>
          </a:xfrm>
          <a:prstGeom prst="rect">
            <a:avLst/>
          </a:prstGeom>
          <a:solidFill>
            <a:srgbClr val="DBE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91940" y="1984248"/>
            <a:ext cx="1280159" cy="274320"/>
          </a:xfrm>
          <a:prstGeom prst="rect">
            <a:avLst/>
          </a:prstGeom>
          <a:noFill/>
        </p:spPr>
        <p:txBody>
          <a:bodyPr wrap="square">
            <a:spAutoFit/>
          </a:bodyPr>
          <a:lstStyle/>
          <a:p>
            <a:pPr algn="l">
              <a:spcAft>
                <a:spcPts val="600"/>
              </a:spcAft>
            </a:pPr>
            <a:r>
              <a:rPr sz="1050" b="1" i="0">
                <a:solidFill>
                  <a:srgbClr val="1D3F9E"/>
                </a:solidFill>
                <a:latin typeface="Calibri"/>
              </a:rPr>
              <a:t>Aprueba borradores</a:t>
            </a:r>
          </a:p>
        </p:txBody>
      </p:sp>
      <p:sp>
        <p:nvSpPr>
          <p:cNvPr id="9" name="Rectangle 8"/>
          <p:cNvSpPr/>
          <p:nvPr/>
        </p:nvSpPr>
        <p:spPr>
          <a:xfrm>
            <a:off x="5646419" y="1874519"/>
            <a:ext cx="2514600" cy="457200"/>
          </a:xfrm>
          <a:prstGeom prst="rect">
            <a:avLst/>
          </a:prstGeom>
          <a:solidFill>
            <a:srgbClr val="DBE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83579" y="1984248"/>
            <a:ext cx="2240280" cy="274320"/>
          </a:xfrm>
          <a:prstGeom prst="rect">
            <a:avLst/>
          </a:prstGeom>
          <a:noFill/>
        </p:spPr>
        <p:txBody>
          <a:bodyPr wrap="square">
            <a:spAutoFit/>
          </a:bodyPr>
          <a:lstStyle/>
          <a:p>
            <a:pPr algn="l">
              <a:spcAft>
                <a:spcPts val="600"/>
              </a:spcAft>
            </a:pPr>
            <a:r>
              <a:rPr sz="1050" b="1" i="0">
                <a:solidFill>
                  <a:srgbClr val="1D3F9E"/>
                </a:solidFill>
                <a:latin typeface="Calibri"/>
              </a:rPr>
              <a:t>Vive el evento / el caso técnico</a:t>
            </a:r>
          </a:p>
        </p:txBody>
      </p:sp>
      <p:sp>
        <p:nvSpPr>
          <p:cNvPr id="11" name="TextBox 10"/>
          <p:cNvSpPr txBox="1"/>
          <p:nvPr/>
        </p:nvSpPr>
        <p:spPr>
          <a:xfrm>
            <a:off x="640080" y="2606040"/>
            <a:ext cx="914400" cy="365760"/>
          </a:xfrm>
          <a:prstGeom prst="rect">
            <a:avLst/>
          </a:prstGeom>
          <a:noFill/>
        </p:spPr>
        <p:txBody>
          <a:bodyPr wrap="square">
            <a:spAutoFit/>
          </a:bodyPr>
          <a:lstStyle/>
          <a:p>
            <a:pPr algn="l">
              <a:spcAft>
                <a:spcPts val="600"/>
              </a:spcAft>
            </a:pPr>
            <a:r>
              <a:rPr sz="1100" b="1" i="0">
                <a:solidFill>
                  <a:srgbClr val="0D9488"/>
                </a:solidFill>
                <a:latin typeface="Calibri"/>
              </a:rPr>
              <a:t>HINT</a:t>
            </a:r>
          </a:p>
        </p:txBody>
      </p:sp>
      <p:sp>
        <p:nvSpPr>
          <p:cNvPr id="12" name="Rectangle 11"/>
          <p:cNvSpPr/>
          <p:nvPr/>
        </p:nvSpPr>
        <p:spPr>
          <a:xfrm>
            <a:off x="1645920" y="2560320"/>
            <a:ext cx="1623060" cy="457200"/>
          </a:xfrm>
          <a:prstGeom prst="rect">
            <a:avLst/>
          </a:prstGeom>
          <a:solidFill>
            <a:srgbClr val="D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83080" y="2670048"/>
            <a:ext cx="1348740" cy="274320"/>
          </a:xfrm>
          <a:prstGeom prst="rect">
            <a:avLst/>
          </a:prstGeom>
          <a:noFill/>
        </p:spPr>
        <p:txBody>
          <a:bodyPr wrap="square">
            <a:spAutoFit/>
          </a:bodyPr>
          <a:lstStyle/>
          <a:p>
            <a:pPr algn="l">
              <a:spcAft>
                <a:spcPts val="600"/>
              </a:spcAft>
            </a:pPr>
            <a:r>
              <a:rPr sz="1050" b="1" i="0">
                <a:solidFill>
                  <a:srgbClr val="0A6B62"/>
                </a:solidFill>
                <a:latin typeface="Calibri"/>
              </a:rPr>
              <a:t>Extrae conocimiento</a:t>
            </a:r>
          </a:p>
        </p:txBody>
      </p:sp>
      <p:sp>
        <p:nvSpPr>
          <p:cNvPr id="14" name="Rectangle 13"/>
          <p:cNvSpPr/>
          <p:nvPr/>
        </p:nvSpPr>
        <p:spPr>
          <a:xfrm>
            <a:off x="3406140" y="2560320"/>
            <a:ext cx="1485900" cy="457200"/>
          </a:xfrm>
          <a:prstGeom prst="rect">
            <a:avLst/>
          </a:prstGeom>
          <a:solidFill>
            <a:srgbClr val="D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670048"/>
            <a:ext cx="1211580" cy="274320"/>
          </a:xfrm>
          <a:prstGeom prst="rect">
            <a:avLst/>
          </a:prstGeom>
          <a:noFill/>
        </p:spPr>
        <p:txBody>
          <a:bodyPr wrap="square">
            <a:spAutoFit/>
          </a:bodyPr>
          <a:lstStyle/>
          <a:p>
            <a:pPr algn="l">
              <a:spcAft>
                <a:spcPts val="600"/>
              </a:spcAft>
            </a:pPr>
            <a:r>
              <a:rPr sz="1050" b="1" i="0">
                <a:solidFill>
                  <a:srgbClr val="0A6B62"/>
                </a:solidFill>
                <a:latin typeface="Calibri"/>
              </a:rPr>
              <a:t>Redacta en su voz</a:t>
            </a:r>
          </a:p>
        </p:txBody>
      </p:sp>
      <p:sp>
        <p:nvSpPr>
          <p:cNvPr id="16" name="Rectangle 15"/>
          <p:cNvSpPr/>
          <p:nvPr/>
        </p:nvSpPr>
        <p:spPr>
          <a:xfrm>
            <a:off x="5029200" y="2560320"/>
            <a:ext cx="1280160" cy="457200"/>
          </a:xfrm>
          <a:prstGeom prst="rect">
            <a:avLst/>
          </a:prstGeom>
          <a:solidFill>
            <a:srgbClr val="D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005840" cy="274320"/>
          </a:xfrm>
          <a:prstGeom prst="rect">
            <a:avLst/>
          </a:prstGeom>
          <a:noFill/>
        </p:spPr>
        <p:txBody>
          <a:bodyPr wrap="square">
            <a:spAutoFit/>
          </a:bodyPr>
          <a:lstStyle/>
          <a:p>
            <a:pPr algn="l">
              <a:spcAft>
                <a:spcPts val="600"/>
              </a:spcAft>
            </a:pPr>
            <a:r>
              <a:rPr sz="1050" b="1" i="0">
                <a:solidFill>
                  <a:srgbClr val="0A6B62"/>
                </a:solidFill>
                <a:latin typeface="Calibri"/>
              </a:rPr>
              <a:t>Publica y mide</a:t>
            </a:r>
          </a:p>
        </p:txBody>
      </p:sp>
      <p:sp>
        <p:nvSpPr>
          <p:cNvPr id="18" name="Rectangle 17"/>
          <p:cNvSpPr/>
          <p:nvPr/>
        </p:nvSpPr>
        <p:spPr>
          <a:xfrm>
            <a:off x="6446520" y="2560320"/>
            <a:ext cx="2308860" cy="457200"/>
          </a:xfrm>
          <a:prstGeom prst="rect">
            <a:avLst/>
          </a:prstGeom>
          <a:solidFill>
            <a:srgbClr val="D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2670048"/>
            <a:ext cx="2034540" cy="274320"/>
          </a:xfrm>
          <a:prstGeom prst="rect">
            <a:avLst/>
          </a:prstGeom>
          <a:noFill/>
        </p:spPr>
        <p:txBody>
          <a:bodyPr wrap="square">
            <a:spAutoFit/>
          </a:bodyPr>
          <a:lstStyle/>
          <a:p>
            <a:pPr algn="l">
              <a:spcAft>
                <a:spcPts val="600"/>
              </a:spcAft>
            </a:pPr>
            <a:r>
              <a:rPr sz="1050" b="1" i="0">
                <a:solidFill>
                  <a:srgbClr val="0A6B62"/>
                </a:solidFill>
                <a:latin typeface="Calibri"/>
              </a:rPr>
              <a:t>Amplifica los primeros 60 min</a:t>
            </a:r>
          </a:p>
        </p:txBody>
      </p:sp>
      <p:sp>
        <p:nvSpPr>
          <p:cNvPr id="20" name="Rectangle 19"/>
          <p:cNvSpPr/>
          <p:nvPr/>
        </p:nvSpPr>
        <p:spPr>
          <a:xfrm>
            <a:off x="8892540" y="2560320"/>
            <a:ext cx="1554479" cy="457200"/>
          </a:xfrm>
          <a:prstGeom prst="rect">
            <a:avLst/>
          </a:prstGeom>
          <a:solidFill>
            <a:srgbClr val="D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9700" y="2670048"/>
            <a:ext cx="1280159" cy="274320"/>
          </a:xfrm>
          <a:prstGeom prst="rect">
            <a:avLst/>
          </a:prstGeom>
          <a:noFill/>
        </p:spPr>
        <p:txBody>
          <a:bodyPr wrap="square">
            <a:spAutoFit/>
          </a:bodyPr>
          <a:lstStyle/>
          <a:p>
            <a:pPr algn="l">
              <a:spcAft>
                <a:spcPts val="600"/>
              </a:spcAft>
            </a:pPr>
            <a:r>
              <a:rPr sz="1050" b="1" i="0">
                <a:solidFill>
                  <a:srgbClr val="0A6B62"/>
                </a:solidFill>
                <a:latin typeface="Calibri"/>
              </a:rPr>
              <a:t>Reporta resultados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SISTEMA DE ENTREVISTAS</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30 minutos al mes. Así se estructura</a:t>
            </a:r>
          </a:p>
        </p:txBody>
      </p:sp>
      <p:sp>
        <p:nvSpPr>
          <p:cNvPr id="4" name="Rectangle 3"/>
          <p:cNvSpPr/>
          <p:nvPr/>
        </p:nvSpPr>
        <p:spPr>
          <a:xfrm>
            <a:off x="640080" y="1965960"/>
            <a:ext cx="3520440" cy="201168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65960"/>
            <a:ext cx="352044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94560"/>
            <a:ext cx="3063240" cy="365760"/>
          </a:xfrm>
          <a:prstGeom prst="rect">
            <a:avLst/>
          </a:prstGeom>
          <a:noFill/>
        </p:spPr>
        <p:txBody>
          <a:bodyPr wrap="square">
            <a:spAutoFit/>
          </a:bodyPr>
          <a:lstStyle/>
          <a:p>
            <a:pPr algn="l">
              <a:spcAft>
                <a:spcPts val="600"/>
              </a:spcAft>
            </a:pPr>
            <a:r>
              <a:rPr sz="1400" b="1" i="0">
                <a:solidFill>
                  <a:srgbClr val="1C2430"/>
                </a:solidFill>
                <a:latin typeface="Calibri"/>
              </a:rPr>
              <a:t>Antes</a:t>
            </a:r>
          </a:p>
        </p:txBody>
      </p:sp>
      <p:sp>
        <p:nvSpPr>
          <p:cNvPr id="7" name="TextBox 6"/>
          <p:cNvSpPr txBox="1"/>
          <p:nvPr/>
        </p:nvSpPr>
        <p:spPr>
          <a:xfrm>
            <a:off x="868680" y="2606040"/>
            <a:ext cx="3063240" cy="1280160"/>
          </a:xfrm>
          <a:prstGeom prst="rect">
            <a:avLst/>
          </a:prstGeom>
          <a:noFill/>
        </p:spPr>
        <p:txBody>
          <a:bodyPr wrap="square">
            <a:spAutoFit/>
          </a:bodyPr>
          <a:lstStyle/>
          <a:p>
            <a:pPr algn="l">
              <a:spcAft>
                <a:spcPts val="600"/>
              </a:spcAft>
            </a:pPr>
            <a:r>
              <a:rPr sz="1150" b="0" i="0">
                <a:solidFill>
                  <a:srgbClr val="54606E"/>
                </a:solidFill>
                <a:latin typeface="Calibri"/>
              </a:rPr>
              <a:t>Hint envía 3-4 preguntas guía: casos recientes, eventos, hallazgos técnicos, conversaciones con clientes.</a:t>
            </a:r>
          </a:p>
        </p:txBody>
      </p:sp>
      <p:sp>
        <p:nvSpPr>
          <p:cNvPr id="8" name="Rectangle 7"/>
          <p:cNvSpPr/>
          <p:nvPr/>
        </p:nvSpPr>
        <p:spPr>
          <a:xfrm>
            <a:off x="4343400" y="1965960"/>
            <a:ext cx="3520440" cy="201168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965960"/>
            <a:ext cx="352044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194560"/>
            <a:ext cx="3063240" cy="365760"/>
          </a:xfrm>
          <a:prstGeom prst="rect">
            <a:avLst/>
          </a:prstGeom>
          <a:noFill/>
        </p:spPr>
        <p:txBody>
          <a:bodyPr wrap="square">
            <a:spAutoFit/>
          </a:bodyPr>
          <a:lstStyle/>
          <a:p>
            <a:pPr algn="l">
              <a:spcAft>
                <a:spcPts val="600"/>
              </a:spcAft>
            </a:pPr>
            <a:r>
              <a:rPr sz="1400" b="1" i="0">
                <a:solidFill>
                  <a:srgbClr val="1C2430"/>
                </a:solidFill>
                <a:latin typeface="Calibri"/>
              </a:rPr>
              <a:t>Durante</a:t>
            </a:r>
          </a:p>
        </p:txBody>
      </p:sp>
      <p:sp>
        <p:nvSpPr>
          <p:cNvPr id="11" name="TextBox 10"/>
          <p:cNvSpPr txBox="1"/>
          <p:nvPr/>
        </p:nvSpPr>
        <p:spPr>
          <a:xfrm>
            <a:off x="4572000" y="2606040"/>
            <a:ext cx="3063240" cy="1280160"/>
          </a:xfrm>
          <a:prstGeom prst="rect">
            <a:avLst/>
          </a:prstGeom>
          <a:noFill/>
        </p:spPr>
        <p:txBody>
          <a:bodyPr wrap="square">
            <a:spAutoFit/>
          </a:bodyPr>
          <a:lstStyle/>
          <a:p>
            <a:pPr algn="l">
              <a:spcAft>
                <a:spcPts val="600"/>
              </a:spcAft>
            </a:pPr>
            <a:r>
              <a:rPr sz="1150" b="0" i="0">
                <a:solidFill>
                  <a:srgbClr val="54606E"/>
                </a:solidFill>
                <a:latin typeface="Calibri"/>
              </a:rPr>
              <a:t>Conversación grabada de 30 min. Luis cuenta, sin preocuparse por la redacción.</a:t>
            </a:r>
          </a:p>
        </p:txBody>
      </p:sp>
      <p:sp>
        <p:nvSpPr>
          <p:cNvPr id="12" name="Rectangle 11"/>
          <p:cNvSpPr/>
          <p:nvPr/>
        </p:nvSpPr>
        <p:spPr>
          <a:xfrm>
            <a:off x="8046720" y="1965960"/>
            <a:ext cx="3520440" cy="201168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965960"/>
            <a:ext cx="352044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3063240" cy="365760"/>
          </a:xfrm>
          <a:prstGeom prst="rect">
            <a:avLst/>
          </a:prstGeom>
          <a:noFill/>
        </p:spPr>
        <p:txBody>
          <a:bodyPr wrap="square">
            <a:spAutoFit/>
          </a:bodyPr>
          <a:lstStyle/>
          <a:p>
            <a:pPr algn="l">
              <a:spcAft>
                <a:spcPts val="600"/>
              </a:spcAft>
            </a:pPr>
            <a:r>
              <a:rPr sz="1400" b="1" i="0">
                <a:solidFill>
                  <a:srgbClr val="1C2430"/>
                </a:solidFill>
                <a:latin typeface="Calibri"/>
              </a:rPr>
              <a:t>Después</a:t>
            </a:r>
          </a:p>
        </p:txBody>
      </p:sp>
      <p:sp>
        <p:nvSpPr>
          <p:cNvPr id="15" name="TextBox 14"/>
          <p:cNvSpPr txBox="1"/>
          <p:nvPr/>
        </p:nvSpPr>
        <p:spPr>
          <a:xfrm>
            <a:off x="8275320" y="2606040"/>
            <a:ext cx="3063240" cy="1280160"/>
          </a:xfrm>
          <a:prstGeom prst="rect">
            <a:avLst/>
          </a:prstGeom>
          <a:noFill/>
        </p:spPr>
        <p:txBody>
          <a:bodyPr wrap="square">
            <a:spAutoFit/>
          </a:bodyPr>
          <a:lstStyle/>
          <a:p>
            <a:pPr algn="l">
              <a:spcAft>
                <a:spcPts val="600"/>
              </a:spcAft>
            </a:pPr>
            <a:r>
              <a:rPr sz="1150" b="0" i="0">
                <a:solidFill>
                  <a:srgbClr val="54606E"/>
                </a:solidFill>
                <a:latin typeface="Calibri"/>
              </a:rPr>
              <a:t>Hint transcribe, identifica 3-4 ángulos de contenido y arma los borradores del 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CALENDARIO EDITORIAL EJEMPLO</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Un mes típico, 4 publicaciones</a:t>
            </a:r>
          </a:p>
        </p:txBody>
      </p:sp>
      <p:graphicFrame>
        <p:nvGraphicFramePr>
          <p:cNvPr id="4" name="Table 3"/>
          <p:cNvGraphicFramePr>
            <a:graphicFrameLocks noGrp="1"/>
          </p:cNvGraphicFramePr>
          <p:nvPr/>
        </p:nvGraphicFramePr>
        <p:xfrm>
          <a:off x="640080" y="1920240"/>
          <a:ext cx="10789920" cy="3291840"/>
        </p:xfrm>
        <a:graphic>
          <a:graphicData uri="http://schemas.openxmlformats.org/drawingml/2006/table">
            <a:tbl>
              <a:tblPr firstRow="1" bandRow="1">
                <a:tableStyleId>{5C22544A-7EE6-4342-B048-85BDC9FD1C3A}</a:tableStyleId>
              </a:tblPr>
              <a:tblGrid>
                <a:gridCol w="3596640"/>
                <a:gridCol w="3596640"/>
                <a:gridCol w="3596640"/>
              </a:tblGrid>
              <a:tr h="658368">
                <a:tc>
                  <a:txBody>
                    <a:bodyPr/>
                    <a:lstStyle/>
                    <a:p>
                      <a:r>
                        <a:rPr b="1" sz="1100">
                          <a:solidFill>
                            <a:srgbClr val="FFFFFF"/>
                          </a:solidFill>
                          <a:latin typeface="Calibri"/>
                        </a:rPr>
                        <a:t>Semana</a:t>
                      </a:r>
                    </a:p>
                  </a:txBody>
                  <a:tcPr>
                    <a:solidFill>
                      <a:srgbClr val="10131A"/>
                    </a:solidFill>
                  </a:tcPr>
                </a:tc>
                <a:tc>
                  <a:txBody>
                    <a:bodyPr/>
                    <a:lstStyle/>
                    <a:p>
                      <a:r>
                        <a:rPr b="1" sz="1100">
                          <a:solidFill>
                            <a:srgbClr val="FFFFFF"/>
                          </a:solidFill>
                          <a:latin typeface="Calibri"/>
                        </a:rPr>
                        <a:t>Pilar</a:t>
                      </a:r>
                    </a:p>
                  </a:txBody>
                  <a:tcPr>
                    <a:solidFill>
                      <a:srgbClr val="10131A"/>
                    </a:solidFill>
                  </a:tcPr>
                </a:tc>
                <a:tc>
                  <a:txBody>
                    <a:bodyPr/>
                    <a:lstStyle/>
                    <a:p>
                      <a:r>
                        <a:rPr b="1" sz="1100">
                          <a:solidFill>
                            <a:srgbClr val="FFFFFF"/>
                          </a:solidFill>
                          <a:latin typeface="Calibri"/>
                        </a:rPr>
                        <a:t>Idea</a:t>
                      </a:r>
                    </a:p>
                  </a:txBody>
                  <a:tcPr>
                    <a:solidFill>
                      <a:srgbClr val="10131A"/>
                    </a:solidFill>
                  </a:tcPr>
                </a:tc>
              </a:tr>
              <a:tr h="658368">
                <a:tc>
                  <a:txBody>
                    <a:bodyPr/>
                    <a:lstStyle/>
                    <a:p>
                      <a:r>
                        <a:rPr sz="1100">
                          <a:solidFill>
                            <a:srgbClr val="54606E"/>
                          </a:solidFill>
                          <a:latin typeface="Calibri"/>
                        </a:rPr>
                        <a:t>1</a:t>
                      </a:r>
                    </a:p>
                  </a:txBody>
                  <a:tcPr>
                    <a:solidFill>
                      <a:srgbClr val="F4F6F8"/>
                    </a:solidFill>
                  </a:tcPr>
                </a:tc>
                <a:tc>
                  <a:txBody>
                    <a:bodyPr/>
                    <a:lstStyle/>
                    <a:p>
                      <a:r>
                        <a:rPr sz="1100">
                          <a:solidFill>
                            <a:srgbClr val="0A6B62"/>
                          </a:solidFill>
                          <a:latin typeface="Calibri"/>
                        </a:rPr>
                        <a:t>Caso técnico</a:t>
                      </a:r>
                    </a:p>
                  </a:txBody>
                  <a:tcPr>
                    <a:solidFill>
                      <a:srgbClr val="D7F1EC"/>
                    </a:solidFill>
                  </a:tcPr>
                </a:tc>
                <a:tc>
                  <a:txBody>
                    <a:bodyPr/>
                    <a:lstStyle/>
                    <a:p>
                      <a:r>
                        <a:rPr sz="1100">
                          <a:solidFill>
                            <a:srgbClr val="54606E"/>
                          </a:solidFill>
                          <a:latin typeface="Calibri"/>
                        </a:rPr>
                        <a:t>Hallazgo de contaminación resuelto con microscopía + trazador UV.</a:t>
                      </a:r>
                    </a:p>
                  </a:txBody>
                  <a:tcPr>
                    <a:solidFill>
                      <a:srgbClr val="F4F6F8"/>
                    </a:solidFill>
                  </a:tcPr>
                </a:tc>
              </a:tr>
              <a:tr h="658368">
                <a:tc>
                  <a:txBody>
                    <a:bodyPr/>
                    <a:lstStyle/>
                    <a:p>
                      <a:r>
                        <a:rPr sz="1100">
                          <a:solidFill>
                            <a:srgbClr val="54606E"/>
                          </a:solidFill>
                          <a:latin typeface="Calibri"/>
                        </a:rPr>
                        <a:t>2</a:t>
                      </a:r>
                    </a:p>
                  </a:txBody>
                  <a:tcPr>
                    <a:solidFill>
                      <a:srgbClr val="FFFFFF"/>
                    </a:solidFill>
                  </a:tcPr>
                </a:tc>
                <a:tc>
                  <a:txBody>
                    <a:bodyPr/>
                    <a:lstStyle/>
                    <a:p>
                      <a:r>
                        <a:rPr sz="1100">
                          <a:solidFill>
                            <a:srgbClr val="1D3F9E"/>
                          </a:solidFill>
                          <a:latin typeface="Calibri"/>
                        </a:rPr>
                        <a:t>Liderazgo regional</a:t>
                      </a:r>
                    </a:p>
                  </a:txBody>
                  <a:tcPr>
                    <a:solidFill>
                      <a:srgbClr val="DBE7FD"/>
                    </a:solidFill>
                  </a:tcPr>
                </a:tc>
                <a:tc>
                  <a:txBody>
                    <a:bodyPr/>
                    <a:lstStyle/>
                    <a:p>
                      <a:r>
                        <a:rPr sz="1100">
                          <a:solidFill>
                            <a:srgbClr val="54606E"/>
                          </a:solidFill>
                          <a:latin typeface="Calibri"/>
                        </a:rPr>
                        <a:t>Postura sobre estándares de cuarto limpio en LATAM.</a:t>
                      </a:r>
                    </a:p>
                  </a:txBody>
                  <a:tcPr>
                    <a:solidFill>
                      <a:srgbClr val="FFFFFF"/>
                    </a:solidFill>
                  </a:tcPr>
                </a:tc>
              </a:tr>
              <a:tr h="658368">
                <a:tc>
                  <a:txBody>
                    <a:bodyPr/>
                    <a:lstStyle/>
                    <a:p>
                      <a:r>
                        <a:rPr sz="1100">
                          <a:solidFill>
                            <a:srgbClr val="54606E"/>
                          </a:solidFill>
                          <a:latin typeface="Calibri"/>
                        </a:rPr>
                        <a:t>3</a:t>
                      </a:r>
                    </a:p>
                  </a:txBody>
                  <a:tcPr>
                    <a:solidFill>
                      <a:srgbClr val="F4F6F8"/>
                    </a:solidFill>
                  </a:tcPr>
                </a:tc>
                <a:tc>
                  <a:txBody>
                    <a:bodyPr/>
                    <a:lstStyle/>
                    <a:p>
                      <a:r>
                        <a:rPr sz="1100">
                          <a:solidFill>
                            <a:srgbClr val="92590A"/>
                          </a:solidFill>
                          <a:latin typeface="Calibri"/>
                        </a:rPr>
                        <a:t>Evento</a:t>
                      </a:r>
                    </a:p>
                  </a:txBody>
                  <a:tcPr>
                    <a:solidFill>
                      <a:srgbClr val="FDECC8"/>
                    </a:solidFill>
                  </a:tcPr>
                </a:tc>
                <a:tc>
                  <a:txBody>
                    <a:bodyPr/>
                    <a:lstStyle/>
                    <a:p>
                      <a:r>
                        <a:rPr sz="1100">
                          <a:solidFill>
                            <a:srgbClr val="54606E"/>
                          </a:solidFill>
                          <a:latin typeface="Calibri"/>
                        </a:rPr>
                        <a:t>Cobertura en primera persona de una feria o visita a cliente.</a:t>
                      </a:r>
                    </a:p>
                  </a:txBody>
                  <a:tcPr>
                    <a:solidFill>
                      <a:srgbClr val="F4F6F8"/>
                    </a:solidFill>
                  </a:tcPr>
                </a:tc>
              </a:tr>
              <a:tr h="658368">
                <a:tc>
                  <a:txBody>
                    <a:bodyPr/>
                    <a:lstStyle/>
                    <a:p>
                      <a:r>
                        <a:rPr sz="1100">
                          <a:solidFill>
                            <a:srgbClr val="54606E"/>
                          </a:solidFill>
                          <a:latin typeface="Calibri"/>
                        </a:rPr>
                        <a:t>4</a:t>
                      </a:r>
                    </a:p>
                  </a:txBody>
                  <a:tcPr>
                    <a:solidFill>
                      <a:srgbClr val="FFFFFF"/>
                    </a:solidFill>
                  </a:tcPr>
                </a:tc>
                <a:tc>
                  <a:txBody>
                    <a:bodyPr/>
                    <a:lstStyle/>
                    <a:p>
                      <a:r>
                        <a:rPr sz="1100">
                          <a:solidFill>
                            <a:srgbClr val="0A6B62"/>
                          </a:solidFill>
                          <a:latin typeface="Calibri"/>
                        </a:rPr>
                        <a:t>Método</a:t>
                      </a:r>
                    </a:p>
                  </a:txBody>
                  <a:tcPr>
                    <a:solidFill>
                      <a:srgbClr val="D7F1EC"/>
                    </a:solidFill>
                  </a:tcPr>
                </a:tc>
                <a:tc>
                  <a:txBody>
                    <a:bodyPr/>
                    <a:lstStyle/>
                    <a:p>
                      <a:r>
                        <a:rPr sz="1100">
                          <a:solidFill>
                            <a:srgbClr val="54606E"/>
                          </a:solidFill>
                          <a:latin typeface="Calibri"/>
                        </a:rPr>
                        <a:t>Explicación simple de SEM-EDS o trazadores UV para no técnicos.</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EJEMPLO DE CONTENIDO · PILAR CASO TÉCNICO</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300" b="1" i="0">
                <a:solidFill>
                  <a:srgbClr val="1C2430"/>
                </a:solidFill>
                <a:latin typeface="Georgia"/>
              </a:rPr>
              <a:t>Así se vería un post real</a:t>
            </a:r>
          </a:p>
        </p:txBody>
      </p:sp>
      <p:sp>
        <p:nvSpPr>
          <p:cNvPr id="4" name="Rectangle 3"/>
          <p:cNvSpPr/>
          <p:nvPr/>
        </p:nvSpPr>
        <p:spPr>
          <a:xfrm>
            <a:off x="640080" y="1920240"/>
            <a:ext cx="6583680" cy="3566160"/>
          </a:xfrm>
          <a:prstGeom prst="rect">
            <a:avLst/>
          </a:prstGeom>
          <a:solidFill>
            <a:srgbClr val="FFFFFF"/>
          </a:solidFill>
          <a:ln w="9525">
            <a:solidFill>
              <a:srgbClr val="E3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148840"/>
            <a:ext cx="502920" cy="5029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0" y="2103120"/>
            <a:ext cx="3657600" cy="548640"/>
          </a:xfrm>
          <a:prstGeom prst="rect">
            <a:avLst/>
          </a:prstGeom>
          <a:noFill/>
        </p:spPr>
        <p:txBody>
          <a:bodyPr wrap="square">
            <a:spAutoFit/>
          </a:bodyPr>
          <a:lstStyle/>
          <a:p>
            <a:pPr algn="l">
              <a:spcAft>
                <a:spcPts val="600"/>
              </a:spcAft>
            </a:pPr>
            <a:r>
              <a:rPr sz="1300" b="1" i="0">
                <a:solidFill>
                  <a:srgbClr val="1C2430"/>
                </a:solidFill>
                <a:latin typeface="Calibri"/>
              </a:rPr>
              <a:t>Luis Pérez</a:t>
            </a:r>
          </a:p>
          <a:p>
            <a:pPr algn="l">
              <a:spcAft>
                <a:spcPts val="600"/>
              </a:spcAft>
            </a:pPr>
            <a:r>
              <a:rPr sz="1000" b="0" i="0">
                <a:solidFill>
                  <a:srgbClr val="9AA3AD"/>
                </a:solidFill>
                <a:latin typeface="Calibri"/>
              </a:rPr>
              <a:t>Foamtec International WCC</a:t>
            </a:r>
          </a:p>
        </p:txBody>
      </p:sp>
      <p:sp>
        <p:nvSpPr>
          <p:cNvPr id="7" name="TextBox 6"/>
          <p:cNvSpPr txBox="1"/>
          <p:nvPr/>
        </p:nvSpPr>
        <p:spPr>
          <a:xfrm>
            <a:off x="914400" y="2788920"/>
            <a:ext cx="6035040" cy="2286000"/>
          </a:xfrm>
          <a:prstGeom prst="rect">
            <a:avLst/>
          </a:prstGeom>
          <a:noFill/>
        </p:spPr>
        <p:txBody>
          <a:bodyPr wrap="square">
            <a:spAutoFit/>
          </a:bodyPr>
          <a:lstStyle/>
          <a:p>
            <a:pPr algn="l">
              <a:spcAft>
                <a:spcPts val="600"/>
              </a:spcAft>
            </a:pPr>
            <a:r>
              <a:rPr sz="1250" b="0" i="0">
                <a:solidFill>
                  <a:srgbClr val="1C2430"/>
                </a:solidFill>
                <a:latin typeface="Calibri"/>
              </a:rPr>
              <a:t>Encontramos un defecto que llevaba 8 meses sin explicación.
No estaba en la máquina. Estaba en un guante.
Microscopía óptica y trazador UV mostraron el punto exacto de contacto. Recalificar ese guante cambió la tasa de FPY de la línea.
En contaminación de superficie no buscamos culpables. Buscamos evidencia.</a:t>
            </a:r>
          </a:p>
        </p:txBody>
      </p:sp>
      <p:sp>
        <p:nvSpPr>
          <p:cNvPr id="8" name="TextBox 7"/>
          <p:cNvSpPr txBox="1"/>
          <p:nvPr/>
        </p:nvSpPr>
        <p:spPr>
          <a:xfrm>
            <a:off x="914400" y="5074920"/>
            <a:ext cx="4572000" cy="274320"/>
          </a:xfrm>
          <a:prstGeom prst="rect">
            <a:avLst/>
          </a:prstGeom>
          <a:noFill/>
        </p:spPr>
        <p:txBody>
          <a:bodyPr wrap="square">
            <a:spAutoFit/>
          </a:bodyPr>
          <a:lstStyle/>
          <a:p>
            <a:pPr algn="l">
              <a:spcAft>
                <a:spcPts val="600"/>
              </a:spcAft>
            </a:pPr>
            <a:r>
              <a:rPr sz="1050" b="0" i="0">
                <a:solidFill>
                  <a:srgbClr val="9AA3AD"/>
                </a:solidFill>
                <a:latin typeface="Calibri"/>
              </a:rPr>
              <a:t>Me gusta     Comentar     Compartir</a:t>
            </a:r>
          </a:p>
        </p:txBody>
      </p:sp>
      <p:sp>
        <p:nvSpPr>
          <p:cNvPr id="9" name="Rectangle 8"/>
          <p:cNvSpPr/>
          <p:nvPr/>
        </p:nvSpPr>
        <p:spPr>
          <a:xfrm>
            <a:off x="7498079" y="1920240"/>
            <a:ext cx="3200400" cy="411480"/>
          </a:xfrm>
          <a:prstGeom prst="rect">
            <a:avLst/>
          </a:prstGeom>
          <a:solidFill>
            <a:srgbClr val="FD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993392"/>
            <a:ext cx="2926080" cy="274320"/>
          </a:xfrm>
          <a:prstGeom prst="rect">
            <a:avLst/>
          </a:prstGeom>
          <a:noFill/>
        </p:spPr>
        <p:txBody>
          <a:bodyPr wrap="square">
            <a:spAutoFit/>
          </a:bodyPr>
          <a:lstStyle/>
          <a:p>
            <a:pPr algn="l">
              <a:spcAft>
                <a:spcPts val="600"/>
              </a:spcAft>
            </a:pPr>
            <a:r>
              <a:rPr sz="950" b="1" i="0">
                <a:solidFill>
                  <a:srgbClr val="92590A"/>
                </a:solidFill>
                <a:latin typeface="Calibri"/>
              </a:rPr>
              <a:t>Borrador ilustrativo, a validar con Luis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EJEMPLO DE CONTENIDO · PILAR EVENTO</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300" b="1" i="0">
                <a:solidFill>
                  <a:srgbClr val="1C2430"/>
                </a:solidFill>
                <a:latin typeface="Georgia"/>
              </a:rPr>
              <a:t>Cobertura en primera persona, no comunicado de empresa</a:t>
            </a:r>
          </a:p>
        </p:txBody>
      </p:sp>
      <p:sp>
        <p:nvSpPr>
          <p:cNvPr id="4" name="Rectangle 3"/>
          <p:cNvSpPr/>
          <p:nvPr/>
        </p:nvSpPr>
        <p:spPr>
          <a:xfrm>
            <a:off x="640080" y="1920240"/>
            <a:ext cx="6583680" cy="3566160"/>
          </a:xfrm>
          <a:prstGeom prst="rect">
            <a:avLst/>
          </a:prstGeom>
          <a:solidFill>
            <a:srgbClr val="FFFFFF"/>
          </a:solidFill>
          <a:ln w="9525">
            <a:solidFill>
              <a:srgbClr val="E3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148840"/>
            <a:ext cx="502920" cy="5029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0" y="2103120"/>
            <a:ext cx="3657600" cy="548640"/>
          </a:xfrm>
          <a:prstGeom prst="rect">
            <a:avLst/>
          </a:prstGeom>
          <a:noFill/>
        </p:spPr>
        <p:txBody>
          <a:bodyPr wrap="square">
            <a:spAutoFit/>
          </a:bodyPr>
          <a:lstStyle/>
          <a:p>
            <a:pPr algn="l">
              <a:spcAft>
                <a:spcPts val="600"/>
              </a:spcAft>
            </a:pPr>
            <a:r>
              <a:rPr sz="1300" b="1" i="0">
                <a:solidFill>
                  <a:srgbClr val="1C2430"/>
                </a:solidFill>
                <a:latin typeface="Calibri"/>
              </a:rPr>
              <a:t>Luis Pérez</a:t>
            </a:r>
          </a:p>
          <a:p>
            <a:pPr algn="l">
              <a:spcAft>
                <a:spcPts val="600"/>
              </a:spcAft>
            </a:pPr>
            <a:r>
              <a:rPr sz="1000" b="0" i="0">
                <a:solidFill>
                  <a:srgbClr val="9AA3AD"/>
                </a:solidFill>
                <a:latin typeface="Calibri"/>
              </a:rPr>
              <a:t>Foamtec International WCC</a:t>
            </a:r>
          </a:p>
        </p:txBody>
      </p:sp>
      <p:sp>
        <p:nvSpPr>
          <p:cNvPr id="7" name="TextBox 6"/>
          <p:cNvSpPr txBox="1"/>
          <p:nvPr/>
        </p:nvSpPr>
        <p:spPr>
          <a:xfrm>
            <a:off x="914400" y="2788920"/>
            <a:ext cx="6035040" cy="2286000"/>
          </a:xfrm>
          <a:prstGeom prst="rect">
            <a:avLst/>
          </a:prstGeom>
          <a:noFill/>
        </p:spPr>
        <p:txBody>
          <a:bodyPr wrap="square">
            <a:spAutoFit/>
          </a:bodyPr>
          <a:lstStyle/>
          <a:p>
            <a:pPr algn="l">
              <a:spcAft>
                <a:spcPts val="600"/>
              </a:spcAft>
            </a:pPr>
            <a:r>
              <a:rPr sz="1250" b="0" i="0">
                <a:solidFill>
                  <a:srgbClr val="1C2430"/>
                </a:solidFill>
                <a:latin typeface="Calibri"/>
              </a:rPr>
              <a:t>Booth S49, Life Sciences Forum 2026.
Un comprador me preguntó por qué su línea seguía rechazando lotes después de cambiar todo el protocolo de limpieza.
La respuesta estaba en un trazador UV, no en el protocolo.
Gracias a todos los que pasaron a conversar esta semana.</a:t>
            </a:r>
          </a:p>
        </p:txBody>
      </p:sp>
      <p:sp>
        <p:nvSpPr>
          <p:cNvPr id="8" name="TextBox 7"/>
          <p:cNvSpPr txBox="1"/>
          <p:nvPr/>
        </p:nvSpPr>
        <p:spPr>
          <a:xfrm>
            <a:off x="914400" y="5074920"/>
            <a:ext cx="4572000" cy="274320"/>
          </a:xfrm>
          <a:prstGeom prst="rect">
            <a:avLst/>
          </a:prstGeom>
          <a:noFill/>
        </p:spPr>
        <p:txBody>
          <a:bodyPr wrap="square">
            <a:spAutoFit/>
          </a:bodyPr>
          <a:lstStyle/>
          <a:p>
            <a:pPr algn="l">
              <a:spcAft>
                <a:spcPts val="600"/>
              </a:spcAft>
            </a:pPr>
            <a:r>
              <a:rPr sz="1050" b="0" i="0">
                <a:solidFill>
                  <a:srgbClr val="9AA3AD"/>
                </a:solidFill>
                <a:latin typeface="Calibri"/>
              </a:rPr>
              <a:t>Me gusta     Comentar     Compartir</a:t>
            </a:r>
          </a:p>
        </p:txBody>
      </p:sp>
      <p:sp>
        <p:nvSpPr>
          <p:cNvPr id="9" name="Rectangle 8"/>
          <p:cNvSpPr/>
          <p:nvPr/>
        </p:nvSpPr>
        <p:spPr>
          <a:xfrm>
            <a:off x="7498079" y="1920240"/>
            <a:ext cx="3200400" cy="411480"/>
          </a:xfrm>
          <a:prstGeom prst="rect">
            <a:avLst/>
          </a:prstGeom>
          <a:solidFill>
            <a:srgbClr val="FD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993392"/>
            <a:ext cx="2926080" cy="274320"/>
          </a:xfrm>
          <a:prstGeom prst="rect">
            <a:avLst/>
          </a:prstGeom>
          <a:noFill/>
        </p:spPr>
        <p:txBody>
          <a:bodyPr wrap="square">
            <a:spAutoFit/>
          </a:bodyPr>
          <a:lstStyle/>
          <a:p>
            <a:pPr algn="l">
              <a:spcAft>
                <a:spcPts val="600"/>
              </a:spcAft>
            </a:pPr>
            <a:r>
              <a:rPr sz="950" b="1" i="0">
                <a:solidFill>
                  <a:srgbClr val="92590A"/>
                </a:solidFill>
                <a:latin typeface="Calibri"/>
              </a:rPr>
              <a:t>Borrador ilustrativo, a validar con Luis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EJEMPLO DE CONTENIDO · PILAR LIDERAZGO REGIONAL</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300" b="1" i="0">
                <a:solidFill>
                  <a:srgbClr val="1C2430"/>
                </a:solidFill>
                <a:latin typeface="Georgia"/>
              </a:rPr>
              <a:t>La opinión que lo posiciona como referencia</a:t>
            </a:r>
          </a:p>
        </p:txBody>
      </p:sp>
      <p:sp>
        <p:nvSpPr>
          <p:cNvPr id="4" name="Rectangle 3"/>
          <p:cNvSpPr/>
          <p:nvPr/>
        </p:nvSpPr>
        <p:spPr>
          <a:xfrm>
            <a:off x="640080" y="1920240"/>
            <a:ext cx="6583680" cy="3566160"/>
          </a:xfrm>
          <a:prstGeom prst="rect">
            <a:avLst/>
          </a:prstGeom>
          <a:solidFill>
            <a:srgbClr val="FFFFFF"/>
          </a:solidFill>
          <a:ln w="9525">
            <a:solidFill>
              <a:srgbClr val="E3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148840"/>
            <a:ext cx="502920" cy="5029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0" y="2103120"/>
            <a:ext cx="3657600" cy="548640"/>
          </a:xfrm>
          <a:prstGeom prst="rect">
            <a:avLst/>
          </a:prstGeom>
          <a:noFill/>
        </p:spPr>
        <p:txBody>
          <a:bodyPr wrap="square">
            <a:spAutoFit/>
          </a:bodyPr>
          <a:lstStyle/>
          <a:p>
            <a:pPr algn="l">
              <a:spcAft>
                <a:spcPts val="600"/>
              </a:spcAft>
            </a:pPr>
            <a:r>
              <a:rPr sz="1300" b="1" i="0">
                <a:solidFill>
                  <a:srgbClr val="1C2430"/>
                </a:solidFill>
                <a:latin typeface="Calibri"/>
              </a:rPr>
              <a:t>Luis Pérez</a:t>
            </a:r>
          </a:p>
          <a:p>
            <a:pPr algn="l">
              <a:spcAft>
                <a:spcPts val="600"/>
              </a:spcAft>
            </a:pPr>
            <a:r>
              <a:rPr sz="1000" b="0" i="0">
                <a:solidFill>
                  <a:srgbClr val="9AA3AD"/>
                </a:solidFill>
                <a:latin typeface="Calibri"/>
              </a:rPr>
              <a:t>Foamtec International WCC</a:t>
            </a:r>
          </a:p>
        </p:txBody>
      </p:sp>
      <p:sp>
        <p:nvSpPr>
          <p:cNvPr id="7" name="TextBox 6"/>
          <p:cNvSpPr txBox="1"/>
          <p:nvPr/>
        </p:nvSpPr>
        <p:spPr>
          <a:xfrm>
            <a:off x="914400" y="2788920"/>
            <a:ext cx="6035040" cy="2286000"/>
          </a:xfrm>
          <a:prstGeom prst="rect">
            <a:avLst/>
          </a:prstGeom>
          <a:noFill/>
        </p:spPr>
        <p:txBody>
          <a:bodyPr wrap="square">
            <a:spAutoFit/>
          </a:bodyPr>
          <a:lstStyle/>
          <a:p>
            <a:pPr algn="l">
              <a:spcAft>
                <a:spcPts val="600"/>
              </a:spcAft>
            </a:pPr>
            <a:r>
              <a:rPr sz="1250" b="0" i="0">
                <a:solidFill>
                  <a:srgbClr val="1C2430"/>
                </a:solidFill>
                <a:latin typeface="Calibri"/>
              </a:rPr>
              <a:t>La mayoría de los problemas de FPY que veo en cuartos limpios de LATAM no son de proceso.
Son de superficie. Y casi nadie los está midiendo.
Llevamos años copiando estándares globales sin adaptarlos a nuestra realidad operativa regional.
¿Qué están viendo ustedes en sus líneas?</a:t>
            </a:r>
          </a:p>
        </p:txBody>
      </p:sp>
      <p:sp>
        <p:nvSpPr>
          <p:cNvPr id="8" name="TextBox 7"/>
          <p:cNvSpPr txBox="1"/>
          <p:nvPr/>
        </p:nvSpPr>
        <p:spPr>
          <a:xfrm>
            <a:off x="914400" y="5074920"/>
            <a:ext cx="4572000" cy="274320"/>
          </a:xfrm>
          <a:prstGeom prst="rect">
            <a:avLst/>
          </a:prstGeom>
          <a:noFill/>
        </p:spPr>
        <p:txBody>
          <a:bodyPr wrap="square">
            <a:spAutoFit/>
          </a:bodyPr>
          <a:lstStyle/>
          <a:p>
            <a:pPr algn="l">
              <a:spcAft>
                <a:spcPts val="600"/>
              </a:spcAft>
            </a:pPr>
            <a:r>
              <a:rPr sz="1050" b="0" i="0">
                <a:solidFill>
                  <a:srgbClr val="9AA3AD"/>
                </a:solidFill>
                <a:latin typeface="Calibri"/>
              </a:rPr>
              <a:t>Me gusta     Comentar     Compartir</a:t>
            </a:r>
          </a:p>
        </p:txBody>
      </p:sp>
      <p:sp>
        <p:nvSpPr>
          <p:cNvPr id="9" name="Rectangle 8"/>
          <p:cNvSpPr/>
          <p:nvPr/>
        </p:nvSpPr>
        <p:spPr>
          <a:xfrm>
            <a:off x="7498079" y="1920240"/>
            <a:ext cx="3200400" cy="411480"/>
          </a:xfrm>
          <a:prstGeom prst="rect">
            <a:avLst/>
          </a:prstGeom>
          <a:solidFill>
            <a:srgbClr val="FD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993392"/>
            <a:ext cx="2926080" cy="274320"/>
          </a:xfrm>
          <a:prstGeom prst="rect">
            <a:avLst/>
          </a:prstGeom>
          <a:noFill/>
        </p:spPr>
        <p:txBody>
          <a:bodyPr wrap="square">
            <a:spAutoFit/>
          </a:bodyPr>
          <a:lstStyle/>
          <a:p>
            <a:pPr algn="l">
              <a:spcAft>
                <a:spcPts val="600"/>
              </a:spcAft>
            </a:pPr>
            <a:r>
              <a:rPr sz="950" b="1" i="0">
                <a:solidFill>
                  <a:srgbClr val="92590A"/>
                </a:solidFill>
                <a:latin typeface="Calibri"/>
              </a:rPr>
              <a:t>Borrador ilustrativo, a validar con Luis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PERFIL OPTIMIZADO</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400" b="1" i="0">
                <a:solidFill>
                  <a:srgbClr val="1C2430"/>
                </a:solidFill>
                <a:latin typeface="Georgia"/>
              </a:rPr>
              <a:t>Tu "Acerca de" ya vende. Tu actividad no lo respalda</a:t>
            </a:r>
          </a:p>
        </p:txBody>
      </p:sp>
      <p:sp>
        <p:nvSpPr>
          <p:cNvPr id="4" name="Rectangle 3"/>
          <p:cNvSpPr/>
          <p:nvPr/>
        </p:nvSpPr>
        <p:spPr>
          <a:xfrm>
            <a:off x="640080" y="1920240"/>
            <a:ext cx="5212080" cy="34747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26480" y="1920240"/>
            <a:ext cx="5212080" cy="3474720"/>
          </a:xfrm>
          <a:prstGeom prst="rect">
            <a:avLst/>
          </a:prstGeom>
          <a:solidFill>
            <a:srgbClr val="D7F1EC"/>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03120"/>
            <a:ext cx="4754880" cy="365760"/>
          </a:xfrm>
          <a:prstGeom prst="rect">
            <a:avLst/>
          </a:prstGeom>
          <a:noFill/>
        </p:spPr>
        <p:txBody>
          <a:bodyPr wrap="square">
            <a:spAutoFit/>
          </a:bodyPr>
          <a:lstStyle/>
          <a:p>
            <a:pPr algn="l">
              <a:spcAft>
                <a:spcPts val="600"/>
              </a:spcAft>
            </a:pPr>
            <a:r>
              <a:rPr sz="1100" b="1" i="0" spc="100">
                <a:solidFill>
                  <a:srgbClr val="9AA3AD"/>
                </a:solidFill>
                <a:latin typeface="Calibri"/>
              </a:rPr>
              <a:t>HOY</a:t>
            </a:r>
          </a:p>
        </p:txBody>
      </p:sp>
      <p:sp>
        <p:nvSpPr>
          <p:cNvPr id="7" name="TextBox 6"/>
          <p:cNvSpPr txBox="1"/>
          <p:nvPr/>
        </p:nvSpPr>
        <p:spPr>
          <a:xfrm>
            <a:off x="868680" y="2560320"/>
            <a:ext cx="4754880" cy="2651760"/>
          </a:xfrm>
          <a:prstGeom prst="rect">
            <a:avLst/>
          </a:prstGeom>
          <a:noFill/>
        </p:spPr>
        <p:txBody>
          <a:bodyPr wrap="square">
            <a:spAutoFit/>
          </a:bodyPr>
          <a:lstStyle/>
          <a:p>
            <a:pPr algn="l">
              <a:spcAft>
                <a:spcPts val="1200"/>
              </a:spcAft>
            </a:pPr>
            <a:r>
              <a:rPr sz="1250" b="0" i="0">
                <a:solidFill>
                  <a:srgbClr val="54606E"/>
                </a:solidFill>
                <a:latin typeface="Calibri"/>
              </a:rPr>
              <a:t>—  Sección destacada vacía, sin posts propios anclados</a:t>
            </a:r>
          </a:p>
          <a:p>
            <a:pPr algn="l">
              <a:spcAft>
                <a:spcPts val="1200"/>
              </a:spcAft>
            </a:pPr>
            <a:r>
              <a:rPr sz="1250" b="0" i="0">
                <a:solidFill>
                  <a:srgbClr val="54606E"/>
                </a:solidFill>
                <a:latin typeface="Calibri"/>
              </a:rPr>
              <a:t>—  Actividad reciente: solo felicitaciones a terceros</a:t>
            </a:r>
          </a:p>
          <a:p>
            <a:pPr algn="l">
              <a:spcAft>
                <a:spcPts val="1200"/>
              </a:spcAft>
            </a:pPr>
            <a:r>
              <a:rPr sz="1250" b="0" i="0">
                <a:solidFill>
                  <a:srgbClr val="54606E"/>
                </a:solidFill>
                <a:latin typeface="Calibri"/>
              </a:rPr>
              <a:t>—  Banner genérico de Foamtec, sin huella personal</a:t>
            </a:r>
          </a:p>
        </p:txBody>
      </p:sp>
      <p:sp>
        <p:nvSpPr>
          <p:cNvPr id="8" name="TextBox 7"/>
          <p:cNvSpPr txBox="1"/>
          <p:nvPr/>
        </p:nvSpPr>
        <p:spPr>
          <a:xfrm>
            <a:off x="6355080" y="2103120"/>
            <a:ext cx="4754880" cy="365760"/>
          </a:xfrm>
          <a:prstGeom prst="rect">
            <a:avLst/>
          </a:prstGeom>
          <a:noFill/>
        </p:spPr>
        <p:txBody>
          <a:bodyPr wrap="square">
            <a:spAutoFit/>
          </a:bodyPr>
          <a:lstStyle/>
          <a:p>
            <a:pPr algn="l">
              <a:spcAft>
                <a:spcPts val="600"/>
              </a:spcAft>
            </a:pPr>
            <a:r>
              <a:rPr sz="1100" b="1" i="0" spc="100">
                <a:solidFill>
                  <a:srgbClr val="0A6B62"/>
                </a:solidFill>
                <a:latin typeface="Calibri"/>
              </a:rPr>
              <a:t>CON EL SISTEMA FUNCIONANDO</a:t>
            </a:r>
          </a:p>
        </p:txBody>
      </p:sp>
      <p:sp>
        <p:nvSpPr>
          <p:cNvPr id="9" name="TextBox 8"/>
          <p:cNvSpPr txBox="1"/>
          <p:nvPr/>
        </p:nvSpPr>
        <p:spPr>
          <a:xfrm>
            <a:off x="6355080" y="2560320"/>
            <a:ext cx="4754880" cy="2651760"/>
          </a:xfrm>
          <a:prstGeom prst="rect">
            <a:avLst/>
          </a:prstGeom>
          <a:noFill/>
        </p:spPr>
        <p:txBody>
          <a:bodyPr wrap="square">
            <a:spAutoFit/>
          </a:bodyPr>
          <a:lstStyle/>
          <a:p>
            <a:pPr algn="l">
              <a:spcAft>
                <a:spcPts val="1200"/>
              </a:spcAft>
            </a:pPr>
            <a:r>
              <a:rPr sz="1250" b="0" i="0">
                <a:solidFill>
                  <a:srgbClr val="0A6B62"/>
                </a:solidFill>
                <a:latin typeface="Calibri"/>
              </a:rPr>
              <a:t>—  Sección destacada con 3 posts ancla (caso, evento, opinión)</a:t>
            </a:r>
          </a:p>
          <a:p>
            <a:pPr algn="l">
              <a:spcAft>
                <a:spcPts val="1200"/>
              </a:spcAft>
            </a:pPr>
            <a:r>
              <a:rPr sz="1250" b="0" i="0">
                <a:solidFill>
                  <a:srgbClr val="0A6B62"/>
                </a:solidFill>
                <a:latin typeface="Calibri"/>
              </a:rPr>
              <a:t>—  Actividad reciente: tu propia voz, no solo reposteos</a:t>
            </a:r>
          </a:p>
          <a:p>
            <a:pPr algn="l">
              <a:spcAft>
                <a:spcPts val="1200"/>
              </a:spcAft>
            </a:pPr>
            <a:r>
              <a:rPr sz="1250" b="0" i="0">
                <a:solidFill>
                  <a:srgbClr val="0A6B62"/>
                </a:solidFill>
                <a:latin typeface="Calibri"/>
              </a:rPr>
              <a:t>—  Banner y título alineados a 'experto en contaminación de superficie LATAM'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FLUJO OPERATIVO MENSUAL</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4 semanas, sin sorpresas</a:t>
            </a:r>
          </a:p>
        </p:txBody>
      </p:sp>
      <p:sp>
        <p:nvSpPr>
          <p:cNvPr id="4" name="Rectangle 3"/>
          <p:cNvSpPr/>
          <p:nvPr/>
        </p:nvSpPr>
        <p:spPr>
          <a:xfrm>
            <a:off x="6400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SEMANA 1</a:t>
            </a:r>
          </a:p>
        </p:txBody>
      </p:sp>
      <p:sp>
        <p:nvSpPr>
          <p:cNvPr id="7" name="TextBox 6"/>
          <p:cNvSpPr txBox="1"/>
          <p:nvPr/>
        </p:nvSpPr>
        <p:spPr>
          <a:xfrm>
            <a:off x="8229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Entrevista de 30 min + Hint extrae ángulos de contenido.</a:t>
            </a:r>
          </a:p>
        </p:txBody>
      </p:sp>
      <p:sp>
        <p:nvSpPr>
          <p:cNvPr id="8" name="Rectangle 7"/>
          <p:cNvSpPr/>
          <p:nvPr/>
        </p:nvSpPr>
        <p:spPr>
          <a:xfrm>
            <a:off x="33832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SEMANA 2</a:t>
            </a:r>
          </a:p>
        </p:txBody>
      </p:sp>
      <p:sp>
        <p:nvSpPr>
          <p:cNvPr id="11" name="TextBox 10"/>
          <p:cNvSpPr txBox="1"/>
          <p:nvPr/>
        </p:nvSpPr>
        <p:spPr>
          <a:xfrm>
            <a:off x="35661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Hint redacta. Luis aprueba o ajusta en 10 minutos.</a:t>
            </a:r>
          </a:p>
        </p:txBody>
      </p:sp>
      <p:sp>
        <p:nvSpPr>
          <p:cNvPr id="12" name="Rectangle 11"/>
          <p:cNvSpPr/>
          <p:nvPr/>
        </p:nvSpPr>
        <p:spPr>
          <a:xfrm>
            <a:off x="61264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SEMANA 3</a:t>
            </a:r>
          </a:p>
        </p:txBody>
      </p:sp>
      <p:sp>
        <p:nvSpPr>
          <p:cNvPr id="15" name="TextBox 14"/>
          <p:cNvSpPr txBox="1"/>
          <p:nvPr/>
        </p:nvSpPr>
        <p:spPr>
          <a:xfrm>
            <a:off x="63093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Publicación. Hint gestiona los primeros 60 minutos de tracción.</a:t>
            </a:r>
          </a:p>
        </p:txBody>
      </p:sp>
      <p:sp>
        <p:nvSpPr>
          <p:cNvPr id="16" name="Rectangle 15"/>
          <p:cNvSpPr/>
          <p:nvPr/>
        </p:nvSpPr>
        <p:spPr>
          <a:xfrm>
            <a:off x="88696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SEMANA 4</a:t>
            </a:r>
          </a:p>
        </p:txBody>
      </p:sp>
      <p:sp>
        <p:nvSpPr>
          <p:cNvPr id="19" name="TextBox 18"/>
          <p:cNvSpPr txBox="1"/>
          <p:nvPr/>
        </p:nvSpPr>
        <p:spPr>
          <a:xfrm>
            <a:off x="90525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Medición y reporte. Ajuste del calendario del mes siguiente.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CRONOGRAMA DE IMPLEMENTACIÓN</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Primeros 90 días, semana por semana</a:t>
            </a:r>
          </a:p>
        </p:txBody>
      </p:sp>
      <p:sp>
        <p:nvSpPr>
          <p:cNvPr id="4" name="Rectangle 3"/>
          <p:cNvSpPr/>
          <p:nvPr/>
        </p:nvSpPr>
        <p:spPr>
          <a:xfrm>
            <a:off x="6400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 1-2</a:t>
            </a:r>
          </a:p>
        </p:txBody>
      </p:sp>
      <p:sp>
        <p:nvSpPr>
          <p:cNvPr id="7" name="TextBox 6"/>
          <p:cNvSpPr txBox="1"/>
          <p:nvPr/>
        </p:nvSpPr>
        <p:spPr>
          <a:xfrm>
            <a:off x="8229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Kickoff, primera entrevista, auditoría de perfil.</a:t>
            </a:r>
          </a:p>
        </p:txBody>
      </p:sp>
      <p:sp>
        <p:nvSpPr>
          <p:cNvPr id="8" name="Rectangle 7"/>
          <p:cNvSpPr/>
          <p:nvPr/>
        </p:nvSpPr>
        <p:spPr>
          <a:xfrm>
            <a:off x="33832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 3-6</a:t>
            </a:r>
          </a:p>
        </p:txBody>
      </p:sp>
      <p:sp>
        <p:nvSpPr>
          <p:cNvPr id="11" name="TextBox 10"/>
          <p:cNvSpPr txBox="1"/>
          <p:nvPr/>
        </p:nvSpPr>
        <p:spPr>
          <a:xfrm>
            <a:off x="35661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Primeros 2 posts publicados, perfil optimizado.</a:t>
            </a:r>
          </a:p>
        </p:txBody>
      </p:sp>
      <p:sp>
        <p:nvSpPr>
          <p:cNvPr id="12" name="Rectangle 11"/>
          <p:cNvSpPr/>
          <p:nvPr/>
        </p:nvSpPr>
        <p:spPr>
          <a:xfrm>
            <a:off x="61264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 7-10</a:t>
            </a:r>
          </a:p>
        </p:txBody>
      </p:sp>
      <p:sp>
        <p:nvSpPr>
          <p:cNvPr id="15" name="TextBox 14"/>
          <p:cNvSpPr txBox="1"/>
          <p:nvPr/>
        </p:nvSpPr>
        <p:spPr>
          <a:xfrm>
            <a:off x="63093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Cobertura del próximo evento en vivo, ritmo de 1 post/semana.</a:t>
            </a:r>
          </a:p>
        </p:txBody>
      </p:sp>
      <p:sp>
        <p:nvSpPr>
          <p:cNvPr id="16" name="Rectangle 15"/>
          <p:cNvSpPr/>
          <p:nvPr/>
        </p:nvSpPr>
        <p:spPr>
          <a:xfrm>
            <a:off x="8869680" y="1920240"/>
            <a:ext cx="2606040" cy="21031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0" y="1920240"/>
            <a:ext cx="260604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2103120"/>
            <a:ext cx="2240280" cy="320040"/>
          </a:xfrm>
          <a:prstGeom prst="rect">
            <a:avLst/>
          </a:prstGeom>
          <a:noFill/>
        </p:spPr>
        <p:txBody>
          <a:bodyPr wrap="square">
            <a:spAutoFit/>
          </a:bodyPr>
          <a:lstStyle/>
          <a:p>
            <a:pPr algn="l">
              <a:spcAft>
                <a:spcPts val="600"/>
              </a:spcAft>
            </a:pPr>
            <a:r>
              <a:rPr sz="1000" b="1" i="0" spc="50">
                <a:solidFill>
                  <a:srgbClr val="2563EB"/>
                </a:solidFill>
                <a:latin typeface="Calibri"/>
              </a:rPr>
              <a:t>SEM. 11-13</a:t>
            </a:r>
          </a:p>
        </p:txBody>
      </p:sp>
      <p:sp>
        <p:nvSpPr>
          <p:cNvPr id="19" name="TextBox 18"/>
          <p:cNvSpPr txBox="1"/>
          <p:nvPr/>
        </p:nvSpPr>
        <p:spPr>
          <a:xfrm>
            <a:off x="9052560" y="2468880"/>
            <a:ext cx="2240280" cy="1463040"/>
          </a:xfrm>
          <a:prstGeom prst="rect">
            <a:avLst/>
          </a:prstGeom>
          <a:noFill/>
        </p:spPr>
        <p:txBody>
          <a:bodyPr wrap="square">
            <a:spAutoFit/>
          </a:bodyPr>
          <a:lstStyle/>
          <a:p>
            <a:pPr algn="l">
              <a:spcAft>
                <a:spcPts val="600"/>
              </a:spcAft>
            </a:pPr>
            <a:r>
              <a:rPr sz="1100" b="0" i="0">
                <a:solidFill>
                  <a:srgbClr val="54606E"/>
                </a:solidFill>
                <a:latin typeface="Calibri"/>
              </a:rPr>
              <a:t>Primer reporte de tracción real, ajuste de pilares.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EJEMPLO DE TABLERO DE SEGUIMIENTO</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Lo que medimos cada mes</a:t>
            </a:r>
          </a:p>
        </p:txBody>
      </p:sp>
      <p:sp>
        <p:nvSpPr>
          <p:cNvPr id="4" name="Rectangle 3"/>
          <p:cNvSpPr/>
          <p:nvPr/>
        </p:nvSpPr>
        <p:spPr>
          <a:xfrm>
            <a:off x="640080" y="1920240"/>
            <a:ext cx="2606040" cy="1920240"/>
          </a:xfrm>
          <a:prstGeom prst="rect">
            <a:avLst/>
          </a:prstGeom>
          <a:solidFill>
            <a:srgbClr val="10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2240280" cy="640080"/>
          </a:xfrm>
          <a:prstGeom prst="rect">
            <a:avLst/>
          </a:prstGeom>
          <a:noFill/>
        </p:spPr>
        <p:txBody>
          <a:bodyPr wrap="square">
            <a:spAutoFit/>
          </a:bodyPr>
          <a:lstStyle/>
          <a:p>
            <a:pPr algn="l">
              <a:spcAft>
                <a:spcPts val="600"/>
              </a:spcAft>
            </a:pPr>
            <a:r>
              <a:rPr sz="1500" b="1" i="0">
                <a:solidFill>
                  <a:srgbClr val="D7F1EC"/>
                </a:solidFill>
                <a:latin typeface="Calibri"/>
              </a:rPr>
              <a:t>Impresiones</a:t>
            </a:r>
          </a:p>
        </p:txBody>
      </p:sp>
      <p:sp>
        <p:nvSpPr>
          <p:cNvPr id="6" name="TextBox 5"/>
          <p:cNvSpPr txBox="1"/>
          <p:nvPr/>
        </p:nvSpPr>
        <p:spPr>
          <a:xfrm>
            <a:off x="822960" y="2834640"/>
            <a:ext cx="2240280" cy="914400"/>
          </a:xfrm>
          <a:prstGeom prst="rect">
            <a:avLst/>
          </a:prstGeom>
          <a:noFill/>
        </p:spPr>
        <p:txBody>
          <a:bodyPr wrap="square">
            <a:spAutoFit/>
          </a:bodyPr>
          <a:lstStyle/>
          <a:p>
            <a:pPr algn="l">
              <a:spcAft>
                <a:spcPts val="600"/>
              </a:spcAft>
            </a:pPr>
            <a:r>
              <a:rPr sz="1050" b="0" i="0">
                <a:solidFill>
                  <a:srgbClr val="C8CCD2"/>
                </a:solidFill>
                <a:latin typeface="Calibri"/>
              </a:rPr>
              <a:t>Alcance mensual del contenido propio</a:t>
            </a:r>
          </a:p>
        </p:txBody>
      </p:sp>
      <p:sp>
        <p:nvSpPr>
          <p:cNvPr id="7" name="Rectangle 6"/>
          <p:cNvSpPr/>
          <p:nvPr/>
        </p:nvSpPr>
        <p:spPr>
          <a:xfrm>
            <a:off x="3383280" y="1920240"/>
            <a:ext cx="2606040" cy="1920240"/>
          </a:xfrm>
          <a:prstGeom prst="rect">
            <a:avLst/>
          </a:prstGeom>
          <a:solidFill>
            <a:srgbClr val="10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2148840"/>
            <a:ext cx="2240280" cy="640080"/>
          </a:xfrm>
          <a:prstGeom prst="rect">
            <a:avLst/>
          </a:prstGeom>
          <a:noFill/>
        </p:spPr>
        <p:txBody>
          <a:bodyPr wrap="square">
            <a:spAutoFit/>
          </a:bodyPr>
          <a:lstStyle/>
          <a:p>
            <a:pPr algn="l">
              <a:spcAft>
                <a:spcPts val="600"/>
              </a:spcAft>
            </a:pPr>
            <a:r>
              <a:rPr sz="1500" b="1" i="0">
                <a:solidFill>
                  <a:srgbClr val="D7F1EC"/>
                </a:solidFill>
                <a:latin typeface="Calibri"/>
              </a:rPr>
              <a:t>Visitas al perfil</a:t>
            </a:r>
          </a:p>
        </p:txBody>
      </p:sp>
      <p:sp>
        <p:nvSpPr>
          <p:cNvPr id="9" name="TextBox 8"/>
          <p:cNvSpPr txBox="1"/>
          <p:nvPr/>
        </p:nvSpPr>
        <p:spPr>
          <a:xfrm>
            <a:off x="3566160" y="2834640"/>
            <a:ext cx="2240280" cy="914400"/>
          </a:xfrm>
          <a:prstGeom prst="rect">
            <a:avLst/>
          </a:prstGeom>
          <a:noFill/>
        </p:spPr>
        <p:txBody>
          <a:bodyPr wrap="square">
            <a:spAutoFit/>
          </a:bodyPr>
          <a:lstStyle/>
          <a:p>
            <a:pPr algn="l">
              <a:spcAft>
                <a:spcPts val="600"/>
              </a:spcAft>
            </a:pPr>
            <a:r>
              <a:rPr sz="1050" b="0" i="0">
                <a:solidFill>
                  <a:srgbClr val="C8CCD2"/>
                </a:solidFill>
                <a:latin typeface="Calibri"/>
              </a:rPr>
              <a:t>Quién llega a ver quién es Luis</a:t>
            </a:r>
          </a:p>
        </p:txBody>
      </p:sp>
      <p:sp>
        <p:nvSpPr>
          <p:cNvPr id="10" name="Rectangle 9"/>
          <p:cNvSpPr/>
          <p:nvPr/>
        </p:nvSpPr>
        <p:spPr>
          <a:xfrm>
            <a:off x="6126480" y="1920240"/>
            <a:ext cx="2606040" cy="1920240"/>
          </a:xfrm>
          <a:prstGeom prst="rect">
            <a:avLst/>
          </a:prstGeom>
          <a:solidFill>
            <a:srgbClr val="10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148840"/>
            <a:ext cx="2240280" cy="640080"/>
          </a:xfrm>
          <a:prstGeom prst="rect">
            <a:avLst/>
          </a:prstGeom>
          <a:noFill/>
        </p:spPr>
        <p:txBody>
          <a:bodyPr wrap="square">
            <a:spAutoFit/>
          </a:bodyPr>
          <a:lstStyle/>
          <a:p>
            <a:pPr algn="l">
              <a:spcAft>
                <a:spcPts val="600"/>
              </a:spcAft>
            </a:pPr>
            <a:r>
              <a:rPr sz="1500" b="1" i="0">
                <a:solidFill>
                  <a:srgbClr val="D7F1EC"/>
                </a:solidFill>
                <a:latin typeface="Calibri"/>
              </a:rPr>
              <a:t>Mensajes entrantes</a:t>
            </a:r>
          </a:p>
        </p:txBody>
      </p:sp>
      <p:sp>
        <p:nvSpPr>
          <p:cNvPr id="12" name="TextBox 11"/>
          <p:cNvSpPr txBox="1"/>
          <p:nvPr/>
        </p:nvSpPr>
        <p:spPr>
          <a:xfrm>
            <a:off x="6309360" y="2834640"/>
            <a:ext cx="2240280" cy="914400"/>
          </a:xfrm>
          <a:prstGeom prst="rect">
            <a:avLst/>
          </a:prstGeom>
          <a:noFill/>
        </p:spPr>
        <p:txBody>
          <a:bodyPr wrap="square">
            <a:spAutoFit/>
          </a:bodyPr>
          <a:lstStyle/>
          <a:p>
            <a:pPr algn="l">
              <a:spcAft>
                <a:spcPts val="600"/>
              </a:spcAft>
            </a:pPr>
            <a:r>
              <a:rPr sz="1050" b="0" i="0">
                <a:solidFill>
                  <a:srgbClr val="C8CCD2"/>
                </a:solidFill>
                <a:latin typeface="Calibri"/>
              </a:rPr>
              <a:t>Conversaciones que arrancan otros</a:t>
            </a:r>
          </a:p>
        </p:txBody>
      </p:sp>
      <p:sp>
        <p:nvSpPr>
          <p:cNvPr id="13" name="Rectangle 12"/>
          <p:cNvSpPr/>
          <p:nvPr/>
        </p:nvSpPr>
        <p:spPr>
          <a:xfrm>
            <a:off x="8869680" y="1920240"/>
            <a:ext cx="2606040" cy="1920240"/>
          </a:xfrm>
          <a:prstGeom prst="rect">
            <a:avLst/>
          </a:prstGeom>
          <a:solidFill>
            <a:srgbClr val="10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2148840"/>
            <a:ext cx="2240280" cy="640080"/>
          </a:xfrm>
          <a:prstGeom prst="rect">
            <a:avLst/>
          </a:prstGeom>
          <a:noFill/>
        </p:spPr>
        <p:txBody>
          <a:bodyPr wrap="square">
            <a:spAutoFit/>
          </a:bodyPr>
          <a:lstStyle/>
          <a:p>
            <a:pPr algn="l">
              <a:spcAft>
                <a:spcPts val="600"/>
              </a:spcAft>
            </a:pPr>
            <a:r>
              <a:rPr sz="1500" b="1" i="0">
                <a:solidFill>
                  <a:srgbClr val="D7F1EC"/>
                </a:solidFill>
                <a:latin typeface="Calibri"/>
              </a:rPr>
              <a:t>Apariciones en búsqueda</a:t>
            </a:r>
          </a:p>
        </p:txBody>
      </p:sp>
      <p:sp>
        <p:nvSpPr>
          <p:cNvPr id="15" name="TextBox 14"/>
          <p:cNvSpPr txBox="1"/>
          <p:nvPr/>
        </p:nvSpPr>
        <p:spPr>
          <a:xfrm>
            <a:off x="9052560" y="2834640"/>
            <a:ext cx="2240280" cy="914400"/>
          </a:xfrm>
          <a:prstGeom prst="rect">
            <a:avLst/>
          </a:prstGeom>
          <a:noFill/>
        </p:spPr>
        <p:txBody>
          <a:bodyPr wrap="square">
            <a:spAutoFit/>
          </a:bodyPr>
          <a:lstStyle/>
          <a:p>
            <a:pPr algn="l">
              <a:spcAft>
                <a:spcPts val="600"/>
              </a:spcAft>
            </a:pPr>
            <a:r>
              <a:rPr sz="1050" b="0" i="0">
                <a:solidFill>
                  <a:srgbClr val="C8CCD2"/>
                </a:solidFill>
                <a:latin typeface="Calibri"/>
              </a:rPr>
              <a:t>Encontrabilidad como experto</a:t>
            </a:r>
          </a:p>
        </p:txBody>
      </p:sp>
      <p:sp>
        <p:nvSpPr>
          <p:cNvPr id="16" name="TextBox 15"/>
          <p:cNvSpPr txBox="1"/>
          <p:nvPr/>
        </p:nvSpPr>
        <p:spPr>
          <a:xfrm>
            <a:off x="640080" y="4114800"/>
            <a:ext cx="10058400" cy="457200"/>
          </a:xfrm>
          <a:prstGeom prst="rect">
            <a:avLst/>
          </a:prstGeom>
          <a:noFill/>
        </p:spPr>
        <p:txBody>
          <a:bodyPr wrap="square">
            <a:spAutoFit/>
          </a:bodyPr>
          <a:lstStyle/>
          <a:p>
            <a:pPr algn="l">
              <a:spcAft>
                <a:spcPts val="600"/>
              </a:spcAft>
            </a:pPr>
            <a:r>
              <a:rPr sz="1050" b="0" i="1">
                <a:solidFill>
                  <a:srgbClr val="9AA3AD"/>
                </a:solidFill>
                <a:latin typeface="Calibri"/>
              </a:rPr>
              <a:t>Estructura de seguimiento ilustrativa. Los valores reales se establecen recién con datos del perfil de Luis.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8229600" cy="365760"/>
          </a:xfrm>
          <a:prstGeom prst="rect">
            <a:avLst/>
          </a:prstGeom>
          <a:noFill/>
        </p:spPr>
        <p:txBody>
          <a:bodyPr wrap="square">
            <a:spAutoFit/>
          </a:bodyPr>
          <a:lstStyle/>
          <a:p>
            <a:pPr algn="l">
              <a:spcAft>
                <a:spcPts val="600"/>
              </a:spcAft>
            </a:pPr>
            <a:r>
              <a:rPr sz="1200" b="1" i="0" spc="120">
                <a:solidFill>
                  <a:srgbClr val="0D9488"/>
                </a:solidFill>
                <a:latin typeface="Calibri"/>
              </a:rPr>
              <a:t>ROADMAP A 12 MESES</a:t>
            </a:r>
          </a:p>
        </p:txBody>
      </p:sp>
      <p:sp>
        <p:nvSpPr>
          <p:cNvPr id="3" name="TextBox 2"/>
          <p:cNvSpPr txBox="1"/>
          <p:nvPr/>
        </p:nvSpPr>
        <p:spPr>
          <a:xfrm>
            <a:off x="640080" y="914400"/>
            <a:ext cx="10789920" cy="914400"/>
          </a:xfrm>
          <a:prstGeom prst="rect">
            <a:avLst/>
          </a:prstGeom>
          <a:noFill/>
        </p:spPr>
        <p:txBody>
          <a:bodyPr wrap="square">
            <a:spAutoFit/>
          </a:bodyPr>
          <a:lstStyle/>
          <a:p>
            <a:pPr algn="l">
              <a:spcAft>
                <a:spcPts val="600"/>
              </a:spcAft>
            </a:pPr>
            <a:r>
              <a:rPr sz="2700" b="1" i="0">
                <a:solidFill>
                  <a:srgbClr val="1C2430"/>
                </a:solidFill>
                <a:latin typeface="Georgia"/>
              </a:rPr>
              <a:t>De responsable comercial a referencia regional</a:t>
            </a:r>
          </a:p>
        </p:txBody>
      </p:sp>
      <p:sp>
        <p:nvSpPr>
          <p:cNvPr id="4" name="Rectangle 3"/>
          <p:cNvSpPr/>
          <p:nvPr/>
        </p:nvSpPr>
        <p:spPr>
          <a:xfrm>
            <a:off x="640080" y="2011680"/>
            <a:ext cx="3520440" cy="1828800"/>
          </a:xfrm>
          <a:prstGeom prst="rect">
            <a:avLst/>
          </a:prstGeom>
          <a:solidFill>
            <a:srgbClr val="DBE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94560"/>
            <a:ext cx="3063240" cy="411480"/>
          </a:xfrm>
          <a:prstGeom prst="rect">
            <a:avLst/>
          </a:prstGeom>
          <a:noFill/>
        </p:spPr>
        <p:txBody>
          <a:bodyPr wrap="square">
            <a:spAutoFit/>
          </a:bodyPr>
          <a:lstStyle/>
          <a:p>
            <a:pPr algn="l">
              <a:spcAft>
                <a:spcPts val="600"/>
              </a:spcAft>
            </a:pPr>
            <a:r>
              <a:rPr sz="1400" b="1" i="0">
                <a:solidFill>
                  <a:srgbClr val="1C2430"/>
                </a:solidFill>
                <a:latin typeface="Calibri"/>
              </a:rPr>
              <a:t>0-3 meses</a:t>
            </a:r>
          </a:p>
        </p:txBody>
      </p:sp>
      <p:sp>
        <p:nvSpPr>
          <p:cNvPr id="6" name="TextBox 5"/>
          <p:cNvSpPr txBox="1"/>
          <p:nvPr/>
        </p:nvSpPr>
        <p:spPr>
          <a:xfrm>
            <a:off x="868680" y="2651760"/>
            <a:ext cx="3063240" cy="1097280"/>
          </a:xfrm>
          <a:prstGeom prst="rect">
            <a:avLst/>
          </a:prstGeom>
          <a:noFill/>
        </p:spPr>
        <p:txBody>
          <a:bodyPr wrap="square">
            <a:spAutoFit/>
          </a:bodyPr>
          <a:lstStyle/>
          <a:p>
            <a:pPr algn="l">
              <a:spcAft>
                <a:spcPts val="600"/>
              </a:spcAft>
            </a:pPr>
            <a:r>
              <a:rPr sz="1150" b="0" i="0">
                <a:solidFill>
                  <a:srgbClr val="54606E"/>
                </a:solidFill>
                <a:latin typeface="Calibri"/>
              </a:rPr>
              <a:t>Voz propia activa, perfil optimizado, ritmo mensual.</a:t>
            </a:r>
          </a:p>
        </p:txBody>
      </p:sp>
      <p:sp>
        <p:nvSpPr>
          <p:cNvPr id="7" name="Rectangle 6"/>
          <p:cNvSpPr/>
          <p:nvPr/>
        </p:nvSpPr>
        <p:spPr>
          <a:xfrm>
            <a:off x="4343400" y="2011680"/>
            <a:ext cx="3520440" cy="1828800"/>
          </a:xfrm>
          <a:prstGeom prst="rect">
            <a:avLst/>
          </a:prstGeom>
          <a:solidFill>
            <a:srgbClr val="FD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194560"/>
            <a:ext cx="3063240" cy="411480"/>
          </a:xfrm>
          <a:prstGeom prst="rect">
            <a:avLst/>
          </a:prstGeom>
          <a:noFill/>
        </p:spPr>
        <p:txBody>
          <a:bodyPr wrap="square">
            <a:spAutoFit/>
          </a:bodyPr>
          <a:lstStyle/>
          <a:p>
            <a:pPr algn="l">
              <a:spcAft>
                <a:spcPts val="600"/>
              </a:spcAft>
            </a:pPr>
            <a:r>
              <a:rPr sz="1400" b="1" i="0">
                <a:solidFill>
                  <a:srgbClr val="1C2430"/>
                </a:solidFill>
                <a:latin typeface="Calibri"/>
              </a:rPr>
              <a:t>4-8 meses</a:t>
            </a:r>
          </a:p>
        </p:txBody>
      </p:sp>
      <p:sp>
        <p:nvSpPr>
          <p:cNvPr id="9" name="TextBox 8"/>
          <p:cNvSpPr txBox="1"/>
          <p:nvPr/>
        </p:nvSpPr>
        <p:spPr>
          <a:xfrm>
            <a:off x="4572000" y="2651760"/>
            <a:ext cx="3063240" cy="1097280"/>
          </a:xfrm>
          <a:prstGeom prst="rect">
            <a:avLst/>
          </a:prstGeom>
          <a:noFill/>
        </p:spPr>
        <p:txBody>
          <a:bodyPr wrap="square">
            <a:spAutoFit/>
          </a:bodyPr>
          <a:lstStyle/>
          <a:p>
            <a:pPr algn="l">
              <a:spcAft>
                <a:spcPts val="600"/>
              </a:spcAft>
            </a:pPr>
            <a:r>
              <a:rPr sz="1150" b="0" i="0">
                <a:solidFill>
                  <a:srgbClr val="54606E"/>
                </a:solidFill>
                <a:latin typeface="Calibri"/>
              </a:rPr>
              <a:t>Cobertura de eventos en primera persona, contenido que circula entre compradores.</a:t>
            </a:r>
          </a:p>
        </p:txBody>
      </p:sp>
      <p:sp>
        <p:nvSpPr>
          <p:cNvPr id="10" name="Rectangle 9"/>
          <p:cNvSpPr/>
          <p:nvPr/>
        </p:nvSpPr>
        <p:spPr>
          <a:xfrm>
            <a:off x="8046720" y="2011680"/>
            <a:ext cx="3520440" cy="1828800"/>
          </a:xfrm>
          <a:prstGeom prst="rect">
            <a:avLst/>
          </a:prstGeom>
          <a:solidFill>
            <a:srgbClr val="D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2194560"/>
            <a:ext cx="3063240" cy="411480"/>
          </a:xfrm>
          <a:prstGeom prst="rect">
            <a:avLst/>
          </a:prstGeom>
          <a:noFill/>
        </p:spPr>
        <p:txBody>
          <a:bodyPr wrap="square">
            <a:spAutoFit/>
          </a:bodyPr>
          <a:lstStyle/>
          <a:p>
            <a:pPr algn="l">
              <a:spcAft>
                <a:spcPts val="600"/>
              </a:spcAft>
            </a:pPr>
            <a:r>
              <a:rPr sz="1400" b="1" i="0">
                <a:solidFill>
                  <a:srgbClr val="1C2430"/>
                </a:solidFill>
                <a:latin typeface="Calibri"/>
              </a:rPr>
              <a:t>9-12 meses</a:t>
            </a:r>
          </a:p>
        </p:txBody>
      </p:sp>
      <p:sp>
        <p:nvSpPr>
          <p:cNvPr id="12" name="TextBox 11"/>
          <p:cNvSpPr txBox="1"/>
          <p:nvPr/>
        </p:nvSpPr>
        <p:spPr>
          <a:xfrm>
            <a:off x="8275320" y="2651760"/>
            <a:ext cx="3063240" cy="1097280"/>
          </a:xfrm>
          <a:prstGeom prst="rect">
            <a:avLst/>
          </a:prstGeom>
          <a:noFill/>
        </p:spPr>
        <p:txBody>
          <a:bodyPr wrap="square">
            <a:spAutoFit/>
          </a:bodyPr>
          <a:lstStyle/>
          <a:p>
            <a:pPr algn="l">
              <a:spcAft>
                <a:spcPts val="600"/>
              </a:spcAft>
            </a:pPr>
            <a:r>
              <a:rPr sz="1150" b="0" i="0">
                <a:solidFill>
                  <a:srgbClr val="54606E"/>
                </a:solidFill>
                <a:latin typeface="Calibri"/>
              </a:rPr>
              <a:t>Invitaciones a paneles y conversaciones del sector como referencia de CSI en LATAM.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31A"/>
        </a:solidFill>
        <a:effectLst/>
      </p:bgPr>
    </p:bg>
    <p:spTree>
      <p:nvGrpSpPr>
        <p:cNvPr id="1" name=""/>
        <p:cNvGrpSpPr/>
        <p:nvPr/>
      </p:nvGrpSpPr>
      <p:grpSpPr/>
      <p:sp>
        <p:nvSpPr>
          <p:cNvPr id="2" name="TextBox 1"/>
          <p:cNvSpPr txBox="1"/>
          <p:nvPr/>
        </p:nvSpPr>
        <p:spPr>
          <a:xfrm>
            <a:off x="640080" y="502920"/>
            <a:ext cx="7315200" cy="365760"/>
          </a:xfrm>
          <a:prstGeom prst="rect">
            <a:avLst/>
          </a:prstGeom>
          <a:noFill/>
        </p:spPr>
        <p:txBody>
          <a:bodyPr wrap="square">
            <a:spAutoFit/>
          </a:bodyPr>
          <a:lstStyle/>
          <a:p>
            <a:pPr algn="l">
              <a:spcAft>
                <a:spcPts val="600"/>
              </a:spcAft>
            </a:pPr>
            <a:r>
              <a:rPr sz="1200" b="1" i="0" spc="120">
                <a:solidFill>
                  <a:srgbClr val="D7F1EC"/>
                </a:solidFill>
                <a:latin typeface="Calibri"/>
              </a:rPr>
              <a:t>PRÓXIMO PASO</a:t>
            </a:r>
          </a:p>
        </p:txBody>
      </p:sp>
      <p:sp>
        <p:nvSpPr>
          <p:cNvPr id="3" name="TextBox 2"/>
          <p:cNvSpPr txBox="1"/>
          <p:nvPr/>
        </p:nvSpPr>
        <p:spPr>
          <a:xfrm>
            <a:off x="640080" y="1828800"/>
            <a:ext cx="10058400" cy="914400"/>
          </a:xfrm>
          <a:prstGeom prst="rect">
            <a:avLst/>
          </a:prstGeom>
          <a:noFill/>
        </p:spPr>
        <p:txBody>
          <a:bodyPr wrap="square">
            <a:spAutoFit/>
          </a:bodyPr>
          <a:lstStyle/>
          <a:p>
            <a:pPr algn="l">
              <a:spcAft>
                <a:spcPts val="600"/>
              </a:spcAft>
            </a:pPr>
            <a:r>
              <a:rPr sz="2700" b="1" i="0">
                <a:solidFill>
                  <a:srgbClr val="FFFFFF"/>
                </a:solidFill>
                <a:latin typeface="Georgia"/>
              </a:rPr>
              <a:t>Esto es exactamente cómo trabajaríamos</a:t>
            </a:r>
          </a:p>
        </p:txBody>
      </p:sp>
      <p:sp>
        <p:nvSpPr>
          <p:cNvPr id="4" name="TextBox 3"/>
          <p:cNvSpPr txBox="1"/>
          <p:nvPr/>
        </p:nvSpPr>
        <p:spPr>
          <a:xfrm>
            <a:off x="640080" y="2743200"/>
            <a:ext cx="8686800" cy="822960"/>
          </a:xfrm>
          <a:prstGeom prst="rect">
            <a:avLst/>
          </a:prstGeom>
          <a:noFill/>
        </p:spPr>
        <p:txBody>
          <a:bodyPr wrap="square">
            <a:spAutoFit/>
          </a:bodyPr>
          <a:lstStyle/>
          <a:p>
            <a:pPr algn="l">
              <a:spcAft>
                <a:spcPts val="600"/>
              </a:spcAft>
            </a:pPr>
            <a:r>
              <a:rPr sz="1400" b="0" i="0">
                <a:solidFill>
                  <a:srgbClr val="CCCCCC"/>
                </a:solidFill>
                <a:latin typeface="Calibri"/>
              </a:rPr>
              <a:t>Nada de esto es teórico. Es el mismo sistema que usamos hoy con perfiles ejecutivos de TGS y Destiny Group.</a:t>
            </a:r>
          </a:p>
        </p:txBody>
      </p:sp>
      <p:sp>
        <p:nvSpPr>
          <p:cNvPr id="5" name="TextBox 4"/>
          <p:cNvSpPr txBox="1"/>
          <p:nvPr/>
        </p:nvSpPr>
        <p:spPr>
          <a:xfrm>
            <a:off x="640080" y="3657600"/>
            <a:ext cx="9144000" cy="640080"/>
          </a:xfrm>
          <a:prstGeom prst="rect">
            <a:avLst/>
          </a:prstGeom>
          <a:noFill/>
        </p:spPr>
        <p:txBody>
          <a:bodyPr wrap="square">
            <a:spAutoFit/>
          </a:bodyPr>
          <a:lstStyle/>
          <a:p>
            <a:pPr algn="l">
              <a:spcAft>
                <a:spcPts val="600"/>
              </a:spcAft>
            </a:pPr>
            <a:r>
              <a:rPr sz="1800" b="1" i="0">
                <a:solidFill>
                  <a:srgbClr val="D7F1EC"/>
                </a:solidFill>
                <a:latin typeface="Calibri"/>
              </a:rPr>
              <a:t>¿Coordinamos 45 minutos la semana que viene para arrancar la primera entrevista?</a:t>
            </a:r>
          </a:p>
        </p:txBody>
      </p:sp>
      <p:sp>
        <p:nvSpPr>
          <p:cNvPr id="6" name="TextBox 5"/>
          <p:cNvSpPr txBox="1"/>
          <p:nvPr/>
        </p:nvSpPr>
        <p:spPr>
          <a:xfrm>
            <a:off x="640080" y="6126480"/>
            <a:ext cx="7315200" cy="365760"/>
          </a:xfrm>
          <a:prstGeom prst="rect">
            <a:avLst/>
          </a:prstGeom>
          <a:noFill/>
        </p:spPr>
        <p:txBody>
          <a:bodyPr wrap="square">
            <a:spAutoFit/>
          </a:bodyPr>
          <a:lstStyle/>
          <a:p>
            <a:pPr algn="l">
              <a:spcAft>
                <a:spcPts val="600"/>
              </a:spcAft>
            </a:pPr>
            <a:r>
              <a:rPr sz="1000" b="0" i="0">
                <a:solidFill>
                  <a:srgbClr val="777777"/>
                </a:solidFill>
                <a:latin typeface="Calibri"/>
              </a:rPr>
              <a:t>florencia@hintmedia.net · +54 11 2386 8788 · hintmedia.net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