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35A"/>
                </a:solidFill>
                <a:latin typeface="Calibri"/>
              </a:rPr>
              <a:t>HINT MEDIA · PROPUESTA COMERCIAL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251460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26974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0" i="0">
                <a:solidFill>
                  <a:srgbClr val="F3EFE4"/>
                </a:solidFill>
                <a:latin typeface="Georgia"/>
              </a:rPr>
              <a:t>CGC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B8B3A6"/>
                </a:solidFill>
                <a:latin typeface="Georgia"/>
              </a:rPr>
              <a:t>Cómo activamos la narrativa pública de una compañía con escala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HINT MEDIA  ·  PROPUESTA COMERCIAL CGC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35A"/>
                </a:solidFill>
                <a:latin typeface="Calibri"/>
              </a:rPr>
              <a:t>POR QUÉ IMPORTA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875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0" i="0">
                <a:solidFill>
                  <a:srgbClr val="F3EFE4"/>
                </a:solidFill>
                <a:latin typeface="Georgia"/>
              </a:rPr>
              <a:t>CGC está mejorando rápido. Casi nadie afuera lo sabe.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0">
                <a:solidFill>
                  <a:srgbClr val="C9A35A"/>
                </a:solidFill>
                <a:latin typeface="Georgia"/>
              </a:rPr>
              <a:t>A → AA-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862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B8B3A6"/>
                </a:solidFill>
                <a:latin typeface="Calibri"/>
              </a:rPr>
              <a:t>Suba de rating en
febrero 2026 (FIX SCR)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32004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0">
                <a:solidFill>
                  <a:srgbClr val="C9A35A"/>
                </a:solidFill>
                <a:latin typeface="Georgia"/>
              </a:rPr>
              <a:t>USD 150M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38862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B8B3A6"/>
                </a:solidFill>
                <a:latin typeface="Calibri"/>
              </a:rPr>
              <a:t>Aporte de capital del
accionista mayoritario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2004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0">
                <a:solidFill>
                  <a:srgbClr val="C9A35A"/>
                </a:solidFill>
                <a:latin typeface="Georgia"/>
              </a:rPr>
              <a:t>USD 275M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8862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B8B3A6"/>
                </a:solidFill>
                <a:latin typeface="Calibri"/>
              </a:rPr>
              <a:t>EBITDA en 9 meses 2025,
margen del 39%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B8B3A6"/>
                </a:solidFill>
                <a:latin typeface="Calibri"/>
              </a:rPr>
              <a:t>Esa mejora hoy solo la ven analistas de calificadoras (FIX SCR, Moody's). Inversores, prensa especializada y el mercado de talento del sector no la ven en ningún canal propio de la compañía. Es una historia de fortaleza que nadie está contando.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HINT MEDIA  ·  PROPUESTA COMERCIAL CGC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35A"/>
                </a:solidFill>
                <a:latin typeface="Calibri"/>
              </a:rPr>
              <a:t>DIAGNÓSTICO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F3EFE4"/>
                </a:solidFill>
                <a:latin typeface="Georgia"/>
              </a:rPr>
              <a:t>La base ya está. El contenido no la usa.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C9A35A"/>
                </a:solidFill>
                <a:latin typeface="Georgia"/>
              </a:rPr>
              <a:t>58.031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B8B3A6"/>
                </a:solidFill>
                <a:latin typeface="Calibri"/>
              </a:rPr>
              <a:t>Seguidores en LinkedIn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3200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C9A35A"/>
                </a:solidFill>
                <a:latin typeface="Georgia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40233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B8B3A6"/>
                </a:solidFill>
                <a:latin typeface="Calibri"/>
              </a:rPr>
              <a:t>Posts de negocio o vocería
en el último semestre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3200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C9A35A"/>
                </a:solidFill>
                <a:latin typeface="Georgia"/>
              </a:rPr>
              <a:t>106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40233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B8B3A6"/>
                </a:solidFill>
                <a:latin typeface="Calibri"/>
              </a:rPr>
              <a:t>Años de trayectoria
sin sala de prensa propia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HINT MEDIA  ·  PROPUESTA COMERCIAL CGC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35A"/>
                </a:solidFill>
                <a:latin typeface="Calibri"/>
              </a:rPr>
              <a:t>CÓMO SE VERÍAN LOS POSTS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0">
                <a:solidFill>
                  <a:srgbClr val="F3EFE4"/>
                </a:solidFill>
                <a:latin typeface="Georgia"/>
              </a:rPr>
              <a:t>De la efeméride al posicionamiento.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5029200" cy="4023360"/>
          </a:xfrm>
          <a:prstGeom prst="roundRect">
            <a:avLst>
              <a:gd name="adj" fmla="val 4000"/>
            </a:avLst>
          </a:prstGeom>
          <a:solidFill>
            <a:srgbClr val="1C1C1C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2194560"/>
            <a:ext cx="1554480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8A4A4A"/>
                </a:solidFill>
                <a:latin typeface="Calibri"/>
              </a:rPr>
              <a:t>ASÍ ES HOY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2578608"/>
            <a:ext cx="411480" cy="411480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2551176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3EFE4"/>
                </a:solidFill>
                <a:latin typeface="Calibri"/>
              </a:rPr>
              <a:t>CGC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825496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8B3A6"/>
                </a:solidFill>
                <a:latin typeface="Calibri"/>
              </a:rPr>
              <a:t>CGC · Energía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00400"/>
            <a:ext cx="4480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F3EFE4"/>
                </a:solidFill>
                <a:latin typeface="Calibri"/>
              </a:rPr>
              <a:t>¡Feliz Día del Geólogo! 🎉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F3EFE4"/>
                </a:solidFill>
                <a:latin typeface="Calibri"/>
              </a:rPr>
              <a:t/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F3EFE4"/>
                </a:solidFill>
                <a:latin typeface="Calibri"/>
              </a:rPr>
              <a:t>Hoy celebramos a todos los profesionales que con su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F3EFE4"/>
                </a:solidFill>
                <a:latin typeface="Calibri"/>
              </a:rPr>
              <a:t>conocimiento y dedicación hacen posible nuestra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F3EFE4"/>
                </a:solidFill>
                <a:latin typeface="Calibri"/>
              </a:rPr>
              <a:t>actividad. ¡Gracias por su compromiso!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F3EFE4"/>
                </a:solidFill>
                <a:latin typeface="Calibri"/>
              </a:rPr>
              <a:t/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F3EFE4"/>
                </a:solidFill>
                <a:latin typeface="Calibri"/>
              </a:rPr>
              <a:t>#DiaDelGeologo #CGC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5778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B8B3A6"/>
                </a:solidFill>
                <a:latin typeface="Georgia"/>
              </a:rPr>
              <a:t>👍 34    💬 2 comentarios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011680"/>
            <a:ext cx="5029200" cy="4023360"/>
          </a:xfrm>
          <a:prstGeom prst="roundRect">
            <a:avLst>
              <a:gd name="adj" fmla="val 4000"/>
            </a:avLst>
          </a:prstGeom>
          <a:solidFill>
            <a:srgbClr val="1C1C1C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2194560"/>
            <a:ext cx="1554480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9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C9A35A"/>
                </a:solidFill>
                <a:latin typeface="Calibri"/>
              </a:rPr>
              <a:t>PROPUESTA HINT MEDIA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0" y="2578608"/>
            <a:ext cx="411480" cy="411480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2551176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3EFE4"/>
                </a:solidFill>
                <a:latin typeface="Calibri"/>
              </a:rPr>
              <a:t>Juan Pérez, Gerente de Exploración · CGC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825496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8B3A6"/>
                </a:solidFill>
                <a:latin typeface="Calibri"/>
              </a:rPr>
              <a:t>CGC · Energía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200400"/>
            <a:ext cx="4480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F3EFE4"/>
                </a:solidFill>
                <a:latin typeface="Calibri"/>
              </a:rPr>
              <a:t>El mercado de gas regional está cambiando más rápido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F3EFE4"/>
                </a:solidFill>
                <a:latin typeface="Calibri"/>
              </a:rPr>
              <a:t>de lo que se discute públicamente.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F3EFE4"/>
                </a:solidFill>
                <a:latin typeface="Calibri"/>
              </a:rPr>
              <a:t/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F3EFE4"/>
                </a:solidFill>
                <a:latin typeface="Calibri"/>
              </a:rPr>
              <a:t>En los últimos 18 meses vimos 3 movimientos que van a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F3EFE4"/>
                </a:solidFill>
                <a:latin typeface="Calibri"/>
              </a:rPr>
              <a:t>redefinir el midstream argentino. Mi lectura técnica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F3EFE4"/>
                </a:solidFill>
                <a:latin typeface="Calibri"/>
              </a:rPr>
              <a:t>de lo que se viene, y por qué CGC está posicionada para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F3EFE4"/>
                </a:solidFill>
                <a:latin typeface="Calibri"/>
              </a:rPr>
              <a:t>liderarlo →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F3EFE4"/>
                </a:solidFill>
                <a:latin typeface="Calibri"/>
              </a:rPr>
              <a:t/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F3EFE4"/>
                </a:solidFill>
                <a:latin typeface="Calibri"/>
              </a:rPr>
              <a:t>#MercadoDeGas #Energía #Argentina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5778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B8B3A6"/>
                </a:solidFill>
                <a:latin typeface="Georgia"/>
              </a:rPr>
              <a:t>👍 187    💬 24 comentarios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HINT MEDIA  ·  PROPUESTA COMERCIAL CGC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35A"/>
                </a:solidFill>
                <a:latin typeface="Calibri"/>
              </a:rPr>
              <a:t>POR QUÉ FUNCIONA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F3EFE4"/>
                </a:solidFill>
                <a:latin typeface="Georgia"/>
              </a:rPr>
              <a:t>No se trata de publicar más. Se trata de que alguien hable.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697479"/>
            <a:ext cx="109728" cy="109728"/>
          </a:xfrm>
          <a:prstGeom prst="ellipse">
            <a:avLst/>
          </a:prstGeom>
          <a:solidFill>
            <a:srgbClr val="C9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560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3EFE4"/>
                </a:solidFill>
                <a:latin typeface="Georgia"/>
              </a:rPr>
              <a:t>Persona, no marca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926079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B8B3A6"/>
                </a:solidFill>
                <a:latin typeface="Calibri"/>
              </a:rPr>
              <a:t>Los posts de directivos generan en promedio varias veces más alcance orgánico que los de la página corporativa.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657600"/>
            <a:ext cx="109728" cy="109728"/>
          </a:xfrm>
          <a:prstGeom prst="ellipse">
            <a:avLst/>
          </a:prstGeom>
          <a:solidFill>
            <a:srgbClr val="C9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520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3EFE4"/>
                </a:solidFill>
                <a:latin typeface="Georgia"/>
              </a:rPr>
              <a:t>Sustancia, no protocolo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886200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B8B3A6"/>
                </a:solidFill>
                <a:latin typeface="Calibri"/>
              </a:rPr>
              <a:t>El contenido técnico y sectorial posiciona autoridad real frente a inversores, prensa y talento.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617720"/>
            <a:ext cx="109728" cy="109728"/>
          </a:xfrm>
          <a:prstGeom prst="ellipse">
            <a:avLst/>
          </a:prstGeom>
          <a:solidFill>
            <a:srgbClr val="C9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3EFE4"/>
                </a:solidFill>
                <a:latin typeface="Georgia"/>
              </a:rPr>
              <a:t>Consistencia, no campaña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846320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B8B3A6"/>
                </a:solidFill>
                <a:latin typeface="Calibri"/>
              </a:rPr>
              <a:t>Una cadencia sostenida de vocería construye confianza antes de que la necesites, no durante la crisis.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HINT MEDIA  ·  PROPUESTA COMERCIAL CGC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35A"/>
                </a:solidFill>
                <a:latin typeface="Calibri"/>
              </a:rPr>
              <a:t>MÁS ALLÁ DE LA VISIBILIDAD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0">
                <a:solidFill>
                  <a:srgbClr val="F3EFE4"/>
                </a:solidFill>
                <a:latin typeface="Georgia"/>
              </a:rPr>
              <a:t>Visibilidad es el efecto. Esto es lo que realmente compran.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B8B3A6"/>
                </a:solidFill>
                <a:latin typeface="Calibri"/>
              </a:rPr>
              <a:t>Una agencia que solo promete 'más alcance' compite por presupuesto de marketing. Lo que CGC necesita hoy toca finanzas, talento y manejo de riesgo reputacional al mismo tiempo. Por eso el valor real de este trabajo se mide en estas cuatro áreas: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HINT MEDIA  ·  PROPUESTA COMERCIAL CGC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35A"/>
                </a:solidFill>
                <a:latin typeface="Calibri"/>
              </a:rPr>
              <a:t>MÁS ALLÁ DE LA VISIBILIDAD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F3EFE4"/>
                </a:solidFill>
                <a:latin typeface="Georgia"/>
              </a:rPr>
              <a:t>Cuatro frentes, un mismo activo: confianza pública.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4028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23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C9A35A"/>
                </a:solidFill>
                <a:latin typeface="Georgia"/>
              </a:rPr>
              <a:t>Confianza financiera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F3EFE4"/>
                </a:solidFill>
                <a:latin typeface="Calibri"/>
              </a:rPr>
              <a:t>Contenido propio y consistente respalda el proceso de refinanciación: inversores y calificadoras no dependen solo de informes técnicos para evaluar a la compañía.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224028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423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C9A35A"/>
                </a:solidFill>
                <a:latin typeface="Georgia"/>
              </a:rPr>
              <a:t>Atracción de talento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8346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F3EFE4"/>
                </a:solidFill>
                <a:latin typeface="Calibri"/>
              </a:rPr>
              <a:t>En un sector competido por perfiles técnicos, una marca empleadora visible reduce el costo y tiempo de atraer ingenieros, geólogos y especialistas.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34340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526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C9A35A"/>
                </a:solidFill>
                <a:latin typeface="Georgia"/>
              </a:rPr>
              <a:t>Blindaje reputacional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9377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F3EFE4"/>
                </a:solidFill>
                <a:latin typeface="Calibri"/>
              </a:rPr>
              <a:t>Un canal propio activo, con audiencia y confianza ya construidas, es la diferencia entre responder una crisis desde cero o desde una base sólida.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434340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4526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C9A35A"/>
                </a:solidFill>
                <a:latin typeface="Georgia"/>
              </a:rPr>
              <a:t>Puertas institucionales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9377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F3EFE4"/>
                </a:solidFill>
                <a:latin typeface="Calibri"/>
              </a:rPr>
              <a:t>Una vocería ejecutiva visible abre invitaciones a paneles, mejores conversaciones con cámaras y reguladores, y mayor peso reputacional en procesos donde la imagen pública cuenta.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HINT MEDIA  ·  PROPUESTA COMERCIAL CGC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35A"/>
                </a:solidFill>
                <a:latin typeface="Calibri"/>
              </a:rPr>
              <a:t>CASOS DE ÉXITO · SECTOR ENERGÍA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0">
                <a:solidFill>
                  <a:srgbClr val="F3EFE4"/>
                </a:solidFill>
                <a:latin typeface="Georgia"/>
              </a:rPr>
              <a:t>No llegamos a aprender el sector. Ya trabajamos en él.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43200"/>
            <a:ext cx="3520440" cy="54864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9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E9D9AD"/>
                </a:solidFill>
                <a:latin typeface="Calibri"/>
              </a:rPr>
              <a:t>TGS — Transporte de gas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743200"/>
            <a:ext cx="3520440" cy="54864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9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E9D9AD"/>
                </a:solidFill>
                <a:latin typeface="Calibri"/>
              </a:rPr>
              <a:t>Transener — Transporte eléctrico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743200"/>
            <a:ext cx="3520440" cy="54864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9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E9D9AD"/>
                </a:solidFill>
                <a:latin typeface="Calibri"/>
              </a:rPr>
              <a:t>Tassaroli — Equipamiento petrolero y minero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B8B3A6"/>
                </a:solidFill>
                <a:latin typeface="Calibri"/>
              </a:rPr>
              <a:t>Tres compañías del mismo ecosistema energético/industrial argentino, con la misma necesidad de fondo que CGC: instituciones técnicamente sólidas, públicamente silenciosas. Las próximas dos diapositivas muestran cómo encontramos cada una y qué activamos.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HINT MEDIA  ·  PROPUESTA COMERCIAL CGC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35A"/>
                </a:solidFill>
                <a:latin typeface="Calibri"/>
              </a:rPr>
              <a:t>CASO DE ÉXITO · TGS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F3EFE4"/>
                </a:solidFill>
                <a:latin typeface="Georgia"/>
              </a:rPr>
              <a:t>Transportadora de Gas del Sur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5120640" cy="3749039"/>
          </a:xfrm>
          <a:prstGeom prst="roundRect">
            <a:avLst>
              <a:gd name="adj" fmla="val 4000"/>
            </a:avLst>
          </a:prstGeom>
          <a:solidFill>
            <a:srgbClr val="121212"/>
          </a:solidFill>
          <a:ln w="12700">
            <a:solidFill>
              <a:srgbClr val="8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31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8A8A"/>
                </a:solidFill>
                <a:latin typeface="Calibri"/>
              </a:rPr>
              <a:t>PUNTO DE PARTIDA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457200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50">
                <a:solidFill>
                  <a:srgbClr val="F3EFE4"/>
                </a:solidFill>
                <a:latin typeface="Calibri"/>
              </a:rPr>
              <a:t>•  Comunicación institucional estándar del sector regulado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50">
                <a:solidFill>
                  <a:srgbClr val="F3EFE4"/>
                </a:solidFill>
                <a:latin typeface="Calibri"/>
              </a:rPr>
              <a:t>•  Presencia en redes funcional, sin narrativa propia diferenciada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50">
                <a:solidFill>
                  <a:srgbClr val="F3EFE4"/>
                </a:solidFill>
                <a:latin typeface="Calibri"/>
              </a:rPr>
              <a:t>•  Sin vocería individual de directivos en canales digitales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50">
                <a:solidFill>
                  <a:srgbClr val="F3EFE4"/>
                </a:solidFill>
                <a:latin typeface="Calibri"/>
              </a:rPr>
              <a:t>•  Identidad visual no unificada entre canales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103120"/>
            <a:ext cx="5120640" cy="3749039"/>
          </a:xfrm>
          <a:prstGeom prst="roundRect">
            <a:avLst>
              <a:gd name="adj" fmla="val 4000"/>
            </a:avLst>
          </a:prstGeom>
          <a:solidFill>
            <a:srgbClr val="121212"/>
          </a:solidFill>
          <a:ln w="12700">
            <a:solidFill>
              <a:srgbClr val="C9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331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35A"/>
                </a:solidFill>
                <a:latin typeface="Calibri"/>
              </a:rPr>
              <a:t>LO QUE ACTIVAMOS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788920"/>
            <a:ext cx="457200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50">
                <a:solidFill>
                  <a:srgbClr val="F3EFE4"/>
                </a:solidFill>
                <a:latin typeface="Calibri"/>
              </a:rPr>
              <a:t>•  Identidad Digital unificada en todos los canales propios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50">
                <a:solidFill>
                  <a:srgbClr val="F3EFE4"/>
                </a:solidFill>
                <a:latin typeface="Calibri"/>
              </a:rPr>
              <a:t>•  Vocería Digital: directivos con presencia pública activa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50">
                <a:solidFill>
                  <a:srgbClr val="F3EFE4"/>
                </a:solidFill>
                <a:latin typeface="Calibri"/>
              </a:rPr>
              <a:t>•  Calendario editorial sostenido en RRSS con tono propio del sector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50">
                <a:solidFill>
                  <a:srgbClr val="F3EFE4"/>
                </a:solidFill>
                <a:latin typeface="Calibri"/>
              </a:rPr>
              <a:t>•  Narrativa consistente entre operación, RSE y posicionamiento técnico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97880" y="3813048"/>
            <a:ext cx="457200" cy="329184"/>
          </a:xfrm>
          <a:prstGeom prst="rightArrow">
            <a:avLst/>
          </a:prstGeom>
          <a:solidFill>
            <a:srgbClr val="C9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HINT MEDIA  ·  PROPUESTA COMERCIAL CGC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35A"/>
                </a:solidFill>
                <a:latin typeface="Calibri"/>
              </a:rPr>
              <a:t>CASO DE ÉXITO · TRANSENER Y TASSAROLI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F3EFE4"/>
                </a:solidFill>
                <a:latin typeface="Georgia"/>
              </a:rPr>
              <a:t>Dos perfiles distintos, el mismo punto ciego.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5120640" cy="3931920"/>
          </a:xfrm>
          <a:prstGeom prst="roundRect">
            <a:avLst>
              <a:gd name="adj" fmla="val 4000"/>
            </a:avLst>
          </a:prstGeom>
          <a:solidFill>
            <a:srgbClr val="12121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128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C9A35A"/>
                </a:solidFill>
                <a:latin typeface="Georgia"/>
              </a:rPr>
              <a:t>TRANSENER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06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8B3A6"/>
                </a:solidFill>
                <a:latin typeface="Calibri"/>
              </a:rPr>
              <a:t>Transporte de energía eléctrica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400">
                <a:solidFill>
                  <a:srgbClr val="F3EFE4"/>
                </a:solidFill>
                <a:latin typeface="Calibri"/>
              </a:rPr>
              <a:t>Antes: comunicación institucional sin vocería personal,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400">
                <a:solidFill>
                  <a:srgbClr val="F3EFE4"/>
                </a:solidFill>
                <a:latin typeface="Calibri"/>
              </a:rPr>
              <a:t>directivos ausentes de la conversación pública del sector.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400">
                <a:solidFill>
                  <a:srgbClr val="F3EFE4"/>
                </a:solidFill>
                <a:latin typeface="Calibri"/>
              </a:rPr>
              <a:t/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400">
                <a:solidFill>
                  <a:srgbClr val="F3EFE4"/>
                </a:solidFill>
                <a:latin typeface="Calibri"/>
              </a:rPr>
              <a:t>Activamos: Vocería Digital — directivos con voz propia,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400">
                <a:solidFill>
                  <a:srgbClr val="F3EFE4"/>
                </a:solidFill>
                <a:latin typeface="Calibri"/>
              </a:rPr>
              <a:t>hablando de la operación y el contexto energético, no solo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400">
                <a:solidFill>
                  <a:srgbClr val="F3EFE4"/>
                </a:solidFill>
                <a:latin typeface="Calibri"/>
              </a:rPr>
              <a:t>de la empresa como institución abstracta.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011680"/>
            <a:ext cx="5120640" cy="3931920"/>
          </a:xfrm>
          <a:prstGeom prst="roundRect">
            <a:avLst>
              <a:gd name="adj" fmla="val 4000"/>
            </a:avLst>
          </a:prstGeom>
          <a:solidFill>
            <a:srgbClr val="12121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2128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C9A35A"/>
                </a:solidFill>
                <a:latin typeface="Georgia"/>
              </a:rPr>
              <a:t>TASSAROLI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606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8B3A6"/>
                </a:solidFill>
                <a:latin typeface="Calibri"/>
              </a:rPr>
              <a:t>Equipamiento petrolero y minero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9718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400">
                <a:solidFill>
                  <a:srgbClr val="F3EFE4"/>
                </a:solidFill>
                <a:latin typeface="Calibri"/>
              </a:rPr>
              <a:t>Antes: capacidad técnica e industrial real (ISO 9001, API Spec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400">
                <a:solidFill>
                  <a:srgbClr val="F3EFE4"/>
                </a:solidFill>
                <a:latin typeface="Calibri"/>
              </a:rPr>
              <a:t>Q1, operaciones en 4 países), pero invisible fuera del trato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400">
                <a:solidFill>
                  <a:srgbClr val="F3EFE4"/>
                </a:solidFill>
                <a:latin typeface="Calibri"/>
              </a:rPr>
              <a:t>comercial directo con clientes existentes.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400">
                <a:solidFill>
                  <a:srgbClr val="F3EFE4"/>
                </a:solidFill>
                <a:latin typeface="Calibri"/>
              </a:rPr>
              <a:t/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400">
                <a:solidFill>
                  <a:srgbClr val="F3EFE4"/>
                </a:solidFill>
                <a:latin typeface="Calibri"/>
              </a:rPr>
              <a:t>Activamos: Identidad Digital + RRSS + producción de video,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400">
                <a:solidFill>
                  <a:srgbClr val="F3EFE4"/>
                </a:solidFill>
                <a:latin typeface="Calibri"/>
              </a:rPr>
              <a:t>traduciendo capacidad técnica real en presencia pública que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400">
                <a:solidFill>
                  <a:srgbClr val="F3EFE4"/>
                </a:solidFill>
                <a:latin typeface="Calibri"/>
              </a:rPr>
              <a:t>esa capacidad ya merecía.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HINT MEDIA  ·  PROPUESTA COMERCIAL CGC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35A"/>
                </a:solidFill>
                <a:latin typeface="Calibri"/>
              </a:rPr>
              <a:t>CÓMO PODEMOS AYUDAR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F3EFE4"/>
                </a:solidFill>
                <a:latin typeface="Georgia"/>
              </a:rPr>
              <a:t>Plan de trabajo propuesto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2697480" cy="649224"/>
          </a:xfrm>
          <a:prstGeom prst="roundRect">
            <a:avLst>
              <a:gd name="adj" fmla="val 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9344"/>
            <a:ext cx="25146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C9A35A"/>
                </a:solidFill>
                <a:latin typeface="Calibri"/>
              </a:rPr>
              <a:t>Servicio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554480"/>
            <a:ext cx="4526280" cy="649224"/>
          </a:xfrm>
          <a:prstGeom prst="roundRect">
            <a:avLst>
              <a:gd name="adj" fmla="val 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609344"/>
            <a:ext cx="4343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C9A35A"/>
                </a:solidFill>
                <a:latin typeface="Calibri"/>
              </a:rPr>
              <a:t>Qué incluye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54480"/>
            <a:ext cx="4160520" cy="649224"/>
          </a:xfrm>
          <a:prstGeom prst="roundRect">
            <a:avLst>
              <a:gd name="adj" fmla="val 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09344"/>
            <a:ext cx="3977639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C9A35A"/>
                </a:solidFill>
                <a:latin typeface="Calibri"/>
              </a:rPr>
              <a:t>Objetivo para CGC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25146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F3EFE4"/>
                </a:solidFill>
                <a:latin typeface="Calibri"/>
              </a:rPr>
              <a:t>Vocería Digital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304288"/>
            <a:ext cx="4343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F3EFE4"/>
                </a:solidFill>
                <a:latin typeface="Calibri"/>
              </a:rPr>
              <a:t>Perfiles de directivos activados, calendario
de contenido, ghostwriting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304288"/>
            <a:ext cx="3977639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F3EFE4"/>
                </a:solidFill>
                <a:latin typeface="Calibri"/>
              </a:rPr>
              <a:t>Construir autoridad personal que respalde
la institucional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2916936"/>
            <a:ext cx="11521440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2999232"/>
            <a:ext cx="25146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F3EFE4"/>
                </a:solidFill>
                <a:latin typeface="Calibri"/>
              </a:rPr>
              <a:t>Content 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999232"/>
            <a:ext cx="4343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F3EFE4"/>
                </a:solidFill>
                <a:latin typeface="Calibri"/>
              </a:rPr>
              <a:t>Artículos técnicos bilingües (ES/EN),
posicionamiento sectorial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999232"/>
            <a:ext cx="3977639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F3EFE4"/>
                </a:solidFill>
                <a:latin typeface="Calibri"/>
              </a:rPr>
              <a:t>Ocupar el terreno de pensamiento que hoy
está vacío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2960" y="3611880"/>
            <a:ext cx="11521440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14400" y="3694176"/>
            <a:ext cx="25146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F3EFE4"/>
                </a:solidFill>
                <a:latin typeface="Calibri"/>
              </a:rPr>
              <a:t>Identidad Digital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694176"/>
            <a:ext cx="4343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F3EFE4"/>
                </a:solidFill>
                <a:latin typeface="Calibri"/>
              </a:rPr>
              <a:t>Auditoría y relanzamiento de tono y
estilo en todos los canales propios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694176"/>
            <a:ext cx="3977639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F3EFE4"/>
                </a:solidFill>
                <a:latin typeface="Calibri"/>
              </a:rPr>
              <a:t>Coherencia entre gobierno corporativo,
RSE y operación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22960" y="4306824"/>
            <a:ext cx="11521440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4389120"/>
            <a:ext cx="25146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F3EFE4"/>
                </a:solidFill>
                <a:latin typeface="Calibri"/>
              </a:rPr>
              <a:t>RRSS / LinkedIn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389120"/>
            <a:ext cx="4343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F3EFE4"/>
                </a:solidFill>
                <a:latin typeface="Calibri"/>
              </a:rPr>
              <a:t>Calendario editorial, gestión de
publicaciones, métricas mensuales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389120"/>
            <a:ext cx="3977639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F3EFE4"/>
                </a:solidFill>
                <a:latin typeface="Calibri"/>
              </a:rPr>
              <a:t>Pasar de efeméride a contenido
de negocio real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2960" y="5001768"/>
            <a:ext cx="11521440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5084064"/>
            <a:ext cx="25146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F3EFE4"/>
                </a:solidFill>
                <a:latin typeface="Calibri"/>
              </a:rPr>
              <a:t>SEO + Sala de Prensa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5084064"/>
            <a:ext cx="4343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F3EFE4"/>
                </a:solidFill>
                <a:latin typeface="Calibri"/>
              </a:rPr>
              <a:t>Optimización on-page, sección de
noticias centralizando cobertura existente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084064"/>
            <a:ext cx="3977639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F3EFE4"/>
                </a:solidFill>
                <a:latin typeface="Calibri"/>
              </a:rPr>
              <a:t>Control de narrativa en buscadores
y medios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22960" y="5696712"/>
            <a:ext cx="11521440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14400" y="5779008"/>
            <a:ext cx="25146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F3EFE4"/>
                </a:solidFill>
                <a:latin typeface="Calibri"/>
              </a:rPr>
              <a:t>Producción Audiovisual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5779008"/>
            <a:ext cx="4343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F3EFE4"/>
                </a:solidFill>
                <a:latin typeface="Calibri"/>
              </a:rPr>
              <a:t>Video institucional y de producto,
relanzamiento de canal YouTube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779008"/>
            <a:ext cx="3977639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F3EFE4"/>
                </a:solidFill>
                <a:latin typeface="Calibri"/>
              </a:rPr>
              <a:t>Respaldo visual a la nueva narrativa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22960" y="6391656"/>
            <a:ext cx="11521440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HINT MEDIA  ·  PROPUESTA COMERCIAL CGC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35A"/>
                </a:solidFill>
                <a:latin typeface="Calibri"/>
              </a:rPr>
              <a:t>PLAN DE IMPLEMENTACIÓN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F3EFE4"/>
                </a:solidFill>
                <a:latin typeface="Georgia"/>
              </a:rPr>
              <a:t>Tres fases, resultados visibles desde la primera.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3520440" cy="3200400"/>
          </a:xfrm>
          <a:prstGeom prst="roundRect">
            <a:avLst>
              <a:gd name="adj" fmla="val 4000"/>
            </a:avLst>
          </a:prstGeom>
          <a:solidFill>
            <a:srgbClr val="121212"/>
          </a:solidFill>
          <a:ln w="12700">
            <a:solidFill>
              <a:srgbClr val="C9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1460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35A"/>
                </a:solidFill>
                <a:latin typeface="Calibri"/>
              </a:rPr>
              <a:t>FASE 1 · SEMANAS 1-4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8036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 i="0">
                <a:solidFill>
                  <a:srgbClr val="F3EFE4"/>
                </a:solidFill>
                <a:latin typeface="Georgia"/>
              </a:rPr>
              <a:t>Fundación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2900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B8B3A6"/>
                </a:solidFill>
                <a:latin typeface="Calibri"/>
              </a:rPr>
              <a:t>SEO básico, sala de prensa, primeros
posts reconvertidos en LinkedIn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286000"/>
            <a:ext cx="3520440" cy="3200400"/>
          </a:xfrm>
          <a:prstGeom prst="roundRect">
            <a:avLst>
              <a:gd name="adj" fmla="val 4000"/>
            </a:avLst>
          </a:prstGeom>
          <a:solidFill>
            <a:srgbClr val="12121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251460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35A"/>
                </a:solidFill>
                <a:latin typeface="Calibri"/>
              </a:rPr>
              <a:t>FASE 2 · MES 2-3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88036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 i="0">
                <a:solidFill>
                  <a:srgbClr val="F3EFE4"/>
                </a:solidFill>
                <a:latin typeface="Georgia"/>
              </a:rPr>
              <a:t>Narrativa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42900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B8B3A6"/>
                </a:solidFill>
                <a:latin typeface="Calibri"/>
              </a:rPr>
              <a:t>Vocería Digital activa, Content Hub
en marcha, calendario editorial estable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2286000"/>
            <a:ext cx="3520440" cy="3200400"/>
          </a:xfrm>
          <a:prstGeom prst="roundRect">
            <a:avLst>
              <a:gd name="adj" fmla="val 4000"/>
            </a:avLst>
          </a:prstGeom>
          <a:solidFill>
            <a:srgbClr val="12121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251460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35A"/>
                </a:solidFill>
                <a:latin typeface="Calibri"/>
              </a:rPr>
              <a:t>FASE 3 · MES 4+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288036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 i="0">
                <a:solidFill>
                  <a:srgbClr val="F3EFE4"/>
                </a:solidFill>
                <a:latin typeface="Georgia"/>
              </a:rPr>
              <a:t>Escala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342900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B8B3A6"/>
                </a:solidFill>
                <a:latin typeface="Calibri"/>
              </a:rPr>
              <a:t>Relanzamiento de YouTube, marca
empleadora, métricas de posicionamiento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HINT MEDIA  ·  PROPUESTA COMERCIAL CGC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35A"/>
                </a:solidFill>
                <a:latin typeface="Calibri"/>
              </a:rPr>
              <a:t>CÓMO TRABAJAMOS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i="0">
                <a:solidFill>
                  <a:srgbClr val="F3EFE4"/>
                </a:solidFill>
                <a:latin typeface="Georgia"/>
              </a:rPr>
              <a:t>Un equipo, una cuenta, sin intermediarios.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600">
                <a:solidFill>
                  <a:srgbClr val="F3EFE4"/>
                </a:solidFill>
                <a:latin typeface="Calibri"/>
              </a:rPr>
              <a:t>•  Reunión de alcance inicial con tu equipo de comunicación para validar tono, prioridades y restricciones regulatorias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600">
                <a:solidFill>
                  <a:srgbClr val="F3EFE4"/>
                </a:solidFill>
                <a:latin typeface="Calibri"/>
              </a:rPr>
              <a:t>•  Punto de contacto único en Hint Media, reportes mensuales de avance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600">
                <a:solidFill>
                  <a:srgbClr val="F3EFE4"/>
                </a:solidFill>
                <a:latin typeface="Calibri"/>
              </a:rPr>
              <a:t>•  Aprobación de contenido en manos de CGC en cada etapa, sin publicar nada sin validación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600">
                <a:solidFill>
                  <a:srgbClr val="F3EFE4"/>
                </a:solidFill>
                <a:latin typeface="Calibri"/>
              </a:rPr>
              <a:t>•  Métricas de seguimiento simples: alcance, calidad de conversación generada, cobertura de prensa propia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HINT MEDIA  ·  PROPUESTA COMERCIAL CGC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35A"/>
                </a:solidFill>
                <a:latin typeface="Calibri"/>
              </a:rPr>
              <a:t>INVERSIÓN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i="0">
                <a:solidFill>
                  <a:srgbClr val="F3EFE4"/>
                </a:solidFill>
                <a:latin typeface="Georgia"/>
              </a:rPr>
              <a:t>El alcance se define con tu equipo, no al revés.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8686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B8B3A6"/>
                </a:solidFill>
                <a:latin typeface="Calibri"/>
              </a:rPr>
              <a:t>No proponemos un paquete cerrado sin conocer presupuesto, prioridades internas y qué áreas ya tienen recursos (ej. comunicación interna, RSE). Las fases del plan permiten arrancar acotado y escalar según resultados. Definimos el número exacto en una reunión de alcance.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HINT MEDIA  ·  PROPUESTA COMERCIAL CGC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35A"/>
                </a:solidFill>
                <a:latin typeface="Calibri"/>
              </a:rPr>
              <a:t>PRÓXIMO PASO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269748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288036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F3EFE4"/>
                </a:solidFill>
                <a:latin typeface="Georgia"/>
              </a:rPr>
              <a:t>30 minutos para definir el alcance con tu equipo.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E9D9AD"/>
                </a:solidFill>
                <a:latin typeface="Georgia"/>
              </a:rPr>
              <a:t>Activamos el ADN de organizaciones, marcas y líderes.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8B3A6"/>
                </a:solidFill>
                <a:latin typeface="Calibri"/>
              </a:rPr>
              <a:t>— Hint Media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HINT MEDIA  ·  PROPUESTA COMERCIAL CGC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