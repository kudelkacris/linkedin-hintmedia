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303520"/>
            <a:ext cx="11960352" cy="45720"/>
          </a:xfrm>
          <a:prstGeom prst="rect">
            <a:avLst/>
          </a:prstGeom>
          <a:solidFill>
            <a:srgbClr val="2A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9430"/>
                </a:solidFill>
              </a:rPr>
              <a:t>HINT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LinkedIn Outreach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B8D0"/>
                </a:solidFill>
              </a:rPr>
              <a:t>Informe mensual — Agosto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880"/>
                </a:solidFill>
              </a:rPr>
              <a:t>341 contactos · 91 respuestas · 24 dossiers · 7 reuniones acumuladas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880"/>
                </a:solidFill>
              </a:rPr>
              <a:t>Preparado: 31/08/2026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A475F"/>
                </a:solidFill>
              </a:rPr>
              <a:t>CONFIDENCIAL —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09430"/>
                </a:solidFill>
              </a:rPr>
              <a:t>AGOSTO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Resumen Ejecutivo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2560320" cy="13716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E09430"/>
                </a:solidFill>
              </a:rPr>
              <a:t>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880"/>
                </a:solidFill>
              </a:rPr>
              <a:t>Contactos únicos agosto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508760"/>
            <a:ext cx="2560320" cy="13716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60020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A8C62"/>
                </a:solidFill>
              </a:rPr>
              <a:t>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23774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880"/>
                </a:solidFill>
              </a:rPr>
              <a:t>Respondieron MSG1 (26.7%)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508760"/>
            <a:ext cx="2560320" cy="13716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60020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B6CB0"/>
                </a:solidFill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3774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880"/>
                </a:solidFill>
              </a:rPr>
              <a:t>Aceptaron dossier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1508760"/>
            <a:ext cx="2560320" cy="13716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60020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E09430"/>
                </a:solidFill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3774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880"/>
                </a:solidFill>
              </a:rPr>
              <a:t>Reuniones acumuladas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2560320" cy="13716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305→341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776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880"/>
                </a:solidFill>
              </a:rPr>
              <a:t>Contactos jul→ago (+11.8%)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3108960"/>
            <a:ext cx="2560320" cy="13716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79" y="320040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A8C62"/>
                </a:solidFill>
              </a:rPr>
              <a:t>20.3%→26.7%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39776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880"/>
                </a:solidFill>
              </a:rPr>
              <a:t>Tasa respuesta jul→ago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108960"/>
            <a:ext cx="2560320" cy="13716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20040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C94040"/>
                </a:solidFill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9776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880"/>
                </a:solidFill>
              </a:rPr>
              <a:t>Cierres definitivos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3108960"/>
            <a:ext cx="2560320" cy="13716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320040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789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9776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880"/>
                </a:solidFill>
              </a:rPr>
              <a:t>Total historial (post-dedup)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00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9430"/>
                </a:solidFill>
              </a:rPr>
              <a:t>★  Nueva fórmula MSG1 activa desde 20/08. Primera medición: 72% respuesta→dossier vs 23.7% clásico (n pequeño — verificar sept).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736592"/>
            <a:ext cx="11183112" cy="9144"/>
          </a:xfrm>
          <a:prstGeom prst="rect">
            <a:avLst/>
          </a:prstGeom>
          <a:solidFill>
            <a:srgbClr val="2A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09430"/>
                </a:solidFill>
              </a:rPr>
              <a:t>PIPELINE AGOSTO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Embudo de conversión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0789920" cy="73152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577"/>
                </a:solidFill>
              </a:rPr>
              <a:t>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642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Contactados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6642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5577"/>
                </a:solidFill>
              </a:rPr>
              <a:t>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5783" y="2359152"/>
            <a:ext cx="8955633" cy="731520"/>
          </a:xfrm>
          <a:prstGeom prst="rect">
            <a:avLst/>
          </a:prstGeom>
          <a:solidFill>
            <a:srgbClr val="1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2943" y="245059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6CB0"/>
                </a:solidFill>
              </a:rPr>
              <a:t>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5943" y="2560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Respondieron MSG1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1256" y="2560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B6CB0"/>
                </a:solidFill>
              </a:rPr>
              <a:t>26.7 %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82926" y="3255264"/>
            <a:ext cx="7121347" cy="731520"/>
          </a:xfrm>
          <a:prstGeom prst="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0086" y="3346704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A8C62"/>
                </a:solidFill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3086" y="34564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Aceptaron dossier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4113" y="34564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A8C62"/>
                </a:solidFill>
              </a:rPr>
              <a:t>26.4 %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00069" y="4151376"/>
            <a:ext cx="5287060" cy="731520"/>
          </a:xfrm>
          <a:prstGeom prst="rect">
            <a:avLst/>
          </a:prstGeom>
          <a:solidFill>
            <a:srgbClr val="2C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7229" y="4242816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09430"/>
                </a:solidFill>
              </a:rPr>
              <a:t>1–2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0229" y="435254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Reuniones (agosto)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970" y="435254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E09430"/>
                </a:solidFill>
              </a:rPr>
              <a:t>~6 %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3011" y="5047488"/>
            <a:ext cx="3021177" cy="731520"/>
          </a:xfrm>
          <a:prstGeom prst="rect">
            <a:avLst/>
          </a:prstGeom>
          <a:solidFill>
            <a:srgbClr val="2A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0171" y="5138927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4A340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3171" y="524865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Reuniones totales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4028" y="5248655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4A340"/>
                </a:solidFill>
              </a:rPr>
              <a:t>acum.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880"/>
                </a:solidFill>
              </a:rPr>
              <a:t>Post-dossier (historial acum.): 158 dossiers → 7 reuniones (4.4%) — 97 ghostearon post-SEG1 (80.8%)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09430"/>
                </a:solidFill>
              </a:rPr>
              <a:t>CONTACTOS AGOSTO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Conexiones del 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303520" cy="32004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09430"/>
                </a:solidFill>
              </a:rPr>
              <a:t>Geografía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5303520" cy="41148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303520" cy="4114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Argentina  46%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04872"/>
            <a:ext cx="1271016" cy="41148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04872"/>
            <a:ext cx="1271016" cy="4114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963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Colombia  12%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35224"/>
            <a:ext cx="1060704" cy="41148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35224"/>
            <a:ext cx="1060704" cy="4114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2666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Chile  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65576"/>
            <a:ext cx="3392424" cy="41148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65576"/>
            <a:ext cx="3392424" cy="4114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Resto LATAM  32%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09430"/>
                </a:solidFill>
              </a:rPr>
              <a:t>Sectores (tasa de respuesta)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74519"/>
            <a:ext cx="5486400" cy="38404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9659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CEO/Founder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1965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2A8C62"/>
                </a:solidFill>
              </a:rPr>
              <a:t>36.4%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350008"/>
            <a:ext cx="5486400" cy="38404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4414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Consultoría/Legal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24414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2A8C62"/>
                </a:solidFill>
              </a:rPr>
              <a:t>30.0%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825496"/>
            <a:ext cx="5486400" cy="38404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169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Tech/Startups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29169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2B6CB0"/>
                </a:solidFill>
              </a:rPr>
              <a:t>25.0%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300984"/>
            <a:ext cx="5486400" cy="38404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3924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Energía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33924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2B6CB0"/>
                </a:solidFill>
              </a:rPr>
              <a:t>26.9%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776472"/>
            <a:ext cx="5486400" cy="38404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867911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Farmacéutico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386791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2B6CB0"/>
                </a:solidFill>
              </a:rPr>
              <a:t>25.0%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251960"/>
            <a:ext cx="5486400" cy="38404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343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Finanzas/Banca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3434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C94040"/>
                </a:solidFill>
              </a:rPr>
              <a:t>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257800"/>
            <a:ext cx="11183112" cy="548640"/>
          </a:xfrm>
          <a:prstGeom prst="rect">
            <a:avLst/>
          </a:prstGeom>
          <a:solidFill>
            <a:srgbClr val="2C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3218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9430"/>
                </a:solidFill>
              </a:rPr>
              <a:t>199 nuevas conexiones aceptadas ~28/08 — pendiente procesamiento MSG1 (prioridad #1 septiembre).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09430"/>
                </a:solidFill>
              </a:rPr>
              <a:t>CONVERSACIONES DESTACADAS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Quiénes respondieron —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183112" cy="56692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Marcelo R. Matarazzi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81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880"/>
                </a:solidFill>
              </a:rPr>
              <a:t>Oil &amp; Gas / Energía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46304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A8C62"/>
                </a:solidFill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</a:rPr>
              <a:t>"Busco la disrupción." → Engagement máximo, seguimiento activo.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11183112" cy="56692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Diego Manfio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21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880"/>
                </a:solidFill>
              </a:rPr>
              <a:t>SIMA — Industria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1031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A8C62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5000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</a:rPr>
              <a:t>Compartió TED talk personal + email directo dmanfio@sima.com.ar para dossier.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11183112" cy="56692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Sandra Zárate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761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880"/>
                </a:solidFill>
              </a:rPr>
              <a:t>Boreh — Consultoría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74320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A8C62"/>
                </a:solidFill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9008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</a:rPr>
              <a:t>Pidió propuesta para compartir con líderes. Dossier enviado al equipo.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37560"/>
            <a:ext cx="11183112" cy="56692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3832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Dante Velasco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880"/>
                </a:solidFill>
              </a:rPr>
              <a:t>Consultoría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38328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B6CB0"/>
                </a:solidFill>
              </a:rPr>
              <a:t>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3016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</a:rPr>
              <a:t>Respondió con audios. Objeción: "¿es automatizado?" Respondimos, esperando.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77640"/>
            <a:ext cx="11183112" cy="56692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0233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Claudia Patricia Ríos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0416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880"/>
                </a:solidFill>
              </a:rPr>
              <a:t>Comunicaciones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0233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B6CB0"/>
                </a:solidFill>
              </a:rPr>
              <a:t>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27024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</a:rPr>
              <a:t>POV fuerte sobre narrativa de marca. Conversación de alto nivel.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617720"/>
            <a:ext cx="11183112" cy="56692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Renzo G. De Stefano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6817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880"/>
                </a:solidFill>
              </a:rPr>
              <a:t>Hexagon — Tech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66344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B6CB0"/>
                </a:solidFill>
              </a:rPr>
              <a:t>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1032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</a:rPr>
              <a:t>Emojis + aceptó dossier + ofreció derivar si encuentra punto de entrada.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257800"/>
            <a:ext cx="11183112" cy="56692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3035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Valentín Bardelli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321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880"/>
                </a:solidFill>
              </a:rPr>
              <a:t>Consultoría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53035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B6CB0"/>
                </a:solidFill>
              </a:rPr>
              <a:t>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55040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</a:rPr>
              <a:t>"¿Cuál sería el motivo de la reunión?" → MSG2 con valor + referido enviado.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897880"/>
            <a:ext cx="11183112" cy="566928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943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Lola Bordás Dolz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5961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880"/>
                </a:solidFill>
              </a:rPr>
              <a:t>España / Consultoría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594360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09430"/>
                </a:solidFill>
              </a:rPr>
              <a:t>NEW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19048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</a:rPr>
              <a:t>Respondió "Hola Florencia," — MSG2 pendiente (prioridad hoy).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09430"/>
                </a:solidFill>
              </a:rPr>
              <a:t>ANÁLISIS DE RESPUESTAS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Objeciones frecuentes &amp; patrones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183112" cy="77724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" cy="777240"/>
          </a:xfrm>
          <a:prstGeom prst="rect">
            <a:avLst/>
          </a:prstGeom>
          <a:solidFill>
            <a:srgbClr val="C9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4040"/>
                </a:solidFill>
              </a:rPr>
              <a:t>Más frecuente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733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"No es el momento / no estamos buscando este tipo de servicios"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880"/>
                </a:solidFill>
              </a:rPr>
              <a:t>8 cierres definitivos (noInterest). Responder en recontact 3-6 meses.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13432"/>
            <a:ext cx="11183112" cy="77724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13432"/>
            <a:ext cx="54864" cy="777240"/>
          </a:xfrm>
          <a:prstGeom prst="rect">
            <a:avLst/>
          </a:prstGeom>
          <a:solidFill>
            <a:srgbClr val="C9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591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4040"/>
                </a:solidFill>
              </a:rPr>
              <a:t>Frecuente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6946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"No soy de marketing / no es mi área"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1635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880"/>
                </a:solidFill>
              </a:rPr>
              <a:t>Jonatan Lopez (Compras, Bioingepro). Pedir referido interno al contacto correcto.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09544"/>
            <a:ext cx="11183112" cy="77724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209544"/>
            <a:ext cx="54864" cy="777240"/>
          </a:xfrm>
          <a:prstGeom prst="rect">
            <a:avLst/>
          </a:prstGeom>
          <a:solidFill>
            <a:srgbClr val="C9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552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4040"/>
                </a:solidFill>
              </a:rPr>
              <a:t>Frecuente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6557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"¿Cuál sería el motivo de la reunión?"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1246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880"/>
                </a:solidFill>
              </a:rPr>
              <a:t>Valentín Bardelli. Señal de interés + escepticismo — necesita valor explícito antes del CTA.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05656"/>
            <a:ext cx="11183112" cy="77724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05656"/>
            <a:ext cx="54864" cy="777240"/>
          </a:xfrm>
          <a:prstGeom prst="rect">
            <a:avLst/>
          </a:prstGeom>
          <a:solidFill>
            <a:srgbClr val="C9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513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4040"/>
                </a:solidFill>
              </a:rPr>
              <a:t>Frecuente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616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"¿Es automatizado? / ¿Habla una persona real?"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0857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880"/>
                </a:solidFill>
              </a:rPr>
              <a:t>Dante Velasco (audios). Señal de desconfianza en el canal. Responder con tono humano.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01768"/>
            <a:ext cx="11183112" cy="77724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001768"/>
            <a:ext cx="54864" cy="777240"/>
          </a:xfrm>
          <a:prstGeom prst="rect">
            <a:avLst/>
          </a:prstGeom>
          <a:solidFill>
            <a:srgbClr val="C9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0474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4040"/>
                </a:solidFill>
              </a:rPr>
              <a:t>Sector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257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Finanzas/Banca: 0% respuesta (n=12)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50468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880"/>
                </a:solidFill>
              </a:rPr>
              <a:t>Sector no responde al ángulo actual. Requiere nuevo approach o descarte del segmento.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09430"/>
                </a:solidFill>
              </a:rPr>
              <a:t>PIPELINE REUNIONES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Reuniones — logradas y pendientes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560320" cy="13716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A8C62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880"/>
                </a:solidFill>
              </a:rPr>
              <a:t>Reuniones cerradas (historial)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417320"/>
            <a:ext cx="2560320" cy="13716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508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B6CB0"/>
                </a:solidFill>
              </a:rPr>
              <a:t>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2286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880"/>
                </a:solidFill>
              </a:rPr>
              <a:t>Agosto específicamente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417320"/>
            <a:ext cx="2560320" cy="13716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508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E09430"/>
                </a:solidFill>
              </a:rPr>
              <a:t>4.4%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86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880"/>
                </a:solidFill>
              </a:rPr>
              <a:t>Conversión dossier→reunión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1417320"/>
            <a:ext cx="2560320" cy="13716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508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C94040"/>
                </a:solidFill>
              </a:rPr>
              <a:t>80.8%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286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880"/>
                </a:solidFill>
              </a:rPr>
              <a:t>Ghostearon post-SEG1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71800"/>
            <a:ext cx="11183112" cy="2743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992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8C62"/>
                </a:solidFill>
              </a:rPr>
              <a:t>Reuniones confirmadas (historial)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10128"/>
            <a:ext cx="11183112" cy="438912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310128"/>
            <a:ext cx="54864" cy="438912"/>
          </a:xfrm>
          <a:prstGeom prst="rect">
            <a:avLst/>
          </a:prstGeom>
          <a:solidFill>
            <a:srgbClr val="2A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34670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Luis Pérez (Foamtec)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3649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jun/26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3649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</a:rPr>
              <a:t>Primera reunión del proyecto. Deck McKinsey preparado.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803904"/>
            <a:ext cx="11183112" cy="438912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803904"/>
            <a:ext cx="54864" cy="438912"/>
          </a:xfrm>
          <a:prstGeom prst="rect">
            <a:avLst/>
          </a:prstGeom>
          <a:solidFill>
            <a:srgbClr val="2A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404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Silvia Rojas (Amerge)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8587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jul/26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8587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</a:rPr>
              <a:t>Amazon Ads. Reunión viernes desde MSG2 elegante.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297680"/>
            <a:ext cx="11183112" cy="438912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297680"/>
            <a:ext cx="54864" cy="438912"/>
          </a:xfrm>
          <a:prstGeom prst="rect">
            <a:avLst/>
          </a:prstGeom>
          <a:solidFill>
            <a:srgbClr val="2A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342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Keylin Smith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35254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jun/26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3525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</a:rPr>
              <a:t>Colaboración freelance — no venta directa.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91456"/>
            <a:ext cx="11183112" cy="438912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791456"/>
            <a:ext cx="54864" cy="438912"/>
          </a:xfrm>
          <a:prstGeom prst="rect">
            <a:avLst/>
          </a:prstGeom>
          <a:solidFill>
            <a:srgbClr val="2A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8280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Luciano Fornaro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4846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ago/26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846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</a:rPr>
              <a:t>Call coordinada — pendiente mail de trabajo para Meet.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285232"/>
            <a:ext cx="11183112" cy="438912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285232"/>
            <a:ext cx="54864" cy="438912"/>
          </a:xfrm>
          <a:prstGeom prst="rect">
            <a:avLst/>
          </a:prstGeom>
          <a:solidFill>
            <a:srgbClr val="2A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3218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+ 3 adicionales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53400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jul-ago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34009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</a:rPr>
              <a:t>Historial acumulado.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989320"/>
            <a:ext cx="11183112" cy="50292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4040"/>
                </a:solidFill>
              </a:rPr>
              <a:t>Hallazgo crítico: el embudo se rompe DESPUÉS del dossier. 36 dossiers sin SEG1 (olvido de ejecución). 97/120 ghostearon post-SEG1. Prioridad #1 sept: cambiar CTA a horario concreto + SEG2.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09430"/>
                </a:solidFill>
              </a:rPr>
              <a:t>COSTO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Costo del bot por mensaje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303520" cy="256032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A6880"/>
                </a:solidFill>
              </a:rPr>
              <a:t>ESPECIFICACIONES DEL MODELO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A6880"/>
                </a:solidFill>
              </a:rPr>
              <a:t>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105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Claude Sonnet 4.6 (Anthropic)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579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A6880"/>
                </a:solidFill>
              </a:rPr>
              <a:t>Max tokens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579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5.500 tokens por respuesta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054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A6880"/>
                </a:solidFill>
              </a:rPr>
              <a:t>Input estimado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054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~1.500 tokens por contexto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529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A6880"/>
                </a:solidFill>
              </a:rPr>
              <a:t>Precio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52927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USD 3 / millón de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0039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A6880"/>
                </a:solidFill>
              </a:rPr>
              <a:t>Precio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0039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USD 15 / millón de tokens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417320"/>
            <a:ext cx="5605272" cy="256032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08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A6880"/>
                </a:solidFill>
              </a:rPr>
              <a:t>CÁLCULO POR MENSAJE GENERADO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10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8D0"/>
                </a:solidFill>
              </a:rPr>
              <a:t>Input (1.500 tokens)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8105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= USD 0.0045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1579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8D0"/>
                </a:solidFill>
              </a:rPr>
              <a:t>Output (5.500 tokens)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1579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= USD 0.0825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054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8D0"/>
                </a:solidFill>
              </a:rPr>
              <a:t>Total por mensaje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5054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09430"/>
                </a:solidFill>
              </a:rPr>
              <a:t>≈ USD 0.087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85292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880"/>
                </a:solidFill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85292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2003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8D0"/>
                </a:solidFill>
              </a:rPr>
              <a:t>Estimado sesión (~30 msg)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20039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≈ USD 2.60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54787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8D0"/>
                </a:solidFill>
              </a:rPr>
              <a:t>Referencia real 01/07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54787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USD 1.09 / sesión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8953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8D0"/>
                </a:solidFill>
              </a:rPr>
              <a:t>Estimado agosto 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8953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09430"/>
                </a:solidFill>
              </a:rPr>
              <a:t>≈ USD 20–35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160520"/>
            <a:ext cx="11183112" cy="640080"/>
          </a:xfrm>
          <a:prstGeom prst="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2519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8C62"/>
                </a:solidFill>
              </a:rPr>
              <a:t>ROI estimado: si 1 cliente genera USD 2.000/mes de facturación, el costo del bot se paga con el primer cliente en el primer día del mes.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983480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* Costo agosto sin registro exacto — estimado a partir de precios públicos de API + sesión de referencia 01/07/26. No incluye costo servidor ni suscripción Claude.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09430"/>
                </a:solidFill>
              </a:rPr>
              <a:t>MEJORAS DE 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Nueva fórmula MSG1 — resultados preliminares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394960" cy="384048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A6880"/>
                </a:solidFill>
              </a:rPr>
              <a:t>FÓRMULA CLÁSICA (JUN–19 AGO)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5A6880"/>
                </a:solidFill>
              </a:rPr>
              <a:t>23.7%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880"/>
                </a:solidFill>
              </a:rPr>
              <a:t>respuesta → dossier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AA8"/>
                </a:solidFill>
              </a:rPr>
              <a:t>• Señal humana primero
• Sin Hint en MSG1
• Pregunta al final
• CTA solo dossier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417320"/>
            <a:ext cx="5394960" cy="3840480"/>
          </a:xfrm>
          <a:prstGeom prst="rect">
            <a:avLst/>
          </a:prstGeom>
          <a:solidFill>
            <a:srgbClr val="0D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08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A8C62"/>
                </a:solidFill>
              </a:rPr>
              <a:t>NUEVA FÓRMULA (DESDE 20/08)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7451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A8C62"/>
                </a:solidFill>
              </a:rP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A8C62"/>
                </a:solidFill>
              </a:rPr>
              <a:t>respuesta → dossier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0632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B88A"/>
                </a:solidFill>
              </a:rPr>
              <a:t>• L1 Buenas [nombre]
• L2 Vi [algo concreto]
• L3 Pain exacto
• L4 Hint + CTA híbrido (dossier + reunión)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2860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0943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440680"/>
            <a:ext cx="11183112" cy="502920"/>
          </a:xfrm>
          <a:prstGeom prst="rect">
            <a:avLst/>
          </a:prstGeom>
          <a:solidFill>
            <a:srgbClr val="2C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046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9430"/>
                </a:solidFill>
              </a:rPr>
              <a:t>⚠  n pequeño (primeras 2 semanas). Verificar en septiembre con el batch INDUSTRIA-ARG (~85 contactos). No modificar la fórmula hasta tener n ≥ 50.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09430"/>
                </a:solidFill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Prioridades — Septiembre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83112" cy="50292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960120" cy="502920"/>
          </a:xfrm>
          <a:prstGeom prst="rect">
            <a:avLst/>
          </a:prstGeom>
          <a:solidFill>
            <a:srgbClr val="C9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6002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1B2D"/>
                </a:solidFill>
              </a:rPr>
              <a:t>URGENTE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08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SEG1 vencidos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3736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Goyechea, Luis Cabral, Baquero, Clara Uparela, D'Agostino — todos vencidos desde 27/08.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29968"/>
            <a:ext cx="11183112" cy="50292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29968"/>
            <a:ext cx="960120" cy="502920"/>
          </a:xfrm>
          <a:prstGeom prst="rect">
            <a:avLst/>
          </a:prstGeom>
          <a:solidFill>
            <a:srgbClr val="C9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1671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1B2D"/>
                </a:solidFill>
              </a:rPr>
              <a:t>URGENTE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0756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Dossier por 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304288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Diego Manfio (dmanfio@sima.com.ar), Patricio O'Kon, Celeste Neyra, Sandra Zárate.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96896"/>
            <a:ext cx="11183112" cy="50292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596896"/>
            <a:ext cx="960120" cy="502920"/>
          </a:xfrm>
          <a:prstGeom prst="rect">
            <a:avLst/>
          </a:prstGeom>
          <a:solidFill>
            <a:srgbClr val="C9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7340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1B2D"/>
                </a:solidFill>
              </a:rPr>
              <a:t>URGENTE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64261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199 conexiones nuevas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871216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Procesar batch de ~28/08 con MSG1 nueva fórmula. Priorizar CEO/Founder + Consultoría.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163824"/>
            <a:ext cx="11183112" cy="50292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163824"/>
            <a:ext cx="960120" cy="502920"/>
          </a:xfrm>
          <a:prstGeom prst="rect">
            <a:avLst/>
          </a:prstGeom>
          <a:solidFill>
            <a:srgbClr val="E0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3009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1B2D"/>
                </a:solidFill>
              </a:rPr>
              <a:t>ALTA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2095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Luciano Fornaro —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438144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Pendiente mail de trabajo para enviar Google Meet. No perder la reunión.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30752"/>
            <a:ext cx="11183112" cy="50292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730752"/>
            <a:ext cx="960120" cy="502920"/>
          </a:xfrm>
          <a:prstGeom prst="rect">
            <a:avLst/>
          </a:prstGeom>
          <a:solidFill>
            <a:srgbClr val="E0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8679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1B2D"/>
                </a:solidFill>
              </a:rPr>
              <a:t>ALTA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776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MSG2 Lola Bordás Dolz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00507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Respondió "Hola Florencia," — conversación sin cerrar.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297680"/>
            <a:ext cx="11183112" cy="50292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297680"/>
            <a:ext cx="960120" cy="502920"/>
          </a:xfrm>
          <a:prstGeom prst="rect">
            <a:avLst/>
          </a:prstGeom>
          <a:solidFill>
            <a:srgbClr val="E0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434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1B2D"/>
                </a:solidFill>
              </a:rPr>
              <a:t>ALTA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343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Referidos activos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57200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Antonela Del Franco (Manantial), Celeste Neyra (Datco), Patricia Cirillo (Racklatina).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864608"/>
            <a:ext cx="11183112" cy="50292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864608"/>
            <a:ext cx="960120" cy="502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5001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1B2D"/>
                </a:solidFill>
              </a:rPr>
              <a:t>MEDIA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49103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INDUSTRIA-ARG batch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5138928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~85 contactos conectados — MSG1 nueva fórmula para testear conversion.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431536"/>
            <a:ext cx="11183112" cy="50292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5431536"/>
            <a:ext cx="960120" cy="502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55686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1B2D"/>
                </a:solidFill>
              </a:rPr>
              <a:t>MEDIA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54772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FCT COMMS 2.0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5705856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~22 contactos pendientes MSG1 (Grupo B + C + FCT COMMS 1.0).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998464"/>
            <a:ext cx="11183112" cy="50292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5998464"/>
            <a:ext cx="960120" cy="502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61356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1B2D"/>
                </a:solidFill>
              </a:rPr>
              <a:t>MEDIA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60441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Gonzalo Rioja post-Hotelga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0200" y="6272784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880"/>
                </a:solidFill>
              </a:rPr>
              <a:t>Recontactar desde 05/09 con ángulo nuevo después de la feria.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