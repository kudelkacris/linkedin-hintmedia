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280160"/>
            <a:ext cx="7315200" cy="274320"/>
          </a:xfrm>
          <a:prstGeom prst="rect">
            <a:avLst/>
          </a:prstGeom>
          <a:noFill/>
        </p:spPr>
        <p:txBody>
          <a:bodyPr wrap="square" anchor="t" lIns="0" rIns="0" tIns="0" bIns="0">
            <a:spAutoFit/>
          </a:bodyPr>
          <a:lstStyle/>
          <a:p>
            <a:pPr algn="l">
              <a:spcAft>
                <a:spcPts val="0"/>
              </a:spcAft>
            </a:pPr>
            <a:r>
              <a:rPr sz="1200" b="1" i="0">
                <a:solidFill>
                  <a:srgbClr val="E8B45B"/>
                </a:solidFill>
                <a:latin typeface="Segoe UI"/>
              </a:rPr>
              <a:t>HINT MEDIA  ·  PLAN DE ACCION</a:t>
            </a:r>
          </a:p>
        </p:txBody>
      </p:sp>
      <p:sp>
        <p:nvSpPr>
          <p:cNvPr id="4" name="TextBox 3"/>
          <p:cNvSpPr txBox="1"/>
          <p:nvPr/>
        </p:nvSpPr>
        <p:spPr>
          <a:xfrm>
            <a:off x="822960" y="1737360"/>
            <a:ext cx="10515600" cy="1828800"/>
          </a:xfrm>
          <a:prstGeom prst="rect">
            <a:avLst/>
          </a:prstGeom>
          <a:noFill/>
        </p:spPr>
        <p:txBody>
          <a:bodyPr wrap="square" anchor="t" lIns="0" rIns="0" tIns="0" bIns="0">
            <a:spAutoFit/>
          </a:bodyPr>
          <a:lstStyle/>
          <a:p>
            <a:pPr algn="l">
              <a:lnSpc>
                <a:spcPct val="105000"/>
              </a:lnSpc>
              <a:spcAft>
                <a:spcPts val="0"/>
              </a:spcAft>
            </a:pPr>
            <a:r>
              <a:rPr sz="5200" b="1" i="0">
                <a:solidFill>
                  <a:srgbClr val="F2F5F8"/>
                </a:solidFill>
                <a:latin typeface="Segoe UI"/>
              </a:rPr>
              <a:t>Como conseguir</a:t>
            </a:r>
          </a:p>
          <a:p>
            <a:pPr algn="l">
              <a:lnSpc>
                <a:spcPct val="105000"/>
              </a:lnSpc>
              <a:spcAft>
                <a:spcPts val="0"/>
              </a:spcAft>
            </a:pPr>
            <a:r>
              <a:rPr sz="5200" b="1" i="0">
                <a:solidFill>
                  <a:srgbClr val="F2F5F8"/>
                </a:solidFill>
                <a:latin typeface="Segoe UI"/>
              </a:rPr>
              <a:t>mas reuniones</a:t>
            </a:r>
          </a:p>
        </p:txBody>
      </p:sp>
      <p:sp>
        <p:nvSpPr>
          <p:cNvPr id="5" name="TextBox 4"/>
          <p:cNvSpPr txBox="1"/>
          <p:nvPr/>
        </p:nvSpPr>
        <p:spPr>
          <a:xfrm>
            <a:off x="822960" y="3566160"/>
            <a:ext cx="9601200" cy="822960"/>
          </a:xfrm>
          <a:prstGeom prst="rect">
            <a:avLst/>
          </a:prstGeom>
          <a:noFill/>
        </p:spPr>
        <p:txBody>
          <a:bodyPr wrap="square" anchor="t" lIns="0" rIns="0" tIns="0" bIns="0">
            <a:spAutoFit/>
          </a:bodyPr>
          <a:lstStyle/>
          <a:p>
            <a:pPr algn="l">
              <a:lnSpc>
                <a:spcPct val="135000"/>
              </a:lnSpc>
              <a:spcAft>
                <a:spcPts val="0"/>
              </a:spcAft>
            </a:pPr>
            <a:r>
              <a:rPr sz="1900" b="0" i="0">
                <a:solidFill>
                  <a:srgbClr val="8A94A6"/>
                </a:solidFill>
                <a:latin typeface="Segoe UI"/>
              </a:rPr>
              <a:t>Diagnostico, correcciones inmediatas, ideas nuevas y herramientas</a:t>
            </a:r>
          </a:p>
          <a:p>
            <a:pPr algn="l">
              <a:lnSpc>
                <a:spcPct val="135000"/>
              </a:lnSpc>
              <a:spcAft>
                <a:spcPts val="0"/>
              </a:spcAft>
            </a:pPr>
            <a:r>
              <a:rPr sz="1900" b="0" i="0">
                <a:solidFill>
                  <a:srgbClr val="8A94A6"/>
                </a:solidFill>
                <a:latin typeface="Segoe UI"/>
              </a:rPr>
              <a:t>para pasar de 1 reunion por mes a 8-12</a:t>
            </a:r>
          </a:p>
        </p:txBody>
      </p:sp>
      <p:sp>
        <p:nvSpPr>
          <p:cNvPr id="6" name="Rectangle 5"/>
          <p:cNvSpPr/>
          <p:nvPr/>
        </p:nvSpPr>
        <p:spPr>
          <a:xfrm>
            <a:off x="822960" y="4663440"/>
            <a:ext cx="1371600" cy="38100"/>
          </a:xfrm>
          <a:prstGeom prst="rect">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5029200"/>
            <a:ext cx="10058400" cy="822960"/>
          </a:xfrm>
          <a:prstGeom prst="rect">
            <a:avLst/>
          </a:prstGeom>
          <a:noFill/>
        </p:spPr>
        <p:txBody>
          <a:bodyPr wrap="square" anchor="t" lIns="0" rIns="0" tIns="0" bIns="0">
            <a:spAutoFit/>
          </a:bodyPr>
          <a:lstStyle/>
          <a:p>
            <a:pPr algn="l">
              <a:lnSpc>
                <a:spcPct val="135000"/>
              </a:lnSpc>
              <a:spcAft>
                <a:spcPts val="0"/>
              </a:spcAft>
            </a:pPr>
            <a:r>
              <a:rPr sz="1700" b="0" i="1">
                <a:solidFill>
                  <a:srgbClr val="F2F5F8"/>
                </a:solidFill>
                <a:latin typeface="Segoe UI"/>
              </a:rPr>
              <a:t>"No tenemos un problema de generacion de leads.</a:t>
            </a:r>
          </a:p>
          <a:p>
            <a:pPr algn="l">
              <a:lnSpc>
                <a:spcPct val="135000"/>
              </a:lnSpc>
              <a:spcAft>
                <a:spcPts val="0"/>
              </a:spcAft>
            </a:pPr>
            <a:r>
              <a:rPr sz="1700" b="0" i="1">
                <a:solidFill>
                  <a:srgbClr val="F2F5F8"/>
                </a:solidFill>
                <a:latin typeface="Segoe UI"/>
              </a:rPr>
              <a:t>Tenemos un problema de conversion de leads que ya tenemos."</a:t>
            </a:r>
          </a:p>
        </p:txBody>
      </p:sp>
      <p:sp>
        <p:nvSpPr>
          <p:cNvPr id="8" name="TextBox 7"/>
          <p:cNvSpPr txBox="1"/>
          <p:nvPr/>
        </p:nvSpPr>
        <p:spPr>
          <a:xfrm>
            <a:off x="822960" y="6217920"/>
            <a:ext cx="7315200" cy="274320"/>
          </a:xfrm>
          <a:prstGeom prst="rect">
            <a:avLst/>
          </a:prstGeom>
          <a:noFill/>
        </p:spPr>
        <p:txBody>
          <a:bodyPr wrap="square" anchor="t" lIns="0" rIns="0" tIns="0" bIns="0">
            <a:spAutoFit/>
          </a:bodyPr>
          <a:lstStyle/>
          <a:p>
            <a:pPr algn="l">
              <a:spcAft>
                <a:spcPts val="0"/>
              </a:spcAft>
            </a:pPr>
            <a:r>
              <a:rPr sz="1000" b="0" i="0">
                <a:solidFill>
                  <a:srgbClr val="8A94A6"/>
                </a:solidFill>
                <a:latin typeface="Segoe UI"/>
              </a:rPr>
              <a:t>20 de septiembre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EL DIAGNOSTICO</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El dinero ya esta sobre la mesa. No lo estamos levantando.</a:t>
            </a:r>
          </a:p>
        </p:txBody>
      </p:sp>
      <p:sp>
        <p:nvSpPr>
          <p:cNvPr id="4" name="Rectangle 3"/>
          <p:cNvSpPr/>
          <p:nvPr/>
        </p:nvSpPr>
        <p:spPr>
          <a:xfrm>
            <a:off x="640080" y="1170432"/>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920240"/>
            <a:ext cx="2606040" cy="1691640"/>
          </a:xfrm>
          <a:prstGeom prst="roundRect">
            <a:avLst>
              <a:gd name="adj" fmla="val 6000"/>
            </a:avLst>
          </a:prstGeom>
          <a:solidFill>
            <a:srgbClr val="181D25"/>
          </a:solidFill>
          <a:ln w="1524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8" y="2084832"/>
            <a:ext cx="2286000" cy="502920"/>
          </a:xfrm>
          <a:prstGeom prst="rect">
            <a:avLst/>
          </a:prstGeom>
          <a:noFill/>
        </p:spPr>
        <p:txBody>
          <a:bodyPr wrap="square" anchor="t" lIns="0" rIns="0" tIns="0" bIns="0">
            <a:spAutoFit/>
          </a:bodyPr>
          <a:lstStyle/>
          <a:p>
            <a:pPr algn="l">
              <a:spcAft>
                <a:spcPts val="0"/>
              </a:spcAft>
            </a:pPr>
            <a:r>
              <a:rPr sz="3800" b="1" i="0">
                <a:solidFill>
                  <a:srgbClr val="F87171"/>
                </a:solidFill>
                <a:latin typeface="Segoe UI"/>
              </a:rPr>
              <a:t>97</a:t>
            </a:r>
          </a:p>
        </p:txBody>
      </p:sp>
      <p:sp>
        <p:nvSpPr>
          <p:cNvPr id="7" name="TextBox 6"/>
          <p:cNvSpPr txBox="1"/>
          <p:nvPr/>
        </p:nvSpPr>
        <p:spPr>
          <a:xfrm>
            <a:off x="841248" y="2670048"/>
            <a:ext cx="2286000" cy="320040"/>
          </a:xfrm>
          <a:prstGeom prst="rect">
            <a:avLst/>
          </a:prstGeom>
          <a:noFill/>
        </p:spPr>
        <p:txBody>
          <a:bodyPr wrap="square" anchor="t" lIns="0" rIns="0" tIns="0" bIns="0">
            <a:spAutoFit/>
          </a:bodyPr>
          <a:lstStyle/>
          <a:p>
            <a:pPr algn="l">
              <a:spcAft>
                <a:spcPts val="0"/>
              </a:spcAft>
            </a:pPr>
            <a:r>
              <a:rPr sz="1200" b="1" i="0">
                <a:solidFill>
                  <a:srgbClr val="F2F5F8"/>
                </a:solidFill>
                <a:latin typeface="Segoe UI"/>
              </a:rPr>
              <a:t>leads que respondieron</a:t>
            </a:r>
          </a:p>
        </p:txBody>
      </p:sp>
      <p:sp>
        <p:nvSpPr>
          <p:cNvPr id="8" name="TextBox 7"/>
          <p:cNvSpPr txBox="1"/>
          <p:nvPr/>
        </p:nvSpPr>
        <p:spPr>
          <a:xfrm>
            <a:off x="841248" y="2999232"/>
            <a:ext cx="2286000" cy="548640"/>
          </a:xfrm>
          <a:prstGeom prst="rect">
            <a:avLst/>
          </a:prstGeom>
          <a:noFill/>
        </p:spPr>
        <p:txBody>
          <a:bodyPr wrap="square" anchor="t" lIns="0" rIns="0" tIns="0" bIns="0">
            <a:spAutoFit/>
          </a:bodyPr>
          <a:lstStyle/>
          <a:p>
            <a:pPr algn="l">
              <a:lnSpc>
                <a:spcPct val="125000"/>
              </a:lnSpc>
              <a:spcAft>
                <a:spcPts val="0"/>
              </a:spcAft>
            </a:pPr>
            <a:r>
              <a:rPr sz="1000" b="0" i="0">
                <a:solidFill>
                  <a:srgbClr val="8A94A6"/>
                </a:solidFill>
                <a:latin typeface="Segoe UI"/>
              </a:rPr>
              <a:t>y nunca recibieron</a:t>
            </a:r>
          </a:p>
          <a:p>
            <a:pPr algn="l">
              <a:lnSpc>
                <a:spcPct val="125000"/>
              </a:lnSpc>
              <a:spcAft>
                <a:spcPts val="0"/>
              </a:spcAft>
            </a:pPr>
            <a:r>
              <a:rPr sz="1000" b="0" i="0">
                <a:solidFill>
                  <a:srgbClr val="8A94A6"/>
                </a:solidFill>
                <a:latin typeface="Segoe UI"/>
              </a:rPr>
              <a:t>un segundo mensaje</a:t>
            </a:r>
          </a:p>
        </p:txBody>
      </p:sp>
      <p:sp>
        <p:nvSpPr>
          <p:cNvPr id="9" name="Rounded Rectangle 8"/>
          <p:cNvSpPr/>
          <p:nvPr/>
        </p:nvSpPr>
        <p:spPr>
          <a:xfrm>
            <a:off x="3429000" y="1920240"/>
            <a:ext cx="2606040" cy="1691640"/>
          </a:xfrm>
          <a:prstGeom prst="roundRect">
            <a:avLst>
              <a:gd name="adj" fmla="val 6000"/>
            </a:avLst>
          </a:prstGeom>
          <a:solidFill>
            <a:srgbClr val="181D25"/>
          </a:solidFill>
          <a:ln w="1524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30168" y="2084832"/>
            <a:ext cx="2286000" cy="502920"/>
          </a:xfrm>
          <a:prstGeom prst="rect">
            <a:avLst/>
          </a:prstGeom>
          <a:noFill/>
        </p:spPr>
        <p:txBody>
          <a:bodyPr wrap="square" anchor="t" lIns="0" rIns="0" tIns="0" bIns="0">
            <a:spAutoFit/>
          </a:bodyPr>
          <a:lstStyle/>
          <a:p>
            <a:pPr algn="l">
              <a:spcAft>
                <a:spcPts val="0"/>
              </a:spcAft>
            </a:pPr>
            <a:r>
              <a:rPr sz="3800" b="1" i="0">
                <a:solidFill>
                  <a:srgbClr val="F87171"/>
                </a:solidFill>
                <a:latin typeface="Segoe UI"/>
              </a:rPr>
              <a:t>82</a:t>
            </a:r>
          </a:p>
        </p:txBody>
      </p:sp>
      <p:sp>
        <p:nvSpPr>
          <p:cNvPr id="11" name="TextBox 10"/>
          <p:cNvSpPr txBox="1"/>
          <p:nvPr/>
        </p:nvSpPr>
        <p:spPr>
          <a:xfrm>
            <a:off x="3630168" y="2670048"/>
            <a:ext cx="2286000" cy="320040"/>
          </a:xfrm>
          <a:prstGeom prst="rect">
            <a:avLst/>
          </a:prstGeom>
          <a:noFill/>
        </p:spPr>
        <p:txBody>
          <a:bodyPr wrap="square" anchor="t" lIns="0" rIns="0" tIns="0" bIns="0">
            <a:spAutoFit/>
          </a:bodyPr>
          <a:lstStyle/>
          <a:p>
            <a:pPr algn="l">
              <a:spcAft>
                <a:spcPts val="0"/>
              </a:spcAft>
            </a:pPr>
            <a:r>
              <a:rPr sz="1200" b="1" i="0">
                <a:solidFill>
                  <a:srgbClr val="F2F5F8"/>
                </a:solidFill>
                <a:latin typeface="Segoe UI"/>
              </a:rPr>
              <a:t>dossiers enviados</a:t>
            </a:r>
          </a:p>
        </p:txBody>
      </p:sp>
      <p:sp>
        <p:nvSpPr>
          <p:cNvPr id="12" name="TextBox 11"/>
          <p:cNvSpPr txBox="1"/>
          <p:nvPr/>
        </p:nvSpPr>
        <p:spPr>
          <a:xfrm>
            <a:off x="3630168" y="2999232"/>
            <a:ext cx="2286000" cy="548640"/>
          </a:xfrm>
          <a:prstGeom prst="rect">
            <a:avLst/>
          </a:prstGeom>
          <a:noFill/>
        </p:spPr>
        <p:txBody>
          <a:bodyPr wrap="square" anchor="t" lIns="0" rIns="0" tIns="0" bIns="0">
            <a:spAutoFit/>
          </a:bodyPr>
          <a:lstStyle/>
          <a:p>
            <a:pPr algn="l">
              <a:lnSpc>
                <a:spcPct val="125000"/>
              </a:lnSpc>
              <a:spcAft>
                <a:spcPts val="0"/>
              </a:spcAft>
            </a:pPr>
            <a:r>
              <a:rPr sz="1000" b="0" i="0">
                <a:solidFill>
                  <a:srgbClr val="8A94A6"/>
                </a:solidFill>
                <a:latin typeface="Segoe UI"/>
              </a:rPr>
              <a:t>que nunca recibieron</a:t>
            </a:r>
          </a:p>
          <a:p>
            <a:pPr algn="l">
              <a:lnSpc>
                <a:spcPct val="125000"/>
              </a:lnSpc>
              <a:spcAft>
                <a:spcPts val="0"/>
              </a:spcAft>
            </a:pPr>
            <a:r>
              <a:rPr sz="1000" b="0" i="0">
                <a:solidFill>
                  <a:srgbClr val="8A94A6"/>
                </a:solidFill>
                <a:latin typeface="Segoe UI"/>
              </a:rPr>
              <a:t>un follow-up</a:t>
            </a:r>
          </a:p>
        </p:txBody>
      </p:sp>
      <p:sp>
        <p:nvSpPr>
          <p:cNvPr id="13" name="Rounded Rectangle 12"/>
          <p:cNvSpPr/>
          <p:nvPr/>
        </p:nvSpPr>
        <p:spPr>
          <a:xfrm>
            <a:off x="6217920" y="1920240"/>
            <a:ext cx="2606040" cy="1691640"/>
          </a:xfrm>
          <a:prstGeom prst="roundRect">
            <a:avLst>
              <a:gd name="adj" fmla="val 6000"/>
            </a:avLst>
          </a:prstGeom>
          <a:solidFill>
            <a:srgbClr val="181D25"/>
          </a:solidFill>
          <a:ln w="1524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19088" y="2084832"/>
            <a:ext cx="2286000" cy="502920"/>
          </a:xfrm>
          <a:prstGeom prst="rect">
            <a:avLst/>
          </a:prstGeom>
          <a:noFill/>
        </p:spPr>
        <p:txBody>
          <a:bodyPr wrap="square" anchor="t" lIns="0" rIns="0" tIns="0" bIns="0">
            <a:spAutoFit/>
          </a:bodyPr>
          <a:lstStyle/>
          <a:p>
            <a:pPr algn="l">
              <a:spcAft>
                <a:spcPts val="0"/>
              </a:spcAft>
            </a:pPr>
            <a:r>
              <a:rPr sz="3800" b="1" i="0">
                <a:solidFill>
                  <a:srgbClr val="FBBF24"/>
                </a:solidFill>
                <a:latin typeface="Segoe UI"/>
              </a:rPr>
              <a:t>773</a:t>
            </a:r>
          </a:p>
        </p:txBody>
      </p:sp>
      <p:sp>
        <p:nvSpPr>
          <p:cNvPr id="15" name="TextBox 14"/>
          <p:cNvSpPr txBox="1"/>
          <p:nvPr/>
        </p:nvSpPr>
        <p:spPr>
          <a:xfrm>
            <a:off x="6419088" y="2670048"/>
            <a:ext cx="2286000" cy="320040"/>
          </a:xfrm>
          <a:prstGeom prst="rect">
            <a:avLst/>
          </a:prstGeom>
          <a:noFill/>
        </p:spPr>
        <p:txBody>
          <a:bodyPr wrap="square" anchor="t" lIns="0" rIns="0" tIns="0" bIns="0">
            <a:spAutoFit/>
          </a:bodyPr>
          <a:lstStyle/>
          <a:p>
            <a:pPr algn="l">
              <a:spcAft>
                <a:spcPts val="0"/>
              </a:spcAft>
            </a:pPr>
            <a:r>
              <a:rPr sz="1200" b="1" i="0">
                <a:solidFill>
                  <a:srgbClr val="F2F5F8"/>
                </a:solidFill>
                <a:latin typeface="Segoe UI"/>
              </a:rPr>
              <a:t>contactos</a:t>
            </a:r>
          </a:p>
        </p:txBody>
      </p:sp>
      <p:sp>
        <p:nvSpPr>
          <p:cNvPr id="16" name="TextBox 15"/>
          <p:cNvSpPr txBox="1"/>
          <p:nvPr/>
        </p:nvSpPr>
        <p:spPr>
          <a:xfrm>
            <a:off x="6419088" y="2999232"/>
            <a:ext cx="2286000" cy="548640"/>
          </a:xfrm>
          <a:prstGeom prst="rect">
            <a:avLst/>
          </a:prstGeom>
          <a:noFill/>
        </p:spPr>
        <p:txBody>
          <a:bodyPr wrap="square" anchor="t" lIns="0" rIns="0" tIns="0" bIns="0">
            <a:spAutoFit/>
          </a:bodyPr>
          <a:lstStyle/>
          <a:p>
            <a:pPr algn="l">
              <a:lnSpc>
                <a:spcPct val="125000"/>
              </a:lnSpc>
              <a:spcAft>
                <a:spcPts val="0"/>
              </a:spcAft>
            </a:pPr>
            <a:r>
              <a:rPr sz="1000" b="0" i="0">
                <a:solidFill>
                  <a:srgbClr val="8A94A6"/>
                </a:solidFill>
                <a:latin typeface="Segoe UI"/>
              </a:rPr>
              <a:t>que recibieron un solo</a:t>
            </a:r>
          </a:p>
          <a:p>
            <a:pPr algn="l">
              <a:lnSpc>
                <a:spcPct val="125000"/>
              </a:lnSpc>
              <a:spcAft>
                <a:spcPts val="0"/>
              </a:spcAft>
            </a:pPr>
            <a:r>
              <a:rPr sz="1000" b="0" i="0">
                <a:solidFill>
                  <a:srgbClr val="8A94A6"/>
                </a:solidFill>
                <a:latin typeface="Segoe UI"/>
              </a:rPr>
              <a:t>mensaje en toda su vida</a:t>
            </a:r>
          </a:p>
        </p:txBody>
      </p:sp>
      <p:sp>
        <p:nvSpPr>
          <p:cNvPr id="17" name="Rounded Rectangle 16"/>
          <p:cNvSpPr/>
          <p:nvPr/>
        </p:nvSpPr>
        <p:spPr>
          <a:xfrm>
            <a:off x="9006840" y="1920240"/>
            <a:ext cx="2606040" cy="1691640"/>
          </a:xfrm>
          <a:prstGeom prst="roundRect">
            <a:avLst>
              <a:gd name="adj" fmla="val 6000"/>
            </a:avLst>
          </a:prstGeom>
          <a:solidFill>
            <a:srgbClr val="181D25"/>
          </a:solidFill>
          <a:ln w="15240">
            <a:solidFill>
              <a:srgbClr val="E8B4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208008" y="2084832"/>
            <a:ext cx="2286000" cy="502920"/>
          </a:xfrm>
          <a:prstGeom prst="rect">
            <a:avLst/>
          </a:prstGeom>
          <a:noFill/>
        </p:spPr>
        <p:txBody>
          <a:bodyPr wrap="square" anchor="t" lIns="0" rIns="0" tIns="0" bIns="0">
            <a:spAutoFit/>
          </a:bodyPr>
          <a:lstStyle/>
          <a:p>
            <a:pPr algn="l">
              <a:spcAft>
                <a:spcPts val="0"/>
              </a:spcAft>
            </a:pPr>
            <a:r>
              <a:rPr sz="3800" b="1" i="0">
                <a:solidFill>
                  <a:srgbClr val="E8B45B"/>
                </a:solidFill>
                <a:latin typeface="Segoe UI"/>
              </a:rPr>
              <a:t>952</a:t>
            </a:r>
          </a:p>
        </p:txBody>
      </p:sp>
      <p:sp>
        <p:nvSpPr>
          <p:cNvPr id="19" name="TextBox 18"/>
          <p:cNvSpPr txBox="1"/>
          <p:nvPr/>
        </p:nvSpPr>
        <p:spPr>
          <a:xfrm>
            <a:off x="9208008" y="2670048"/>
            <a:ext cx="2286000" cy="320040"/>
          </a:xfrm>
          <a:prstGeom prst="rect">
            <a:avLst/>
          </a:prstGeom>
          <a:noFill/>
        </p:spPr>
        <p:txBody>
          <a:bodyPr wrap="square" anchor="t" lIns="0" rIns="0" tIns="0" bIns="0">
            <a:spAutoFit/>
          </a:bodyPr>
          <a:lstStyle/>
          <a:p>
            <a:pPr algn="l">
              <a:spcAft>
                <a:spcPts val="0"/>
              </a:spcAft>
            </a:pPr>
            <a:r>
              <a:rPr sz="1200" b="1" i="0">
                <a:solidFill>
                  <a:srgbClr val="F2F5F8"/>
                </a:solidFill>
                <a:latin typeface="Segoe UI"/>
              </a:rPr>
              <a:t>personas</a:t>
            </a:r>
          </a:p>
        </p:txBody>
      </p:sp>
      <p:sp>
        <p:nvSpPr>
          <p:cNvPr id="20" name="TextBox 19"/>
          <p:cNvSpPr txBox="1"/>
          <p:nvPr/>
        </p:nvSpPr>
        <p:spPr>
          <a:xfrm>
            <a:off x="9208008" y="2999232"/>
            <a:ext cx="2286000" cy="548640"/>
          </a:xfrm>
          <a:prstGeom prst="rect">
            <a:avLst/>
          </a:prstGeom>
          <a:noFill/>
        </p:spPr>
        <p:txBody>
          <a:bodyPr wrap="square" anchor="t" lIns="0" rIns="0" tIns="0" bIns="0">
            <a:spAutoFit/>
          </a:bodyPr>
          <a:lstStyle/>
          <a:p>
            <a:pPr algn="l">
              <a:lnSpc>
                <a:spcPct val="125000"/>
              </a:lnSpc>
              <a:spcAft>
                <a:spcPts val="0"/>
              </a:spcAft>
            </a:pPr>
            <a:r>
              <a:rPr sz="1000" b="0" i="0">
                <a:solidFill>
                  <a:srgbClr val="8A94A6"/>
                </a:solidFill>
                <a:latin typeface="Segoe UI"/>
              </a:rPr>
              <a:t>ya contactadas y</a:t>
            </a:r>
          </a:p>
          <a:p>
            <a:pPr algn="l">
              <a:lnSpc>
                <a:spcPct val="125000"/>
              </a:lnSpc>
              <a:spcAft>
                <a:spcPts val="0"/>
              </a:spcAft>
            </a:pPr>
            <a:r>
              <a:rPr sz="1000" b="0" i="0">
                <a:solidFill>
                  <a:srgbClr val="8A94A6"/>
                </a:solidFill>
                <a:latin typeface="Segoe UI"/>
              </a:rPr>
              <a:t>sin agotar</a:t>
            </a:r>
          </a:p>
        </p:txBody>
      </p:sp>
      <p:sp>
        <p:nvSpPr>
          <p:cNvPr id="21" name="Rounded Rectangle 20"/>
          <p:cNvSpPr/>
          <p:nvPr/>
        </p:nvSpPr>
        <p:spPr>
          <a:xfrm>
            <a:off x="640080" y="3886200"/>
            <a:ext cx="10881360" cy="914400"/>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4041648"/>
            <a:ext cx="10424160" cy="685800"/>
          </a:xfrm>
          <a:prstGeom prst="rect">
            <a:avLst/>
          </a:prstGeom>
          <a:noFill/>
        </p:spPr>
        <p:txBody>
          <a:bodyPr wrap="square" anchor="t" lIns="0" rIns="0" tIns="0" bIns="0">
            <a:spAutoFit/>
          </a:bodyPr>
          <a:lstStyle/>
          <a:p>
            <a:pPr algn="l">
              <a:lnSpc>
                <a:spcPct val="130000"/>
              </a:lnSpc>
              <a:spcAft>
                <a:spcPts val="0"/>
              </a:spcAft>
            </a:pPr>
            <a:r>
              <a:rPr sz="1450" b="1" i="0">
                <a:solidFill>
                  <a:srgbClr val="E8B45B"/>
                </a:solidFill>
                <a:latin typeface="Segoe UI"/>
              </a:rPr>
              <a:t>Antes de contactar a una sola persona nueva, hay 179 conversaciones tibias sin cerrar.</a:t>
            </a:r>
          </a:p>
          <a:p>
            <a:pPr algn="l">
              <a:lnSpc>
                <a:spcPct val="130000"/>
              </a:lnSpc>
              <a:spcAft>
                <a:spcPts val="0"/>
              </a:spcAft>
            </a:pPr>
            <a:r>
              <a:rPr sz="1450" b="1" i="0">
                <a:solidFill>
                  <a:srgbClr val="E8B45B"/>
                </a:solidFill>
                <a:latin typeface="Segoe UI"/>
              </a:rPr>
              <a:t>A la tasa historica de dossier-a-reunion mejorada, ese stock solo ya vale entre 6 y 10 reuniones.</a:t>
            </a:r>
          </a:p>
        </p:txBody>
      </p:sp>
      <p:sp>
        <p:nvSpPr>
          <p:cNvPr id="23" name="Rounded Rectangle 22"/>
          <p:cNvSpPr/>
          <p:nvPr/>
        </p:nvSpPr>
        <p:spPr>
          <a:xfrm>
            <a:off x="640080" y="5111496"/>
            <a:ext cx="91440" cy="91440"/>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6112" y="5029200"/>
            <a:ext cx="10625328" cy="274320"/>
          </a:xfrm>
          <a:prstGeom prst="rect">
            <a:avLst/>
          </a:prstGeom>
          <a:noFill/>
        </p:spPr>
        <p:txBody>
          <a:bodyPr wrap="square" anchor="t" lIns="0" rIns="0" tIns="0" bIns="0">
            <a:spAutoFit/>
          </a:bodyPr>
          <a:lstStyle/>
          <a:p>
            <a:pPr algn="l">
              <a:spcAft>
                <a:spcPts val="0"/>
              </a:spcAft>
            </a:pPr>
            <a:r>
              <a:rPr sz="1400" b="1" i="0">
                <a:solidFill>
                  <a:srgbClr val="F2F5F8"/>
                </a:solidFill>
                <a:latin typeface="Segoe UI"/>
              </a:rPr>
              <a:t>El error de septiembre fue optimizar la parte equivocada</a:t>
            </a:r>
          </a:p>
        </p:txBody>
      </p:sp>
      <p:sp>
        <p:nvSpPr>
          <p:cNvPr id="25" name="TextBox 24"/>
          <p:cNvSpPr txBox="1"/>
          <p:nvPr/>
        </p:nvSpPr>
        <p:spPr>
          <a:xfrm>
            <a:off x="896112" y="5276088"/>
            <a:ext cx="10625328" cy="365760"/>
          </a:xfrm>
          <a:prstGeom prst="rect">
            <a:avLst/>
          </a:prstGeom>
          <a:noFill/>
        </p:spPr>
        <p:txBody>
          <a:bodyPr wrap="square" anchor="t" lIns="0" rIns="0" tIns="0" bIns="0">
            <a:spAutoFit/>
          </a:bodyPr>
          <a:lstStyle/>
          <a:p>
            <a:pPr algn="l">
              <a:lnSpc>
                <a:spcPct val="125000"/>
              </a:lnSpc>
              <a:spcAft>
                <a:spcPts val="0"/>
              </a:spcAft>
            </a:pPr>
            <a:r>
              <a:rPr sz="1200" b="0" i="0">
                <a:solidFill>
                  <a:srgbClr val="8A94A6"/>
                </a:solidFill>
                <a:latin typeface="Segoe UI"/>
              </a:rPr>
              <a:t>Se duplico el volumen de entrada (172 → 315 contactos) mientras se abandonaba la salida. Es llenar un balde agujereado mas rapido.</a:t>
            </a:r>
          </a:p>
        </p:txBody>
      </p:sp>
      <p:sp>
        <p:nvSpPr>
          <p:cNvPr id="26" name="TextBox 25"/>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27" name="TextBox 26"/>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CORRECCION INMEDIATA  ·  1</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Rollback del MSG1: volver a lo que funcionaba</a:t>
            </a:r>
          </a:p>
        </p:txBody>
      </p:sp>
      <p:sp>
        <p:nvSpPr>
          <p:cNvPr id="4" name="TextBox 3"/>
          <p:cNvSpPr txBox="1"/>
          <p:nvPr/>
        </p:nvSpPr>
        <p:spPr>
          <a:xfrm>
            <a:off x="640080" y="1261872"/>
            <a:ext cx="10972800" cy="365760"/>
          </a:xfrm>
          <a:prstGeom prst="rect">
            <a:avLst/>
          </a:prstGeom>
          <a:noFill/>
        </p:spPr>
        <p:txBody>
          <a:bodyPr wrap="square" anchor="t" lIns="0" rIns="0" tIns="0" bIns="0">
            <a:spAutoFit/>
          </a:bodyPr>
          <a:lstStyle/>
          <a:p>
            <a:pPr algn="l">
              <a:spcAft>
                <a:spcPts val="0"/>
              </a:spcAft>
            </a:pPr>
            <a:r>
              <a:rPr sz="1300" b="0" i="0">
                <a:solidFill>
                  <a:srgbClr val="8A94A6"/>
                </a:solidFill>
                <a:latin typeface="Segoe UI"/>
              </a:rPr>
              <a:t>Cuatro cambios concretos con impacto medido sobre 1.102 casos</a:t>
            </a:r>
          </a:p>
        </p:txBody>
      </p:sp>
      <p:sp>
        <p:nvSpPr>
          <p:cNvPr id="5" name="Rectangle 4"/>
          <p:cNvSpPr/>
          <p:nvPr/>
        </p:nvSpPr>
        <p:spPr>
          <a:xfrm>
            <a:off x="640080" y="1682496"/>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057400"/>
            <a:ext cx="2286000" cy="274320"/>
          </a:xfrm>
          <a:prstGeom prst="rect">
            <a:avLst/>
          </a:prstGeom>
          <a:noFill/>
        </p:spPr>
        <p:txBody>
          <a:bodyPr wrap="square" anchor="t" lIns="0" rIns="0" tIns="0" bIns="0">
            <a:spAutoFit/>
          </a:bodyPr>
          <a:lstStyle/>
          <a:p>
            <a:pPr algn="l">
              <a:spcAft>
                <a:spcPts val="0"/>
              </a:spcAft>
            </a:pPr>
            <a:r>
              <a:rPr sz="1000" b="1" i="0">
                <a:solidFill>
                  <a:srgbClr val="8A94A6"/>
                </a:solidFill>
                <a:latin typeface="Segoe UI"/>
              </a:rPr>
              <a:t/>
            </a:r>
          </a:p>
        </p:txBody>
      </p:sp>
      <p:sp>
        <p:nvSpPr>
          <p:cNvPr id="7" name="TextBox 6"/>
          <p:cNvSpPr txBox="1"/>
          <p:nvPr/>
        </p:nvSpPr>
        <p:spPr>
          <a:xfrm>
            <a:off x="2926080" y="2057400"/>
            <a:ext cx="3108960" cy="274320"/>
          </a:xfrm>
          <a:prstGeom prst="rect">
            <a:avLst/>
          </a:prstGeom>
          <a:noFill/>
        </p:spPr>
        <p:txBody>
          <a:bodyPr wrap="square" anchor="t" lIns="0" rIns="0" tIns="0" bIns="0">
            <a:spAutoFit/>
          </a:bodyPr>
          <a:lstStyle/>
          <a:p>
            <a:pPr algn="r">
              <a:spcAft>
                <a:spcPts val="0"/>
              </a:spcAft>
            </a:pPr>
            <a:r>
              <a:rPr sz="1000" b="1" i="0">
                <a:solidFill>
                  <a:srgbClr val="8A94A6"/>
                </a:solidFill>
                <a:latin typeface="Segoe UI"/>
              </a:rPr>
              <a:t>Como esta hoy</a:t>
            </a:r>
          </a:p>
        </p:txBody>
      </p:sp>
      <p:sp>
        <p:nvSpPr>
          <p:cNvPr id="8" name="TextBox 7"/>
          <p:cNvSpPr txBox="1"/>
          <p:nvPr/>
        </p:nvSpPr>
        <p:spPr>
          <a:xfrm>
            <a:off x="6035040" y="2057400"/>
            <a:ext cx="3200400" cy="274320"/>
          </a:xfrm>
          <a:prstGeom prst="rect">
            <a:avLst/>
          </a:prstGeom>
          <a:noFill/>
        </p:spPr>
        <p:txBody>
          <a:bodyPr wrap="square" anchor="t" lIns="0" rIns="0" tIns="0" bIns="0">
            <a:spAutoFit/>
          </a:bodyPr>
          <a:lstStyle/>
          <a:p>
            <a:pPr algn="r">
              <a:spcAft>
                <a:spcPts val="0"/>
              </a:spcAft>
            </a:pPr>
            <a:r>
              <a:rPr sz="1000" b="1" i="0">
                <a:solidFill>
                  <a:srgbClr val="8A94A6"/>
                </a:solidFill>
                <a:latin typeface="Segoe UI"/>
              </a:rPr>
              <a:t>Como debe ser</a:t>
            </a:r>
          </a:p>
        </p:txBody>
      </p:sp>
      <p:sp>
        <p:nvSpPr>
          <p:cNvPr id="9" name="TextBox 8"/>
          <p:cNvSpPr txBox="1"/>
          <p:nvPr/>
        </p:nvSpPr>
        <p:spPr>
          <a:xfrm>
            <a:off x="9235440" y="2057400"/>
            <a:ext cx="2286000" cy="274320"/>
          </a:xfrm>
          <a:prstGeom prst="rect">
            <a:avLst/>
          </a:prstGeom>
          <a:noFill/>
        </p:spPr>
        <p:txBody>
          <a:bodyPr wrap="square" anchor="t" lIns="0" rIns="0" tIns="0" bIns="0">
            <a:spAutoFit/>
          </a:bodyPr>
          <a:lstStyle/>
          <a:p>
            <a:pPr algn="r">
              <a:spcAft>
                <a:spcPts val="0"/>
              </a:spcAft>
            </a:pPr>
            <a:r>
              <a:rPr sz="1000" b="1" i="0">
                <a:solidFill>
                  <a:srgbClr val="8A94A6"/>
                </a:solidFill>
                <a:latin typeface="Segoe UI"/>
              </a:rPr>
              <a:t>Impacto medido</a:t>
            </a:r>
          </a:p>
        </p:txBody>
      </p:sp>
      <p:sp>
        <p:nvSpPr>
          <p:cNvPr id="10" name="Rectangle 9"/>
          <p:cNvSpPr/>
          <p:nvPr/>
        </p:nvSpPr>
        <p:spPr>
          <a:xfrm>
            <a:off x="640080" y="2350008"/>
            <a:ext cx="10881360" cy="12700"/>
          </a:xfrm>
          <a:prstGeom prst="rect">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48640" y="2404872"/>
            <a:ext cx="11064240" cy="475488"/>
          </a:xfrm>
          <a:prstGeom prst="roundRect">
            <a:avLst>
              <a:gd name="adj" fmla="val 6000"/>
            </a:avLst>
          </a:prstGeom>
          <a:solidFill>
            <a:srgbClr val="1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2441448"/>
            <a:ext cx="2286000" cy="475488"/>
          </a:xfrm>
          <a:prstGeom prst="rect">
            <a:avLst/>
          </a:prstGeom>
          <a:noFill/>
        </p:spPr>
        <p:txBody>
          <a:bodyPr wrap="square" anchor="ctr" lIns="0" rIns="0" tIns="0" bIns="0">
            <a:spAutoFit/>
          </a:bodyPr>
          <a:lstStyle/>
          <a:p>
            <a:pPr algn="l">
              <a:spcAft>
                <a:spcPts val="0"/>
              </a:spcAft>
            </a:pPr>
            <a:r>
              <a:rPr sz="1250" b="1" i="0">
                <a:solidFill>
                  <a:srgbClr val="F2F5F8"/>
                </a:solidFill>
                <a:latin typeface="Segoe UI"/>
              </a:rPr>
              <a:t>Saludo de apertura</a:t>
            </a:r>
          </a:p>
        </p:txBody>
      </p:sp>
      <p:sp>
        <p:nvSpPr>
          <p:cNvPr id="13" name="TextBox 12"/>
          <p:cNvSpPr txBox="1"/>
          <p:nvPr/>
        </p:nvSpPr>
        <p:spPr>
          <a:xfrm>
            <a:off x="2926080" y="2441448"/>
            <a:ext cx="3108960" cy="475488"/>
          </a:xfrm>
          <a:prstGeom prst="rect">
            <a:avLst/>
          </a:prstGeom>
          <a:noFill/>
        </p:spPr>
        <p:txBody>
          <a:bodyPr wrap="square" anchor="ctr" lIns="0" rIns="0" tIns="0" bIns="0">
            <a:spAutoFit/>
          </a:bodyPr>
          <a:lstStyle/>
          <a:p>
            <a:pPr algn="r">
              <a:spcAft>
                <a:spcPts val="0"/>
              </a:spcAft>
            </a:pPr>
            <a:r>
              <a:rPr sz="1250" b="0" i="0">
                <a:solidFill>
                  <a:srgbClr val="F2F5F8"/>
                </a:solidFill>
                <a:latin typeface="Segoe UI"/>
              </a:rPr>
              <a:t>"Buenas [nombre]!"</a:t>
            </a:r>
          </a:p>
        </p:txBody>
      </p:sp>
      <p:sp>
        <p:nvSpPr>
          <p:cNvPr id="14" name="TextBox 13"/>
          <p:cNvSpPr txBox="1"/>
          <p:nvPr/>
        </p:nvSpPr>
        <p:spPr>
          <a:xfrm>
            <a:off x="6035040" y="2441448"/>
            <a:ext cx="3200400" cy="475488"/>
          </a:xfrm>
          <a:prstGeom prst="rect">
            <a:avLst/>
          </a:prstGeom>
          <a:noFill/>
        </p:spPr>
        <p:txBody>
          <a:bodyPr wrap="square" anchor="ctr" lIns="0" rIns="0" tIns="0" bIns="0">
            <a:spAutoFit/>
          </a:bodyPr>
          <a:lstStyle/>
          <a:p>
            <a:pPr algn="r">
              <a:spcAft>
                <a:spcPts val="0"/>
              </a:spcAft>
            </a:pPr>
            <a:r>
              <a:rPr sz="1250" b="0" i="0">
                <a:solidFill>
                  <a:srgbClr val="F2F5F8"/>
                </a:solidFill>
                <a:latin typeface="Segoe UI"/>
              </a:rPr>
              <a:t>"[Nombre], gracias por conectar!"</a:t>
            </a:r>
          </a:p>
        </p:txBody>
      </p:sp>
      <p:sp>
        <p:nvSpPr>
          <p:cNvPr id="15" name="TextBox 14"/>
          <p:cNvSpPr txBox="1"/>
          <p:nvPr/>
        </p:nvSpPr>
        <p:spPr>
          <a:xfrm>
            <a:off x="9235440" y="2441448"/>
            <a:ext cx="2286000" cy="475488"/>
          </a:xfrm>
          <a:prstGeom prst="rect">
            <a:avLst/>
          </a:prstGeom>
          <a:noFill/>
        </p:spPr>
        <p:txBody>
          <a:bodyPr wrap="square" anchor="ctr" lIns="0" rIns="0" tIns="0" bIns="0">
            <a:spAutoFit/>
          </a:bodyPr>
          <a:lstStyle/>
          <a:p>
            <a:pPr algn="r">
              <a:spcAft>
                <a:spcPts val="0"/>
              </a:spcAft>
            </a:pPr>
            <a:r>
              <a:rPr sz="1250" b="1" i="0">
                <a:solidFill>
                  <a:srgbClr val="3DD68C"/>
                </a:solidFill>
                <a:latin typeface="Segoe UI"/>
              </a:rPr>
              <a:t>18,2% → 66,2%</a:t>
            </a:r>
          </a:p>
        </p:txBody>
      </p:sp>
      <p:sp>
        <p:nvSpPr>
          <p:cNvPr id="16" name="TextBox 15"/>
          <p:cNvSpPr txBox="1"/>
          <p:nvPr/>
        </p:nvSpPr>
        <p:spPr>
          <a:xfrm>
            <a:off x="640080" y="2916936"/>
            <a:ext cx="2286000" cy="475488"/>
          </a:xfrm>
          <a:prstGeom prst="rect">
            <a:avLst/>
          </a:prstGeom>
          <a:noFill/>
        </p:spPr>
        <p:txBody>
          <a:bodyPr wrap="square" anchor="ctr" lIns="0" rIns="0" tIns="0" bIns="0">
            <a:spAutoFit/>
          </a:bodyPr>
          <a:lstStyle/>
          <a:p>
            <a:pPr algn="l">
              <a:spcAft>
                <a:spcPts val="0"/>
              </a:spcAft>
            </a:pPr>
            <a:r>
              <a:rPr sz="1250" b="1" i="0">
                <a:solidFill>
                  <a:srgbClr val="F2F5F8"/>
                </a:solidFill>
                <a:latin typeface="Segoe UI"/>
              </a:rPr>
              <a:t>Segunda linea</a:t>
            </a:r>
          </a:p>
        </p:txBody>
      </p:sp>
      <p:sp>
        <p:nvSpPr>
          <p:cNvPr id="17" name="TextBox 16"/>
          <p:cNvSpPr txBox="1"/>
          <p:nvPr/>
        </p:nvSpPr>
        <p:spPr>
          <a:xfrm>
            <a:off x="2926080" y="2916936"/>
            <a:ext cx="3108960" cy="475488"/>
          </a:xfrm>
          <a:prstGeom prst="rect">
            <a:avLst/>
          </a:prstGeom>
          <a:noFill/>
        </p:spPr>
        <p:txBody>
          <a:bodyPr wrap="square" anchor="ctr" lIns="0" rIns="0" tIns="0" bIns="0">
            <a:spAutoFit/>
          </a:bodyPr>
          <a:lstStyle/>
          <a:p>
            <a:pPr algn="r">
              <a:spcAft>
                <a:spcPts val="0"/>
              </a:spcAft>
            </a:pPr>
            <a:r>
              <a:rPr sz="1250" b="0" i="0">
                <a:solidFill>
                  <a:srgbClr val="F2F5F8"/>
                </a:solidFill>
                <a:latin typeface="Segoe UI"/>
              </a:rPr>
              <a:t>Interpretacion del perfil</a:t>
            </a:r>
          </a:p>
        </p:txBody>
      </p:sp>
      <p:sp>
        <p:nvSpPr>
          <p:cNvPr id="18" name="TextBox 17"/>
          <p:cNvSpPr txBox="1"/>
          <p:nvPr/>
        </p:nvSpPr>
        <p:spPr>
          <a:xfrm>
            <a:off x="6035040" y="2916936"/>
            <a:ext cx="3200400" cy="475488"/>
          </a:xfrm>
          <a:prstGeom prst="rect">
            <a:avLst/>
          </a:prstGeom>
          <a:noFill/>
        </p:spPr>
        <p:txBody>
          <a:bodyPr wrap="square" anchor="ctr" lIns="0" rIns="0" tIns="0" bIns="0">
            <a:spAutoFit/>
          </a:bodyPr>
          <a:lstStyle/>
          <a:p>
            <a:pPr algn="r">
              <a:spcAft>
                <a:spcPts val="0"/>
              </a:spcAft>
            </a:pPr>
            <a:r>
              <a:rPr sz="1250" b="0" i="0">
                <a:solidFill>
                  <a:srgbClr val="F2F5F8"/>
                </a:solidFill>
                <a:latin typeface="Segoe UI"/>
              </a:rPr>
              <a:t>"Me llamo la atencion" + cita textual</a:t>
            </a:r>
          </a:p>
        </p:txBody>
      </p:sp>
      <p:sp>
        <p:nvSpPr>
          <p:cNvPr id="19" name="TextBox 18"/>
          <p:cNvSpPr txBox="1"/>
          <p:nvPr/>
        </p:nvSpPr>
        <p:spPr>
          <a:xfrm>
            <a:off x="9235440" y="2916936"/>
            <a:ext cx="2286000" cy="475488"/>
          </a:xfrm>
          <a:prstGeom prst="rect">
            <a:avLst/>
          </a:prstGeom>
          <a:noFill/>
        </p:spPr>
        <p:txBody>
          <a:bodyPr wrap="square" anchor="ctr" lIns="0" rIns="0" tIns="0" bIns="0">
            <a:spAutoFit/>
          </a:bodyPr>
          <a:lstStyle/>
          <a:p>
            <a:pPr algn="r">
              <a:spcAft>
                <a:spcPts val="0"/>
              </a:spcAft>
            </a:pPr>
            <a:r>
              <a:rPr sz="1250" b="1" i="0">
                <a:solidFill>
                  <a:srgbClr val="3DD68C"/>
                </a:solidFill>
                <a:latin typeface="Segoe UI"/>
              </a:rPr>
              <a:t>27% → 54%</a:t>
            </a:r>
          </a:p>
        </p:txBody>
      </p:sp>
      <p:sp>
        <p:nvSpPr>
          <p:cNvPr id="20" name="Rounded Rectangle 19"/>
          <p:cNvSpPr/>
          <p:nvPr/>
        </p:nvSpPr>
        <p:spPr>
          <a:xfrm>
            <a:off x="548640" y="3355848"/>
            <a:ext cx="11064240" cy="475488"/>
          </a:xfrm>
          <a:prstGeom prst="roundRect">
            <a:avLst>
              <a:gd name="adj" fmla="val 6000"/>
            </a:avLst>
          </a:prstGeom>
          <a:solidFill>
            <a:srgbClr val="1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 y="3392424"/>
            <a:ext cx="2286000" cy="475488"/>
          </a:xfrm>
          <a:prstGeom prst="rect">
            <a:avLst/>
          </a:prstGeom>
          <a:noFill/>
        </p:spPr>
        <p:txBody>
          <a:bodyPr wrap="square" anchor="ctr" lIns="0" rIns="0" tIns="0" bIns="0">
            <a:spAutoFit/>
          </a:bodyPr>
          <a:lstStyle/>
          <a:p>
            <a:pPr algn="l">
              <a:spcAft>
                <a:spcPts val="0"/>
              </a:spcAft>
            </a:pPr>
            <a:r>
              <a:rPr sz="1250" b="1" i="0">
                <a:solidFill>
                  <a:srgbClr val="F2F5F8"/>
                </a:solidFill>
                <a:latin typeface="Segoe UI"/>
              </a:rPr>
              <a:t>Mencion de Hint</a:t>
            </a:r>
          </a:p>
        </p:txBody>
      </p:sp>
      <p:sp>
        <p:nvSpPr>
          <p:cNvPr id="22" name="TextBox 21"/>
          <p:cNvSpPr txBox="1"/>
          <p:nvPr/>
        </p:nvSpPr>
        <p:spPr>
          <a:xfrm>
            <a:off x="2926080" y="3392424"/>
            <a:ext cx="3108960" cy="475488"/>
          </a:xfrm>
          <a:prstGeom prst="rect">
            <a:avLst/>
          </a:prstGeom>
          <a:noFill/>
        </p:spPr>
        <p:txBody>
          <a:bodyPr wrap="square" anchor="ctr" lIns="0" rIns="0" tIns="0" bIns="0">
            <a:spAutoFit/>
          </a:bodyPr>
          <a:lstStyle/>
          <a:p>
            <a:pPr algn="r">
              <a:spcAft>
                <a:spcPts val="0"/>
              </a:spcAft>
            </a:pPr>
            <a:r>
              <a:rPr sz="1250" b="0" i="0">
                <a:solidFill>
                  <a:srgbClr val="F2F5F8"/>
                </a:solidFill>
                <a:latin typeface="Segoe UI"/>
              </a:rPr>
              <a:t>Hint aparece en el MSG1</a:t>
            </a:r>
          </a:p>
        </p:txBody>
      </p:sp>
      <p:sp>
        <p:nvSpPr>
          <p:cNvPr id="23" name="TextBox 22"/>
          <p:cNvSpPr txBox="1"/>
          <p:nvPr/>
        </p:nvSpPr>
        <p:spPr>
          <a:xfrm>
            <a:off x="6035040" y="3392424"/>
            <a:ext cx="3200400" cy="475488"/>
          </a:xfrm>
          <a:prstGeom prst="rect">
            <a:avLst/>
          </a:prstGeom>
          <a:noFill/>
        </p:spPr>
        <p:txBody>
          <a:bodyPr wrap="square" anchor="ctr" lIns="0" rIns="0" tIns="0" bIns="0">
            <a:spAutoFit/>
          </a:bodyPr>
          <a:lstStyle/>
          <a:p>
            <a:pPr algn="r">
              <a:spcAft>
                <a:spcPts val="0"/>
              </a:spcAft>
            </a:pPr>
            <a:r>
              <a:rPr sz="1250" b="0" i="0">
                <a:solidFill>
                  <a:srgbClr val="F2F5F8"/>
                </a:solidFill>
                <a:latin typeface="Segoe UI"/>
              </a:rPr>
              <a:t>Hint recien en el MSG2</a:t>
            </a:r>
          </a:p>
        </p:txBody>
      </p:sp>
      <p:sp>
        <p:nvSpPr>
          <p:cNvPr id="24" name="TextBox 23"/>
          <p:cNvSpPr txBox="1"/>
          <p:nvPr/>
        </p:nvSpPr>
        <p:spPr>
          <a:xfrm>
            <a:off x="9235440" y="3392424"/>
            <a:ext cx="2286000" cy="475488"/>
          </a:xfrm>
          <a:prstGeom prst="rect">
            <a:avLst/>
          </a:prstGeom>
          <a:noFill/>
        </p:spPr>
        <p:txBody>
          <a:bodyPr wrap="square" anchor="ctr" lIns="0" rIns="0" tIns="0" bIns="0">
            <a:spAutoFit/>
          </a:bodyPr>
          <a:lstStyle/>
          <a:p>
            <a:pPr algn="r">
              <a:spcAft>
                <a:spcPts val="0"/>
              </a:spcAft>
            </a:pPr>
            <a:r>
              <a:rPr sz="1250" b="1" i="0">
                <a:solidFill>
                  <a:srgbClr val="3DD68C"/>
                </a:solidFill>
                <a:latin typeface="Segoe UI"/>
              </a:rPr>
              <a:t>16,0% → 59,1%</a:t>
            </a:r>
          </a:p>
        </p:txBody>
      </p:sp>
      <p:sp>
        <p:nvSpPr>
          <p:cNvPr id="25" name="TextBox 24"/>
          <p:cNvSpPr txBox="1"/>
          <p:nvPr/>
        </p:nvSpPr>
        <p:spPr>
          <a:xfrm>
            <a:off x="640080" y="3867912"/>
            <a:ext cx="2286000" cy="475488"/>
          </a:xfrm>
          <a:prstGeom prst="rect">
            <a:avLst/>
          </a:prstGeom>
          <a:noFill/>
        </p:spPr>
        <p:txBody>
          <a:bodyPr wrap="square" anchor="ctr" lIns="0" rIns="0" tIns="0" bIns="0">
            <a:spAutoFit/>
          </a:bodyPr>
          <a:lstStyle/>
          <a:p>
            <a:pPr algn="l">
              <a:spcAft>
                <a:spcPts val="0"/>
              </a:spcAft>
            </a:pPr>
            <a:r>
              <a:rPr sz="1250" b="1" i="0">
                <a:solidFill>
                  <a:srgbClr val="F2F5F8"/>
                </a:solidFill>
                <a:latin typeface="Segoe UI"/>
              </a:rPr>
              <a:t>Cierre</a:t>
            </a:r>
          </a:p>
        </p:txBody>
      </p:sp>
      <p:sp>
        <p:nvSpPr>
          <p:cNvPr id="26" name="TextBox 25"/>
          <p:cNvSpPr txBox="1"/>
          <p:nvPr/>
        </p:nvSpPr>
        <p:spPr>
          <a:xfrm>
            <a:off x="2926080" y="3867912"/>
            <a:ext cx="3108960" cy="475488"/>
          </a:xfrm>
          <a:prstGeom prst="rect">
            <a:avLst/>
          </a:prstGeom>
          <a:noFill/>
        </p:spPr>
        <p:txBody>
          <a:bodyPr wrap="square" anchor="ctr" lIns="0" rIns="0" tIns="0" bIns="0">
            <a:spAutoFit/>
          </a:bodyPr>
          <a:lstStyle/>
          <a:p>
            <a:pPr algn="r">
              <a:spcAft>
                <a:spcPts val="0"/>
              </a:spcAft>
            </a:pPr>
            <a:r>
              <a:rPr sz="1250" b="0" i="0">
                <a:solidFill>
                  <a:srgbClr val="F2F5F8"/>
                </a:solidFill>
                <a:latin typeface="Segoe UI"/>
              </a:rPr>
              <a:t>"Vale la pena que te cuente..."</a:t>
            </a:r>
          </a:p>
        </p:txBody>
      </p:sp>
      <p:sp>
        <p:nvSpPr>
          <p:cNvPr id="27" name="TextBox 26"/>
          <p:cNvSpPr txBox="1"/>
          <p:nvPr/>
        </p:nvSpPr>
        <p:spPr>
          <a:xfrm>
            <a:off x="6035040" y="3867912"/>
            <a:ext cx="3200400" cy="475488"/>
          </a:xfrm>
          <a:prstGeom prst="rect">
            <a:avLst/>
          </a:prstGeom>
          <a:noFill/>
        </p:spPr>
        <p:txBody>
          <a:bodyPr wrap="square" anchor="ctr" lIns="0" rIns="0" tIns="0" bIns="0">
            <a:spAutoFit/>
          </a:bodyPr>
          <a:lstStyle/>
          <a:p>
            <a:pPr algn="r">
              <a:spcAft>
                <a:spcPts val="0"/>
              </a:spcAft>
            </a:pPr>
            <a:r>
              <a:rPr sz="1250" b="0" i="0">
                <a:solidFill>
                  <a:srgbClr val="F2F5F8"/>
                </a:solidFill>
                <a:latin typeface="Segoe UI"/>
              </a:rPr>
              <a:t>Oferta concreta de un caso</a:t>
            </a:r>
          </a:p>
        </p:txBody>
      </p:sp>
      <p:sp>
        <p:nvSpPr>
          <p:cNvPr id="28" name="TextBox 27"/>
          <p:cNvSpPr txBox="1"/>
          <p:nvPr/>
        </p:nvSpPr>
        <p:spPr>
          <a:xfrm>
            <a:off x="9235440" y="3867912"/>
            <a:ext cx="2286000" cy="475488"/>
          </a:xfrm>
          <a:prstGeom prst="rect">
            <a:avLst/>
          </a:prstGeom>
          <a:noFill/>
        </p:spPr>
        <p:txBody>
          <a:bodyPr wrap="square" anchor="ctr" lIns="0" rIns="0" tIns="0" bIns="0">
            <a:spAutoFit/>
          </a:bodyPr>
          <a:lstStyle/>
          <a:p>
            <a:pPr algn="r">
              <a:spcAft>
                <a:spcPts val="0"/>
              </a:spcAft>
            </a:pPr>
            <a:r>
              <a:rPr sz="1250" b="1" i="0">
                <a:solidFill>
                  <a:srgbClr val="3DD68C"/>
                </a:solidFill>
                <a:latin typeface="Segoe UI"/>
              </a:rPr>
              <a:t>0,34% → 0,85% reunion</a:t>
            </a:r>
          </a:p>
        </p:txBody>
      </p:sp>
      <p:sp>
        <p:nvSpPr>
          <p:cNvPr id="29" name="Rounded Rectangle 28"/>
          <p:cNvSpPr/>
          <p:nvPr/>
        </p:nvSpPr>
        <p:spPr>
          <a:xfrm>
            <a:off x="640080" y="4251960"/>
            <a:ext cx="5303520" cy="2011680"/>
          </a:xfrm>
          <a:prstGeom prst="roundRect">
            <a:avLst>
              <a:gd name="adj" fmla="val 6000"/>
            </a:avLst>
          </a:prstGeom>
          <a:solidFill>
            <a:srgbClr val="181D25"/>
          </a:solidFill>
          <a:ln w="1524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68680" y="4389120"/>
            <a:ext cx="4846320" cy="274320"/>
          </a:xfrm>
          <a:prstGeom prst="rect">
            <a:avLst/>
          </a:prstGeom>
          <a:noFill/>
        </p:spPr>
        <p:txBody>
          <a:bodyPr wrap="square" anchor="t" lIns="0" rIns="0" tIns="0" bIns="0">
            <a:spAutoFit/>
          </a:bodyPr>
          <a:lstStyle/>
          <a:p>
            <a:pPr algn="l">
              <a:spcAft>
                <a:spcPts val="0"/>
              </a:spcAft>
            </a:pPr>
            <a:r>
              <a:rPr sz="1050" b="1" i="0">
                <a:solidFill>
                  <a:srgbClr val="F87171"/>
                </a:solidFill>
                <a:latin typeface="Segoe UI"/>
              </a:rPr>
              <a:t>HOY  ·  18% responde</a:t>
            </a:r>
          </a:p>
        </p:txBody>
      </p:sp>
      <p:sp>
        <p:nvSpPr>
          <p:cNvPr id="31" name="TextBox 30"/>
          <p:cNvSpPr txBox="1"/>
          <p:nvPr/>
        </p:nvSpPr>
        <p:spPr>
          <a:xfrm>
            <a:off x="868680" y="4754880"/>
            <a:ext cx="4846320" cy="1371600"/>
          </a:xfrm>
          <a:prstGeom prst="rect">
            <a:avLst/>
          </a:prstGeom>
          <a:noFill/>
        </p:spPr>
        <p:txBody>
          <a:bodyPr wrap="square" anchor="t" lIns="0" rIns="0" tIns="0" bIns="0">
            <a:spAutoFit/>
          </a:bodyPr>
          <a:lstStyle/>
          <a:p>
            <a:pPr algn="l">
              <a:lnSpc>
                <a:spcPct val="130000"/>
              </a:lnSpc>
              <a:spcAft>
                <a:spcPts val="0"/>
              </a:spcAft>
            </a:pPr>
            <a:r>
              <a:rPr sz="950" b="0" i="0">
                <a:solidFill>
                  <a:srgbClr val="8A94A6"/>
                </a:solidFill>
                <a:latin typeface="Segoe UI"/>
              </a:rPr>
              <a:t>Buenas Maleka, tu enfoque en la transicion energetica me</a:t>
            </a:r>
          </a:p>
          <a:p>
            <a:pPr algn="l">
              <a:lnSpc>
                <a:spcPct val="130000"/>
              </a:lnSpc>
              <a:spcAft>
                <a:spcPts val="0"/>
              </a:spcAft>
            </a:pPr>
            <a:r>
              <a:rPr sz="950" b="0" i="0">
                <a:solidFill>
                  <a:srgbClr val="8A94A6"/>
                </a:solidFill>
                <a:latin typeface="Segoe UI"/>
              </a:rPr>
              <a:t>quedo dando vueltas. No es lo que tipicamente escucha un</a:t>
            </a:r>
          </a:p>
          <a:p>
            <a:pPr algn="l">
              <a:lnSpc>
                <a:spcPct val="130000"/>
              </a:lnSpc>
              <a:spcAft>
                <a:spcPts val="0"/>
              </a:spcAft>
            </a:pPr>
            <a:r>
              <a:rPr sz="950" b="0" i="0">
                <a:solidFill>
                  <a:srgbClr val="8A94A6"/>
                </a:solidFill>
                <a:latin typeface="Segoe UI"/>
              </a:rPr>
              <a:t>ejecutivo de comercializacion.</a:t>
            </a:r>
          </a:p>
          <a:p>
            <a:pPr algn="l">
              <a:lnSpc>
                <a:spcPct val="130000"/>
              </a:lnSpc>
              <a:spcAft>
                <a:spcPts val="0"/>
              </a:spcAft>
            </a:pPr>
            <a:r>
              <a:rPr sz="950" b="0" i="0">
                <a:solidFill>
                  <a:srgbClr val="8A94A6"/>
                </a:solidFill>
                <a:latin typeface="Segoe UI"/>
              </a:rPr>
              <a:t/>
            </a:r>
          </a:p>
          <a:p>
            <a:pPr algn="l">
              <a:lnSpc>
                <a:spcPct val="130000"/>
              </a:lnSpc>
              <a:spcAft>
                <a:spcPts val="0"/>
              </a:spcAft>
            </a:pPr>
            <a:r>
              <a:rPr sz="950" b="0" i="0">
                <a:solidFill>
                  <a:srgbClr val="8A94A6"/>
                </a:solidFill>
                <a:latin typeface="Segoe UI"/>
              </a:rPr>
              <a:t>En Hint Media trabajamos con lideres comerciales en energia</a:t>
            </a:r>
          </a:p>
          <a:p>
            <a:pPr algn="l">
              <a:lnSpc>
                <a:spcPct val="130000"/>
              </a:lnSpc>
              <a:spcAft>
                <a:spcPts val="0"/>
              </a:spcAft>
            </a:pPr>
            <a:r>
              <a:rPr sz="950" b="0" i="0">
                <a:solidFill>
                  <a:srgbClr val="8A94A6"/>
                </a:solidFill>
                <a:latin typeface="Segoe UI"/>
              </a:rPr>
              <a:t>como TGS y Transener en hacer legible esa innovacion...</a:t>
            </a:r>
          </a:p>
          <a:p>
            <a:pPr algn="l">
              <a:lnSpc>
                <a:spcPct val="130000"/>
              </a:lnSpc>
              <a:spcAft>
                <a:spcPts val="0"/>
              </a:spcAft>
            </a:pPr>
            <a:r>
              <a:rPr sz="950" b="0" i="0">
                <a:solidFill>
                  <a:srgbClr val="8A94A6"/>
                </a:solidFill>
                <a:latin typeface="Segoe UI"/>
              </a:rPr>
              <a:t/>
            </a:r>
          </a:p>
          <a:p>
            <a:pPr algn="l">
              <a:lnSpc>
                <a:spcPct val="130000"/>
              </a:lnSpc>
              <a:spcAft>
                <a:spcPts val="0"/>
              </a:spcAft>
            </a:pPr>
            <a:r>
              <a:rPr sz="950" b="0" i="0">
                <a:solidFill>
                  <a:srgbClr val="8A94A6"/>
                </a:solidFill>
                <a:latin typeface="Segoe UI"/>
              </a:rPr>
              <a:t>Vale la pena que te cuente como lo trabajamos?</a:t>
            </a:r>
          </a:p>
        </p:txBody>
      </p:sp>
      <p:sp>
        <p:nvSpPr>
          <p:cNvPr id="32" name="Rounded Rectangle 31"/>
          <p:cNvSpPr/>
          <p:nvPr/>
        </p:nvSpPr>
        <p:spPr>
          <a:xfrm>
            <a:off x="6217920" y="4251960"/>
            <a:ext cx="5303520" cy="2011680"/>
          </a:xfrm>
          <a:prstGeom prst="roundRect">
            <a:avLst>
              <a:gd name="adj" fmla="val 6000"/>
            </a:avLst>
          </a:prstGeom>
          <a:solidFill>
            <a:srgbClr val="181D25"/>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46520" y="4389120"/>
            <a:ext cx="4846320" cy="274320"/>
          </a:xfrm>
          <a:prstGeom prst="rect">
            <a:avLst/>
          </a:prstGeom>
          <a:noFill/>
        </p:spPr>
        <p:txBody>
          <a:bodyPr wrap="square" anchor="t" lIns="0" rIns="0" tIns="0" bIns="0">
            <a:spAutoFit/>
          </a:bodyPr>
          <a:lstStyle/>
          <a:p>
            <a:pPr algn="l">
              <a:spcAft>
                <a:spcPts val="0"/>
              </a:spcAft>
            </a:pPr>
            <a:r>
              <a:rPr sz="1050" b="1" i="0">
                <a:solidFill>
                  <a:srgbClr val="3DD68C"/>
                </a:solidFill>
                <a:latin typeface="Segoe UI"/>
              </a:rPr>
              <a:t>PROPUESTO  ·  66% responde</a:t>
            </a:r>
          </a:p>
        </p:txBody>
      </p:sp>
      <p:sp>
        <p:nvSpPr>
          <p:cNvPr id="34" name="TextBox 33"/>
          <p:cNvSpPr txBox="1"/>
          <p:nvPr/>
        </p:nvSpPr>
        <p:spPr>
          <a:xfrm>
            <a:off x="6446520" y="4754880"/>
            <a:ext cx="4846320" cy="1371600"/>
          </a:xfrm>
          <a:prstGeom prst="rect">
            <a:avLst/>
          </a:prstGeom>
          <a:noFill/>
        </p:spPr>
        <p:txBody>
          <a:bodyPr wrap="square" anchor="t" lIns="0" rIns="0" tIns="0" bIns="0">
            <a:spAutoFit/>
          </a:bodyPr>
          <a:lstStyle/>
          <a:p>
            <a:pPr algn="l">
              <a:lnSpc>
                <a:spcPct val="130000"/>
              </a:lnSpc>
              <a:spcAft>
                <a:spcPts val="0"/>
              </a:spcAft>
            </a:pPr>
            <a:r>
              <a:rPr sz="950" b="0" i="0">
                <a:solidFill>
                  <a:srgbClr val="F2F5F8"/>
                </a:solidFill>
                <a:latin typeface="Segoe UI"/>
              </a:rPr>
              <a:t>Maleka, gracias por conectar!</a:t>
            </a:r>
          </a:p>
          <a:p>
            <a:pPr algn="l">
              <a:lnSpc>
                <a:spcPct val="130000"/>
              </a:lnSpc>
              <a:spcAft>
                <a:spcPts val="0"/>
              </a:spcAft>
            </a:pPr>
            <a:r>
              <a:rPr sz="950" b="0" i="0">
                <a:solidFill>
                  <a:srgbClr val="F2F5F8"/>
                </a:solidFill>
                <a:latin typeface="Segoe UI"/>
              </a:rPr>
              <a:t>Me llamo la atencion que te presentes desde la transicion</a:t>
            </a:r>
          </a:p>
          <a:p>
            <a:pPr algn="l">
              <a:lnSpc>
                <a:spcPct val="130000"/>
              </a:lnSpc>
              <a:spcAft>
                <a:spcPts val="0"/>
              </a:spcAft>
            </a:pPr>
            <a:r>
              <a:rPr sz="950" b="0" i="0">
                <a:solidFill>
                  <a:srgbClr val="F2F5F8"/>
                </a:solidFill>
                <a:latin typeface="Segoe UI"/>
              </a:rPr>
              <a:t>energetica y no desde la cartera, estando en comercializacion.</a:t>
            </a:r>
          </a:p>
          <a:p>
            <a:pPr algn="l">
              <a:lnSpc>
                <a:spcPct val="130000"/>
              </a:lnSpc>
              <a:spcAft>
                <a:spcPts val="0"/>
              </a:spcAft>
            </a:pPr>
            <a:r>
              <a:rPr sz="950" b="0" i="0">
                <a:solidFill>
                  <a:srgbClr val="F2F5F8"/>
                </a:solidFill>
                <a:latin typeface="Segoe UI"/>
              </a:rPr>
              <a:t/>
            </a:r>
          </a:p>
          <a:p>
            <a:pPr algn="l">
              <a:lnSpc>
                <a:spcPct val="130000"/>
              </a:lnSpc>
              <a:spcAft>
                <a:spcPts val="0"/>
              </a:spcAft>
            </a:pPr>
            <a:r>
              <a:rPr sz="950" b="0" i="0">
                <a:solidFill>
                  <a:srgbClr val="F2F5F8"/>
                </a:solidFill>
                <a:latin typeface="Segoe UI"/>
              </a:rPr>
              <a:t>En Hint Media hacemos la comunicacion de TGS y Transener.</a:t>
            </a:r>
          </a:p>
          <a:p>
            <a:pPr algn="l">
              <a:lnSpc>
                <a:spcPct val="130000"/>
              </a:lnSpc>
              <a:spcAft>
                <a:spcPts val="0"/>
              </a:spcAft>
            </a:pPr>
            <a:r>
              <a:rPr sz="950" b="0" i="0">
                <a:solidFill>
                  <a:srgbClr val="F2F5F8"/>
                </a:solidFill>
                <a:latin typeface="Segoe UI"/>
              </a:rPr>
              <a:t>Con Transener trabajamos la voceria de su gerencia.</a:t>
            </a:r>
          </a:p>
          <a:p>
            <a:pPr algn="l">
              <a:lnSpc>
                <a:spcPct val="130000"/>
              </a:lnSpc>
              <a:spcAft>
                <a:spcPts val="0"/>
              </a:spcAft>
            </a:pPr>
            <a:r>
              <a:rPr sz="950" b="0" i="0">
                <a:solidFill>
                  <a:srgbClr val="F2F5F8"/>
                </a:solidFill>
                <a:latin typeface="Segoe UI"/>
              </a:rPr>
              <a:t/>
            </a:r>
          </a:p>
          <a:p>
            <a:pPr algn="l">
              <a:lnSpc>
                <a:spcPct val="130000"/>
              </a:lnSpc>
              <a:spcAft>
                <a:spcPts val="0"/>
              </a:spcAft>
            </a:pPr>
            <a:r>
              <a:rPr sz="950" b="0" i="0">
                <a:solidFill>
                  <a:srgbClr val="F2F5F8"/>
                </a:solidFill>
                <a:latin typeface="Segoe UI"/>
              </a:rPr>
              <a:t>Es el caso mas parecido a lo que haces vos. Te lo comparto?</a:t>
            </a:r>
          </a:p>
        </p:txBody>
      </p:sp>
      <p:sp>
        <p:nvSpPr>
          <p:cNvPr id="35" name="TextBox 34"/>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36" name="TextBox 35"/>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CORRECCION INMEDIATA  ·  2</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Tres toques en LinkedIn, no uno. Y no mas de tres.</a:t>
            </a:r>
          </a:p>
        </p:txBody>
      </p:sp>
      <p:sp>
        <p:nvSpPr>
          <p:cNvPr id="4" name="TextBox 3"/>
          <p:cNvSpPr txBox="1"/>
          <p:nvPr/>
        </p:nvSpPr>
        <p:spPr>
          <a:xfrm>
            <a:off x="640080" y="1261872"/>
            <a:ext cx="10972800" cy="365760"/>
          </a:xfrm>
          <a:prstGeom prst="rect">
            <a:avLst/>
          </a:prstGeom>
          <a:noFill/>
        </p:spPr>
        <p:txBody>
          <a:bodyPr wrap="square" anchor="t" lIns="0" rIns="0" tIns="0" bIns="0">
            <a:spAutoFit/>
          </a:bodyPr>
          <a:lstStyle/>
          <a:p>
            <a:pPr algn="l">
              <a:spcAft>
                <a:spcPts val="0"/>
              </a:spcAft>
            </a:pPr>
            <a:r>
              <a:rPr sz="1300" b="0" i="0">
                <a:solidFill>
                  <a:srgbClr val="8A94A6"/>
                </a:solidFill>
                <a:latin typeface="Segoe UI"/>
              </a:rPr>
              <a:t>Medido sobre 13,2 millones de mensajes de LinkedIn (Expandi, 2026)</a:t>
            </a:r>
          </a:p>
        </p:txBody>
      </p:sp>
      <p:sp>
        <p:nvSpPr>
          <p:cNvPr id="5" name="Rectangle 4"/>
          <p:cNvSpPr/>
          <p:nvPr/>
        </p:nvSpPr>
        <p:spPr>
          <a:xfrm>
            <a:off x="640080" y="1682496"/>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103120"/>
            <a:ext cx="3931920" cy="274320"/>
          </a:xfrm>
          <a:prstGeom prst="rect">
            <a:avLst/>
          </a:prstGeom>
          <a:noFill/>
        </p:spPr>
        <p:txBody>
          <a:bodyPr wrap="square" anchor="t" lIns="0" rIns="0" tIns="0" bIns="0">
            <a:spAutoFit/>
          </a:bodyPr>
          <a:lstStyle/>
          <a:p>
            <a:pPr algn="l">
              <a:spcAft>
                <a:spcPts val="0"/>
              </a:spcAft>
            </a:pPr>
            <a:r>
              <a:rPr sz="1000" b="1" i="0">
                <a:solidFill>
                  <a:srgbClr val="8A94A6"/>
                </a:solidFill>
                <a:latin typeface="Segoe UI"/>
              </a:rPr>
              <a:t>Cantidad de toques</a:t>
            </a:r>
          </a:p>
        </p:txBody>
      </p:sp>
      <p:sp>
        <p:nvSpPr>
          <p:cNvPr id="7" name="TextBox 6"/>
          <p:cNvSpPr txBox="1"/>
          <p:nvPr/>
        </p:nvSpPr>
        <p:spPr>
          <a:xfrm>
            <a:off x="4572000" y="2103120"/>
            <a:ext cx="3291840" cy="274320"/>
          </a:xfrm>
          <a:prstGeom prst="rect">
            <a:avLst/>
          </a:prstGeom>
          <a:noFill/>
        </p:spPr>
        <p:txBody>
          <a:bodyPr wrap="square" anchor="t" lIns="0" rIns="0" tIns="0" bIns="0">
            <a:spAutoFit/>
          </a:bodyPr>
          <a:lstStyle/>
          <a:p>
            <a:pPr algn="r">
              <a:spcAft>
                <a:spcPts val="0"/>
              </a:spcAft>
            </a:pPr>
            <a:r>
              <a:rPr sz="1000" b="1" i="0">
                <a:solidFill>
                  <a:srgbClr val="8A94A6"/>
                </a:solidFill>
                <a:latin typeface="Segoe UI"/>
              </a:rPr>
              <a:t>Efecto sobre la respuesta</a:t>
            </a:r>
          </a:p>
        </p:txBody>
      </p:sp>
      <p:sp>
        <p:nvSpPr>
          <p:cNvPr id="8" name="TextBox 7"/>
          <p:cNvSpPr txBox="1"/>
          <p:nvPr/>
        </p:nvSpPr>
        <p:spPr>
          <a:xfrm>
            <a:off x="7863840" y="2103120"/>
            <a:ext cx="3657600" cy="274320"/>
          </a:xfrm>
          <a:prstGeom prst="rect">
            <a:avLst/>
          </a:prstGeom>
          <a:noFill/>
        </p:spPr>
        <p:txBody>
          <a:bodyPr wrap="square" anchor="t" lIns="0" rIns="0" tIns="0" bIns="0">
            <a:spAutoFit/>
          </a:bodyPr>
          <a:lstStyle/>
          <a:p>
            <a:pPr algn="r">
              <a:spcAft>
                <a:spcPts val="0"/>
              </a:spcAft>
            </a:pPr>
            <a:r>
              <a:rPr sz="1000" b="1" i="0">
                <a:solidFill>
                  <a:srgbClr val="8A94A6"/>
                </a:solidFill>
                <a:latin typeface="Segoe UI"/>
              </a:rPr>
              <a:t>Lectura</a:t>
            </a:r>
          </a:p>
        </p:txBody>
      </p:sp>
      <p:sp>
        <p:nvSpPr>
          <p:cNvPr id="9" name="Rectangle 8"/>
          <p:cNvSpPr/>
          <p:nvPr/>
        </p:nvSpPr>
        <p:spPr>
          <a:xfrm>
            <a:off x="640080" y="2395728"/>
            <a:ext cx="10881360" cy="12700"/>
          </a:xfrm>
          <a:prstGeom prst="rect">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548640" y="2450592"/>
            <a:ext cx="11064240" cy="457200"/>
          </a:xfrm>
          <a:prstGeom prst="roundRect">
            <a:avLst>
              <a:gd name="adj" fmla="val 6000"/>
            </a:avLst>
          </a:prstGeom>
          <a:solidFill>
            <a:srgbClr val="1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2487168"/>
            <a:ext cx="3931920" cy="457200"/>
          </a:xfrm>
          <a:prstGeom prst="rect">
            <a:avLst/>
          </a:prstGeom>
          <a:noFill/>
        </p:spPr>
        <p:txBody>
          <a:bodyPr wrap="square" anchor="ctr" lIns="0" rIns="0" tIns="0" bIns="0">
            <a:spAutoFit/>
          </a:bodyPr>
          <a:lstStyle/>
          <a:p>
            <a:pPr algn="l">
              <a:spcAft>
                <a:spcPts val="0"/>
              </a:spcAft>
            </a:pPr>
            <a:r>
              <a:rPr sz="1300" b="1" i="0">
                <a:solidFill>
                  <a:srgbClr val="F2F5F8"/>
                </a:solidFill>
                <a:latin typeface="Segoe UI"/>
              </a:rPr>
              <a:t>1 mensaje (lo que hacemos hoy)</a:t>
            </a:r>
          </a:p>
        </p:txBody>
      </p:sp>
      <p:sp>
        <p:nvSpPr>
          <p:cNvPr id="12" name="TextBox 11"/>
          <p:cNvSpPr txBox="1"/>
          <p:nvPr/>
        </p:nvSpPr>
        <p:spPr>
          <a:xfrm>
            <a:off x="4572000" y="2487168"/>
            <a:ext cx="3291840" cy="457200"/>
          </a:xfrm>
          <a:prstGeom prst="rect">
            <a:avLst/>
          </a:prstGeom>
          <a:noFill/>
        </p:spPr>
        <p:txBody>
          <a:bodyPr wrap="square" anchor="ctr" lIns="0" rIns="0" tIns="0" bIns="0">
            <a:spAutoFit/>
          </a:bodyPr>
          <a:lstStyle/>
          <a:p>
            <a:pPr algn="r">
              <a:spcAft>
                <a:spcPts val="0"/>
              </a:spcAft>
            </a:pPr>
            <a:r>
              <a:rPr sz="1300" b="1" i="0">
                <a:solidFill>
                  <a:srgbClr val="8A94A6"/>
                </a:solidFill>
                <a:latin typeface="Segoe UI"/>
              </a:rPr>
              <a:t>base</a:t>
            </a:r>
          </a:p>
        </p:txBody>
      </p:sp>
      <p:sp>
        <p:nvSpPr>
          <p:cNvPr id="13" name="TextBox 12"/>
          <p:cNvSpPr txBox="1"/>
          <p:nvPr/>
        </p:nvSpPr>
        <p:spPr>
          <a:xfrm>
            <a:off x="7863840" y="2487168"/>
            <a:ext cx="3657600" cy="457200"/>
          </a:xfrm>
          <a:prstGeom prst="rect">
            <a:avLst/>
          </a:prstGeom>
          <a:noFill/>
        </p:spPr>
        <p:txBody>
          <a:bodyPr wrap="square" anchor="ctr" lIns="0" rIns="0" tIns="0" bIns="0">
            <a:spAutoFit/>
          </a:bodyPr>
          <a:lstStyle/>
          <a:p>
            <a:pPr algn="r">
              <a:spcAft>
                <a:spcPts val="0"/>
              </a:spcAft>
            </a:pPr>
            <a:r>
              <a:rPr sz="1300" b="0" i="0">
                <a:solidFill>
                  <a:srgbClr val="F2F5F8"/>
                </a:solidFill>
                <a:latin typeface="Segoe UI"/>
              </a:rPr>
              <a:t>93,7% de septiembre quedo aca</a:t>
            </a:r>
          </a:p>
        </p:txBody>
      </p:sp>
      <p:sp>
        <p:nvSpPr>
          <p:cNvPr id="14" name="TextBox 13"/>
          <p:cNvSpPr txBox="1"/>
          <p:nvPr/>
        </p:nvSpPr>
        <p:spPr>
          <a:xfrm>
            <a:off x="640080" y="2944368"/>
            <a:ext cx="3931920" cy="457200"/>
          </a:xfrm>
          <a:prstGeom prst="rect">
            <a:avLst/>
          </a:prstGeom>
          <a:noFill/>
        </p:spPr>
        <p:txBody>
          <a:bodyPr wrap="square" anchor="ctr" lIns="0" rIns="0" tIns="0" bIns="0">
            <a:spAutoFit/>
          </a:bodyPr>
          <a:lstStyle/>
          <a:p>
            <a:pPr algn="l">
              <a:spcAft>
                <a:spcPts val="0"/>
              </a:spcAft>
            </a:pPr>
            <a:r>
              <a:rPr sz="1300" b="1" i="0">
                <a:solidFill>
                  <a:srgbClr val="F2F5F8"/>
                </a:solidFill>
                <a:latin typeface="Segoe UI"/>
              </a:rPr>
              <a:t>+ primer follow-up</a:t>
            </a:r>
          </a:p>
        </p:txBody>
      </p:sp>
      <p:sp>
        <p:nvSpPr>
          <p:cNvPr id="15" name="TextBox 14"/>
          <p:cNvSpPr txBox="1"/>
          <p:nvPr/>
        </p:nvSpPr>
        <p:spPr>
          <a:xfrm>
            <a:off x="4572000" y="2944368"/>
            <a:ext cx="3291840" cy="457200"/>
          </a:xfrm>
          <a:prstGeom prst="rect">
            <a:avLst/>
          </a:prstGeom>
          <a:noFill/>
        </p:spPr>
        <p:txBody>
          <a:bodyPr wrap="square" anchor="ctr" lIns="0" rIns="0" tIns="0" bIns="0">
            <a:spAutoFit/>
          </a:bodyPr>
          <a:lstStyle/>
          <a:p>
            <a:pPr algn="r">
              <a:spcAft>
                <a:spcPts val="0"/>
              </a:spcAft>
            </a:pPr>
            <a:r>
              <a:rPr sz="1300" b="1" i="0">
                <a:solidFill>
                  <a:srgbClr val="F87171"/>
                </a:solidFill>
                <a:latin typeface="Segoe UI"/>
              </a:rPr>
              <a:t>-0,6%</a:t>
            </a:r>
          </a:p>
        </p:txBody>
      </p:sp>
      <p:sp>
        <p:nvSpPr>
          <p:cNvPr id="16" name="TextBox 15"/>
          <p:cNvSpPr txBox="1"/>
          <p:nvPr/>
        </p:nvSpPr>
        <p:spPr>
          <a:xfrm>
            <a:off x="7863840" y="2944368"/>
            <a:ext cx="3657600" cy="457200"/>
          </a:xfrm>
          <a:prstGeom prst="rect">
            <a:avLst/>
          </a:prstGeom>
          <a:noFill/>
        </p:spPr>
        <p:txBody>
          <a:bodyPr wrap="square" anchor="ctr" lIns="0" rIns="0" tIns="0" bIns="0">
            <a:spAutoFit/>
          </a:bodyPr>
          <a:lstStyle/>
          <a:p>
            <a:pPr algn="r">
              <a:spcAft>
                <a:spcPts val="0"/>
              </a:spcAft>
            </a:pPr>
            <a:r>
              <a:rPr sz="1300" b="0" i="0">
                <a:solidFill>
                  <a:srgbClr val="F2F5F8"/>
                </a:solidFill>
                <a:latin typeface="Segoe UI"/>
              </a:rPr>
              <a:t>Rinde peor que no mandar nada</a:t>
            </a:r>
          </a:p>
        </p:txBody>
      </p:sp>
      <p:sp>
        <p:nvSpPr>
          <p:cNvPr id="17" name="Rounded Rectangle 16"/>
          <p:cNvSpPr/>
          <p:nvPr/>
        </p:nvSpPr>
        <p:spPr>
          <a:xfrm>
            <a:off x="548640" y="3364992"/>
            <a:ext cx="11064240" cy="457200"/>
          </a:xfrm>
          <a:prstGeom prst="roundRect">
            <a:avLst>
              <a:gd name="adj" fmla="val 6000"/>
            </a:avLst>
          </a:prstGeom>
          <a:solidFill>
            <a:srgbClr val="1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3401568"/>
            <a:ext cx="3931920" cy="457200"/>
          </a:xfrm>
          <a:prstGeom prst="rect">
            <a:avLst/>
          </a:prstGeom>
          <a:noFill/>
        </p:spPr>
        <p:txBody>
          <a:bodyPr wrap="square" anchor="ctr" lIns="0" rIns="0" tIns="0" bIns="0">
            <a:spAutoFit/>
          </a:bodyPr>
          <a:lstStyle/>
          <a:p>
            <a:pPr algn="l">
              <a:spcAft>
                <a:spcPts val="0"/>
              </a:spcAft>
            </a:pPr>
            <a:r>
              <a:rPr sz="1300" b="1" i="0">
                <a:solidFill>
                  <a:srgbClr val="F2F5F8"/>
                </a:solidFill>
                <a:latin typeface="Segoe UI"/>
              </a:rPr>
              <a:t>+ segundo follow-up</a:t>
            </a:r>
          </a:p>
        </p:txBody>
      </p:sp>
      <p:sp>
        <p:nvSpPr>
          <p:cNvPr id="19" name="TextBox 18"/>
          <p:cNvSpPr txBox="1"/>
          <p:nvPr/>
        </p:nvSpPr>
        <p:spPr>
          <a:xfrm>
            <a:off x="4572000" y="3401568"/>
            <a:ext cx="3291840" cy="457200"/>
          </a:xfrm>
          <a:prstGeom prst="rect">
            <a:avLst/>
          </a:prstGeom>
          <a:noFill/>
        </p:spPr>
        <p:txBody>
          <a:bodyPr wrap="square" anchor="ctr" lIns="0" rIns="0" tIns="0" bIns="0">
            <a:spAutoFit/>
          </a:bodyPr>
          <a:lstStyle/>
          <a:p>
            <a:pPr algn="r">
              <a:spcAft>
                <a:spcPts val="0"/>
              </a:spcAft>
            </a:pPr>
            <a:r>
              <a:rPr sz="1300" b="1" i="0">
                <a:solidFill>
                  <a:srgbClr val="3DD68C"/>
                </a:solidFill>
                <a:latin typeface="Segoe UI"/>
              </a:rPr>
              <a:t>+4,05%</a:t>
            </a:r>
          </a:p>
        </p:txBody>
      </p:sp>
      <p:sp>
        <p:nvSpPr>
          <p:cNvPr id="20" name="TextBox 19"/>
          <p:cNvSpPr txBox="1"/>
          <p:nvPr/>
        </p:nvSpPr>
        <p:spPr>
          <a:xfrm>
            <a:off x="7863840" y="3401568"/>
            <a:ext cx="3657600" cy="457200"/>
          </a:xfrm>
          <a:prstGeom prst="rect">
            <a:avLst/>
          </a:prstGeom>
          <a:noFill/>
        </p:spPr>
        <p:txBody>
          <a:bodyPr wrap="square" anchor="ctr" lIns="0" rIns="0" tIns="0" bIns="0">
            <a:spAutoFit/>
          </a:bodyPr>
          <a:lstStyle/>
          <a:p>
            <a:pPr algn="r">
              <a:spcAft>
                <a:spcPts val="0"/>
              </a:spcAft>
            </a:pPr>
            <a:r>
              <a:rPr sz="1300" b="0" i="0">
                <a:solidFill>
                  <a:srgbClr val="F2F5F8"/>
                </a:solidFill>
                <a:latin typeface="Segoe UI"/>
              </a:rPr>
              <a:t>Aca esta todo el valor</a:t>
            </a:r>
          </a:p>
        </p:txBody>
      </p:sp>
      <p:sp>
        <p:nvSpPr>
          <p:cNvPr id="21" name="TextBox 20"/>
          <p:cNvSpPr txBox="1"/>
          <p:nvPr/>
        </p:nvSpPr>
        <p:spPr>
          <a:xfrm>
            <a:off x="640080" y="3858768"/>
            <a:ext cx="3931920" cy="457200"/>
          </a:xfrm>
          <a:prstGeom prst="rect">
            <a:avLst/>
          </a:prstGeom>
          <a:noFill/>
        </p:spPr>
        <p:txBody>
          <a:bodyPr wrap="square" anchor="ctr" lIns="0" rIns="0" tIns="0" bIns="0">
            <a:spAutoFit/>
          </a:bodyPr>
          <a:lstStyle/>
          <a:p>
            <a:pPr algn="l">
              <a:spcAft>
                <a:spcPts val="0"/>
              </a:spcAft>
            </a:pPr>
            <a:r>
              <a:rPr sz="1300" b="1" i="0">
                <a:solidFill>
                  <a:srgbClr val="F2F5F8"/>
                </a:solidFill>
                <a:latin typeface="Segoe UI"/>
              </a:rPr>
              <a:t>3 mensajes en total</a:t>
            </a:r>
          </a:p>
        </p:txBody>
      </p:sp>
      <p:sp>
        <p:nvSpPr>
          <p:cNvPr id="22" name="TextBox 21"/>
          <p:cNvSpPr txBox="1"/>
          <p:nvPr/>
        </p:nvSpPr>
        <p:spPr>
          <a:xfrm>
            <a:off x="4572000" y="3858768"/>
            <a:ext cx="3291840" cy="457200"/>
          </a:xfrm>
          <a:prstGeom prst="rect">
            <a:avLst/>
          </a:prstGeom>
          <a:noFill/>
        </p:spPr>
        <p:txBody>
          <a:bodyPr wrap="square" anchor="ctr" lIns="0" rIns="0" tIns="0" bIns="0">
            <a:spAutoFit/>
          </a:bodyPr>
          <a:lstStyle/>
          <a:p>
            <a:pPr algn="r">
              <a:spcAft>
                <a:spcPts val="0"/>
              </a:spcAft>
            </a:pPr>
            <a:r>
              <a:rPr sz="1300" b="1" i="0">
                <a:solidFill>
                  <a:srgbClr val="3DD68C"/>
                </a:solidFill>
                <a:latin typeface="Segoe UI"/>
              </a:rPr>
              <a:t>9,8% de respuesta</a:t>
            </a:r>
          </a:p>
        </p:txBody>
      </p:sp>
      <p:sp>
        <p:nvSpPr>
          <p:cNvPr id="23" name="TextBox 22"/>
          <p:cNvSpPr txBox="1"/>
          <p:nvPr/>
        </p:nvSpPr>
        <p:spPr>
          <a:xfrm>
            <a:off x="7863840" y="3858768"/>
            <a:ext cx="3657600" cy="457200"/>
          </a:xfrm>
          <a:prstGeom prst="rect">
            <a:avLst/>
          </a:prstGeom>
          <a:noFill/>
        </p:spPr>
        <p:txBody>
          <a:bodyPr wrap="square" anchor="ctr" lIns="0" rIns="0" tIns="0" bIns="0">
            <a:spAutoFit/>
          </a:bodyPr>
          <a:lstStyle/>
          <a:p>
            <a:pPr algn="r">
              <a:spcAft>
                <a:spcPts val="0"/>
              </a:spcAft>
            </a:pPr>
            <a:r>
              <a:rPr sz="1300" b="0" i="0">
                <a:solidFill>
                  <a:srgbClr val="F2F5F8"/>
                </a:solidFill>
                <a:latin typeface="Segoe UI"/>
              </a:rPr>
              <a:t>El optimo</a:t>
            </a:r>
          </a:p>
        </p:txBody>
      </p:sp>
      <p:sp>
        <p:nvSpPr>
          <p:cNvPr id="24" name="Rounded Rectangle 23"/>
          <p:cNvSpPr/>
          <p:nvPr/>
        </p:nvSpPr>
        <p:spPr>
          <a:xfrm>
            <a:off x="548640" y="4279392"/>
            <a:ext cx="11064240" cy="457200"/>
          </a:xfrm>
          <a:prstGeom prst="roundRect">
            <a:avLst>
              <a:gd name="adj" fmla="val 6000"/>
            </a:avLst>
          </a:prstGeom>
          <a:solidFill>
            <a:srgbClr val="1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315968"/>
            <a:ext cx="3931920" cy="457200"/>
          </a:xfrm>
          <a:prstGeom prst="rect">
            <a:avLst/>
          </a:prstGeom>
          <a:noFill/>
        </p:spPr>
        <p:txBody>
          <a:bodyPr wrap="square" anchor="ctr" lIns="0" rIns="0" tIns="0" bIns="0">
            <a:spAutoFit/>
          </a:bodyPr>
          <a:lstStyle/>
          <a:p>
            <a:pPr algn="l">
              <a:spcAft>
                <a:spcPts val="0"/>
              </a:spcAft>
            </a:pPr>
            <a:r>
              <a:rPr sz="1300" b="1" i="0">
                <a:solidFill>
                  <a:srgbClr val="F2F5F8"/>
                </a:solidFill>
                <a:latin typeface="Segoe UI"/>
              </a:rPr>
              <a:t>5 o mas</a:t>
            </a:r>
          </a:p>
        </p:txBody>
      </p:sp>
      <p:sp>
        <p:nvSpPr>
          <p:cNvPr id="26" name="TextBox 25"/>
          <p:cNvSpPr txBox="1"/>
          <p:nvPr/>
        </p:nvSpPr>
        <p:spPr>
          <a:xfrm>
            <a:off x="4572000" y="4315968"/>
            <a:ext cx="3291840" cy="457200"/>
          </a:xfrm>
          <a:prstGeom prst="rect">
            <a:avLst/>
          </a:prstGeom>
          <a:noFill/>
        </p:spPr>
        <p:txBody>
          <a:bodyPr wrap="square" anchor="ctr" lIns="0" rIns="0" tIns="0" bIns="0">
            <a:spAutoFit/>
          </a:bodyPr>
          <a:lstStyle/>
          <a:p>
            <a:pPr algn="r">
              <a:spcAft>
                <a:spcPts val="0"/>
              </a:spcAft>
            </a:pPr>
            <a:r>
              <a:rPr sz="1300" b="1" i="0">
                <a:solidFill>
                  <a:srgbClr val="F87171"/>
                </a:solidFill>
                <a:latin typeface="Segoe UI"/>
              </a:rPr>
              <a:t>5,0%</a:t>
            </a:r>
          </a:p>
        </p:txBody>
      </p:sp>
      <p:sp>
        <p:nvSpPr>
          <p:cNvPr id="27" name="TextBox 26"/>
          <p:cNvSpPr txBox="1"/>
          <p:nvPr/>
        </p:nvSpPr>
        <p:spPr>
          <a:xfrm>
            <a:off x="7863840" y="4315968"/>
            <a:ext cx="3657600" cy="457200"/>
          </a:xfrm>
          <a:prstGeom prst="rect">
            <a:avLst/>
          </a:prstGeom>
          <a:noFill/>
        </p:spPr>
        <p:txBody>
          <a:bodyPr wrap="square" anchor="ctr" lIns="0" rIns="0" tIns="0" bIns="0">
            <a:spAutoFit/>
          </a:bodyPr>
          <a:lstStyle/>
          <a:p>
            <a:pPr algn="r">
              <a:spcAft>
                <a:spcPts val="0"/>
              </a:spcAft>
            </a:pPr>
            <a:r>
              <a:rPr sz="1300" b="0" i="0">
                <a:solidFill>
                  <a:srgbClr val="F2F5F8"/>
                </a:solidFill>
                <a:latin typeface="Segoe UI"/>
              </a:rPr>
              <a:t>Peor que un solo mensaje</a:t>
            </a:r>
          </a:p>
        </p:txBody>
      </p:sp>
      <p:sp>
        <p:nvSpPr>
          <p:cNvPr id="28" name="Rounded Rectangle 27"/>
          <p:cNvSpPr/>
          <p:nvPr/>
        </p:nvSpPr>
        <p:spPr>
          <a:xfrm>
            <a:off x="640080" y="4663440"/>
            <a:ext cx="5303520" cy="1600200"/>
          </a:xfrm>
          <a:prstGeom prst="roundRect">
            <a:avLst>
              <a:gd name="adj" fmla="val 6000"/>
            </a:avLst>
          </a:prstGeom>
          <a:solidFill>
            <a:srgbClr val="181D25"/>
          </a:solidFill>
          <a:ln w="1524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68680" y="4828032"/>
            <a:ext cx="4846320" cy="1371600"/>
          </a:xfrm>
          <a:prstGeom prst="rect">
            <a:avLst/>
          </a:prstGeom>
          <a:noFill/>
        </p:spPr>
        <p:txBody>
          <a:bodyPr wrap="square" anchor="t" lIns="0" rIns="0" tIns="0" bIns="0">
            <a:spAutoFit/>
          </a:bodyPr>
          <a:lstStyle/>
          <a:p>
            <a:pPr algn="l">
              <a:lnSpc>
                <a:spcPct val="135000"/>
              </a:lnSpc>
              <a:spcAft>
                <a:spcPts val="0"/>
              </a:spcAft>
            </a:pPr>
            <a:r>
              <a:rPr sz="1200" b="0" i="0">
                <a:solidFill>
                  <a:srgbClr val="F2F5F8"/>
                </a:solidFill>
                <a:latin typeface="Segoe UI"/>
              </a:rPr>
              <a:t>CORRECCION DE ESTE INFORME</a:t>
            </a:r>
          </a:p>
          <a:p>
            <a:pPr algn="l">
              <a:lnSpc>
                <a:spcPct val="135000"/>
              </a:lnSpc>
              <a:spcAft>
                <a:spcPts val="0"/>
              </a:spcAft>
            </a:pPr>
            <a:r>
              <a:rPr sz="1200" b="0" i="0">
                <a:solidFill>
                  <a:srgbClr val="F2F5F8"/>
                </a:solidFill>
                <a:latin typeface="Segoe UI"/>
              </a:rPr>
              <a:t/>
            </a:r>
          </a:p>
          <a:p>
            <a:pPr algn="l">
              <a:lnSpc>
                <a:spcPct val="135000"/>
              </a:lnSpc>
              <a:spcAft>
                <a:spcPts val="0"/>
              </a:spcAft>
            </a:pPr>
            <a:r>
              <a:rPr sz="1200" b="0" i="0">
                <a:solidFill>
                  <a:srgbClr val="F2F5F8"/>
                </a:solidFill>
                <a:latin typeface="Segoe UI"/>
              </a:rPr>
              <a:t>La version anterior recomendaba 7 toques citando el</a:t>
            </a:r>
          </a:p>
          <a:p>
            <a:pPr algn="l">
              <a:lnSpc>
                <a:spcPct val="135000"/>
              </a:lnSpc>
              <a:spcAft>
                <a:spcPts val="0"/>
              </a:spcAft>
            </a:pPr>
            <a:r>
              <a:rPr sz="1200" b="0" i="0">
                <a:solidFill>
                  <a:srgbClr val="F2F5F8"/>
                </a:solidFill>
                <a:latin typeface="Segoe UI"/>
              </a:rPr>
              <a:t>benchmark de 6 a 12. Ese numero es MULTICANAL:</a:t>
            </a:r>
          </a:p>
          <a:p>
            <a:pPr algn="l">
              <a:lnSpc>
                <a:spcPct val="135000"/>
              </a:lnSpc>
              <a:spcAft>
                <a:spcPts val="0"/>
              </a:spcAft>
            </a:pPr>
            <a:r>
              <a:rPr sz="1200" b="0" i="0">
                <a:solidFill>
                  <a:srgbClr val="F2F5F8"/>
                </a:solidFill>
                <a:latin typeface="Segoe UI"/>
              </a:rPr>
              <a:t>LinkedIn mas mail mas telefono.</a:t>
            </a:r>
          </a:p>
          <a:p>
            <a:pPr algn="l">
              <a:lnSpc>
                <a:spcPct val="135000"/>
              </a:lnSpc>
              <a:spcAft>
                <a:spcPts val="0"/>
              </a:spcAft>
            </a:pPr>
            <a:r>
              <a:rPr sz="1200" b="0" i="0">
                <a:solidFill>
                  <a:srgbClr val="F2F5F8"/>
                </a:solidFill>
                <a:latin typeface="Segoe UI"/>
              </a:rPr>
              <a:t/>
            </a:r>
          </a:p>
          <a:p>
            <a:pPr algn="l">
              <a:lnSpc>
                <a:spcPct val="135000"/>
              </a:lnSpc>
              <a:spcAft>
                <a:spcPts val="0"/>
              </a:spcAft>
            </a:pPr>
            <a:r>
              <a:rPr sz="1200" b="0" i="0">
                <a:solidFill>
                  <a:srgbClr val="F2F5F8"/>
                </a:solidFill>
                <a:latin typeface="Segoe UI"/>
              </a:rPr>
              <a:t>Dentro de LinkedIn solo, pasar de 3 destruye.</a:t>
            </a:r>
          </a:p>
        </p:txBody>
      </p:sp>
      <p:sp>
        <p:nvSpPr>
          <p:cNvPr id="30" name="Rounded Rectangle 29"/>
          <p:cNvSpPr/>
          <p:nvPr/>
        </p:nvSpPr>
        <p:spPr>
          <a:xfrm>
            <a:off x="6217920" y="4663440"/>
            <a:ext cx="5303520" cy="1600200"/>
          </a:xfrm>
          <a:prstGeom prst="roundRect">
            <a:avLst>
              <a:gd name="adj" fmla="val 6000"/>
            </a:avLst>
          </a:prstGeom>
          <a:solidFill>
            <a:srgbClr val="181D25"/>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46520" y="4828032"/>
            <a:ext cx="4846320" cy="1371600"/>
          </a:xfrm>
          <a:prstGeom prst="rect">
            <a:avLst/>
          </a:prstGeom>
          <a:noFill/>
        </p:spPr>
        <p:txBody>
          <a:bodyPr wrap="square" anchor="t" lIns="0" rIns="0" tIns="0" bIns="0">
            <a:spAutoFit/>
          </a:bodyPr>
          <a:lstStyle/>
          <a:p>
            <a:pPr algn="l">
              <a:lnSpc>
                <a:spcPct val="135000"/>
              </a:lnSpc>
              <a:spcAft>
                <a:spcPts val="0"/>
              </a:spcAft>
            </a:pPr>
            <a:r>
              <a:rPr sz="1200" b="0" i="0">
                <a:solidFill>
                  <a:srgbClr val="F2F5F8"/>
                </a:solidFill>
                <a:latin typeface="Segoe UI"/>
              </a:rPr>
              <a:t>LA SECUENCIA</a:t>
            </a:r>
          </a:p>
          <a:p>
            <a:pPr algn="l">
              <a:lnSpc>
                <a:spcPct val="135000"/>
              </a:lnSpc>
              <a:spcAft>
                <a:spcPts val="0"/>
              </a:spcAft>
            </a:pPr>
            <a:r>
              <a:rPr sz="1200" b="0" i="0">
                <a:solidFill>
                  <a:srgbClr val="F2F5F8"/>
                </a:solidFill>
                <a:latin typeface="Segoe UI"/>
              </a:rPr>
              <a:t/>
            </a:r>
          </a:p>
          <a:p>
            <a:pPr algn="l">
              <a:lnSpc>
                <a:spcPct val="135000"/>
              </a:lnSpc>
              <a:spcAft>
                <a:spcPts val="0"/>
              </a:spcAft>
            </a:pPr>
            <a:r>
              <a:rPr sz="1200" b="0" i="0">
                <a:solidFill>
                  <a:srgbClr val="F2F5F8"/>
                </a:solidFill>
                <a:latin typeface="Segoe UI"/>
              </a:rPr>
              <a:t>T1  dia 0     Primer mensaje, sin pitch</a:t>
            </a:r>
          </a:p>
          <a:p>
            <a:pPr algn="l">
              <a:lnSpc>
                <a:spcPct val="135000"/>
              </a:lnSpc>
              <a:spcAft>
                <a:spcPts val="0"/>
              </a:spcAft>
            </a:pPr>
            <a:r>
              <a:rPr sz="1200" b="0" i="0">
                <a:solidFill>
                  <a:srgbClr val="F2F5F8"/>
                </a:solidFill>
                <a:latin typeface="Segoe UI"/>
              </a:rPr>
              <a:t>T2  dia 3-4   Angulo nuevo, nunca repetir el valor</a:t>
            </a:r>
          </a:p>
          <a:p>
            <a:pPr algn="l">
              <a:lnSpc>
                <a:spcPct val="135000"/>
              </a:lnSpc>
              <a:spcAft>
                <a:spcPts val="0"/>
              </a:spcAft>
            </a:pPr>
            <a:r>
              <a:rPr sz="1200" b="0" i="0">
                <a:solidFill>
                  <a:srgbClr val="F2F5F8"/>
                </a:solidFill>
                <a:latin typeface="Segoe UI"/>
              </a:rPr>
              <a:t>T3  dia 10    Propuesta de conversacion</a:t>
            </a:r>
          </a:p>
          <a:p>
            <a:pPr algn="l">
              <a:lnSpc>
                <a:spcPct val="135000"/>
              </a:lnSpc>
              <a:spcAft>
                <a:spcPts val="0"/>
              </a:spcAft>
            </a:pPr>
            <a:r>
              <a:rPr sz="1200" b="0" i="0">
                <a:solidFill>
                  <a:srgbClr val="F2F5F8"/>
                </a:solidFill>
                <a:latin typeface="Segoe UI"/>
              </a:rPr>
              <a:t/>
            </a:r>
          </a:p>
          <a:p>
            <a:pPr algn="l">
              <a:lnSpc>
                <a:spcPct val="135000"/>
              </a:lnSpc>
              <a:spcAft>
                <a:spcPts val="0"/>
              </a:spcAft>
            </a:pPr>
            <a:r>
              <a:rPr sz="1200" b="0" i="0">
                <a:solidFill>
                  <a:srgbClr val="F2F5F8"/>
                </a:solidFill>
                <a:latin typeface="Segoe UI"/>
              </a:rPr>
              <a:t>Despues del tercero: mail, no mas LinkedIn.</a:t>
            </a:r>
          </a:p>
        </p:txBody>
      </p:sp>
      <p:sp>
        <p:nvSpPr>
          <p:cNvPr id="32" name="TextBox 31"/>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33" name="TextBox 32"/>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CORRECCION INMEDIATA  ·  3</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El dossier es un callejon sin salida</a:t>
            </a:r>
          </a:p>
        </p:txBody>
      </p:sp>
      <p:sp>
        <p:nvSpPr>
          <p:cNvPr id="4" name="TextBox 3"/>
          <p:cNvSpPr txBox="1"/>
          <p:nvPr/>
        </p:nvSpPr>
        <p:spPr>
          <a:xfrm>
            <a:off x="640080" y="1261872"/>
            <a:ext cx="10972800" cy="365760"/>
          </a:xfrm>
          <a:prstGeom prst="rect">
            <a:avLst/>
          </a:prstGeom>
          <a:noFill/>
        </p:spPr>
        <p:txBody>
          <a:bodyPr wrap="square" anchor="t" lIns="0" rIns="0" tIns="0" bIns="0">
            <a:spAutoFit/>
          </a:bodyPr>
          <a:lstStyle/>
          <a:p>
            <a:pPr algn="l">
              <a:spcAft>
                <a:spcPts val="0"/>
              </a:spcAft>
            </a:pPr>
            <a:r>
              <a:rPr sz="1300" b="0" i="0">
                <a:solidFill>
                  <a:srgbClr val="8A94A6"/>
                </a:solidFill>
                <a:latin typeface="Segoe UI"/>
              </a:rPr>
              <a:t>108 dossiers enviados produjeron 1 reunion. Es el paso donde muere el embudo.</a:t>
            </a:r>
          </a:p>
        </p:txBody>
      </p:sp>
      <p:sp>
        <p:nvSpPr>
          <p:cNvPr id="5" name="Rectangle 4"/>
          <p:cNvSpPr/>
          <p:nvPr/>
        </p:nvSpPr>
        <p:spPr>
          <a:xfrm>
            <a:off x="640080" y="1682496"/>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176272"/>
            <a:ext cx="2103120" cy="292608"/>
          </a:xfrm>
          <a:prstGeom prst="rect">
            <a:avLst/>
          </a:prstGeom>
          <a:noFill/>
        </p:spPr>
        <p:txBody>
          <a:bodyPr wrap="square" anchor="ctr" lIns="0" rIns="0" tIns="0" bIns="0">
            <a:spAutoFit/>
          </a:bodyPr>
          <a:lstStyle/>
          <a:p>
            <a:pPr algn="l">
              <a:spcAft>
                <a:spcPts val="0"/>
              </a:spcAft>
            </a:pPr>
            <a:r>
              <a:rPr sz="1100" b="0" i="0">
                <a:solidFill>
                  <a:srgbClr val="F2F5F8"/>
                </a:solidFill>
                <a:latin typeface="Segoe UI"/>
              </a:rPr>
              <a:t>Contactados</a:t>
            </a:r>
          </a:p>
        </p:txBody>
      </p:sp>
      <p:sp>
        <p:nvSpPr>
          <p:cNvPr id="7" name="Rounded Rectangle 6"/>
          <p:cNvSpPr/>
          <p:nvPr/>
        </p:nvSpPr>
        <p:spPr>
          <a:xfrm>
            <a:off x="2743200" y="2194560"/>
            <a:ext cx="7863840" cy="292608"/>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743200" y="2194560"/>
            <a:ext cx="7535610" cy="292608"/>
          </a:xfrm>
          <a:prstGeom prst="roundRect">
            <a:avLst>
              <a:gd name="adj" fmla="val 6000"/>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716768" y="2176272"/>
            <a:ext cx="914400" cy="292608"/>
          </a:xfrm>
          <a:prstGeom prst="rect">
            <a:avLst/>
          </a:prstGeom>
          <a:noFill/>
        </p:spPr>
        <p:txBody>
          <a:bodyPr wrap="square" anchor="ctr" lIns="0" rIns="0" tIns="0" bIns="0">
            <a:spAutoFit/>
          </a:bodyPr>
          <a:lstStyle/>
          <a:p>
            <a:pPr algn="l">
              <a:spcAft>
                <a:spcPts val="0"/>
              </a:spcAft>
            </a:pPr>
            <a:r>
              <a:rPr sz="1150" b="1" i="0">
                <a:solidFill>
                  <a:srgbClr val="8A94A6"/>
                </a:solidFill>
                <a:latin typeface="Segoe UI"/>
              </a:rPr>
              <a:t>1102</a:t>
            </a:r>
          </a:p>
        </p:txBody>
      </p:sp>
      <p:sp>
        <p:nvSpPr>
          <p:cNvPr id="10" name="TextBox 9"/>
          <p:cNvSpPr txBox="1"/>
          <p:nvPr/>
        </p:nvSpPr>
        <p:spPr>
          <a:xfrm>
            <a:off x="640080" y="2578608"/>
            <a:ext cx="2103120" cy="292608"/>
          </a:xfrm>
          <a:prstGeom prst="rect">
            <a:avLst/>
          </a:prstGeom>
          <a:noFill/>
        </p:spPr>
        <p:txBody>
          <a:bodyPr wrap="square" anchor="ctr" lIns="0" rIns="0" tIns="0" bIns="0">
            <a:spAutoFit/>
          </a:bodyPr>
          <a:lstStyle/>
          <a:p>
            <a:pPr algn="l">
              <a:spcAft>
                <a:spcPts val="0"/>
              </a:spcAft>
            </a:pPr>
            <a:r>
              <a:rPr sz="1100" b="0" i="0">
                <a:solidFill>
                  <a:srgbClr val="F2F5F8"/>
                </a:solidFill>
                <a:latin typeface="Segoe UI"/>
              </a:rPr>
              <a:t>Respondieron</a:t>
            </a:r>
          </a:p>
        </p:txBody>
      </p:sp>
      <p:sp>
        <p:nvSpPr>
          <p:cNvPr id="11" name="Rounded Rectangle 10"/>
          <p:cNvSpPr/>
          <p:nvPr/>
        </p:nvSpPr>
        <p:spPr>
          <a:xfrm>
            <a:off x="2743200" y="2596896"/>
            <a:ext cx="7863840" cy="292608"/>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2743200" y="2596896"/>
            <a:ext cx="2502752" cy="292608"/>
          </a:xfrm>
          <a:prstGeom prst="roundRect">
            <a:avLst>
              <a:gd name="adj" fmla="val 6000"/>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16768" y="2578608"/>
            <a:ext cx="914400" cy="292608"/>
          </a:xfrm>
          <a:prstGeom prst="rect">
            <a:avLst/>
          </a:prstGeom>
          <a:noFill/>
        </p:spPr>
        <p:txBody>
          <a:bodyPr wrap="square" anchor="ctr" lIns="0" rIns="0" tIns="0" bIns="0">
            <a:spAutoFit/>
          </a:bodyPr>
          <a:lstStyle/>
          <a:p>
            <a:pPr algn="l">
              <a:spcAft>
                <a:spcPts val="0"/>
              </a:spcAft>
            </a:pPr>
            <a:r>
              <a:rPr sz="1150" b="1" i="0">
                <a:solidFill>
                  <a:srgbClr val="5B9DF9"/>
                </a:solidFill>
                <a:latin typeface="Segoe UI"/>
              </a:rPr>
              <a:t>366</a:t>
            </a:r>
          </a:p>
        </p:txBody>
      </p:sp>
      <p:sp>
        <p:nvSpPr>
          <p:cNvPr id="14" name="TextBox 13"/>
          <p:cNvSpPr txBox="1"/>
          <p:nvPr/>
        </p:nvSpPr>
        <p:spPr>
          <a:xfrm>
            <a:off x="640080" y="2980944"/>
            <a:ext cx="2103120" cy="292608"/>
          </a:xfrm>
          <a:prstGeom prst="rect">
            <a:avLst/>
          </a:prstGeom>
          <a:noFill/>
        </p:spPr>
        <p:txBody>
          <a:bodyPr wrap="square" anchor="ctr" lIns="0" rIns="0" tIns="0" bIns="0">
            <a:spAutoFit/>
          </a:bodyPr>
          <a:lstStyle/>
          <a:p>
            <a:pPr algn="l">
              <a:spcAft>
                <a:spcPts val="0"/>
              </a:spcAft>
            </a:pPr>
            <a:r>
              <a:rPr sz="1100" b="0" i="0">
                <a:solidFill>
                  <a:srgbClr val="F2F5F8"/>
                </a:solidFill>
                <a:latin typeface="Segoe UI"/>
              </a:rPr>
              <a:t>Dossier enviado</a:t>
            </a:r>
          </a:p>
        </p:txBody>
      </p:sp>
      <p:sp>
        <p:nvSpPr>
          <p:cNvPr id="15" name="Rounded Rectangle 14"/>
          <p:cNvSpPr/>
          <p:nvPr/>
        </p:nvSpPr>
        <p:spPr>
          <a:xfrm>
            <a:off x="2743200" y="2999232"/>
            <a:ext cx="7863840" cy="292608"/>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743200" y="2999232"/>
            <a:ext cx="738517" cy="292608"/>
          </a:xfrm>
          <a:prstGeom prst="roundRect">
            <a:avLst>
              <a:gd name="adj" fmla="val 6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716768" y="2980944"/>
            <a:ext cx="914400" cy="292608"/>
          </a:xfrm>
          <a:prstGeom prst="rect">
            <a:avLst/>
          </a:prstGeom>
          <a:noFill/>
        </p:spPr>
        <p:txBody>
          <a:bodyPr wrap="square" anchor="ctr" lIns="0" rIns="0" tIns="0" bIns="0">
            <a:spAutoFit/>
          </a:bodyPr>
          <a:lstStyle/>
          <a:p>
            <a:pPr algn="l">
              <a:spcAft>
                <a:spcPts val="0"/>
              </a:spcAft>
            </a:pPr>
            <a:r>
              <a:rPr sz="1150" b="1" i="0">
                <a:solidFill>
                  <a:srgbClr val="FBBF24"/>
                </a:solidFill>
                <a:latin typeface="Segoe UI"/>
              </a:rPr>
              <a:t>108</a:t>
            </a:r>
          </a:p>
        </p:txBody>
      </p:sp>
      <p:sp>
        <p:nvSpPr>
          <p:cNvPr id="18" name="TextBox 17"/>
          <p:cNvSpPr txBox="1"/>
          <p:nvPr/>
        </p:nvSpPr>
        <p:spPr>
          <a:xfrm>
            <a:off x="640080" y="3383280"/>
            <a:ext cx="2103120" cy="292608"/>
          </a:xfrm>
          <a:prstGeom prst="rect">
            <a:avLst/>
          </a:prstGeom>
          <a:noFill/>
        </p:spPr>
        <p:txBody>
          <a:bodyPr wrap="square" anchor="ctr" lIns="0" rIns="0" tIns="0" bIns="0">
            <a:spAutoFit/>
          </a:bodyPr>
          <a:lstStyle/>
          <a:p>
            <a:pPr algn="l">
              <a:spcAft>
                <a:spcPts val="0"/>
              </a:spcAft>
            </a:pPr>
            <a:r>
              <a:rPr sz="1100" b="0" i="0">
                <a:solidFill>
                  <a:srgbClr val="F2F5F8"/>
                </a:solidFill>
                <a:latin typeface="Segoe UI"/>
              </a:rPr>
              <a:t>Reunion</a:t>
            </a:r>
          </a:p>
        </p:txBody>
      </p:sp>
      <p:sp>
        <p:nvSpPr>
          <p:cNvPr id="19" name="Rounded Rectangle 18"/>
          <p:cNvSpPr/>
          <p:nvPr/>
        </p:nvSpPr>
        <p:spPr>
          <a:xfrm>
            <a:off x="2743200" y="3401568"/>
            <a:ext cx="7863840" cy="292608"/>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2743200" y="3401568"/>
            <a:ext cx="54704" cy="292608"/>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716768" y="3383280"/>
            <a:ext cx="914400" cy="292608"/>
          </a:xfrm>
          <a:prstGeom prst="rect">
            <a:avLst/>
          </a:prstGeom>
          <a:noFill/>
        </p:spPr>
        <p:txBody>
          <a:bodyPr wrap="square" anchor="ctr" lIns="0" rIns="0" tIns="0" bIns="0">
            <a:spAutoFit/>
          </a:bodyPr>
          <a:lstStyle/>
          <a:p>
            <a:pPr algn="l">
              <a:spcAft>
                <a:spcPts val="0"/>
              </a:spcAft>
            </a:pPr>
            <a:r>
              <a:rPr sz="1150" b="1" i="0">
                <a:solidFill>
                  <a:srgbClr val="F87171"/>
                </a:solidFill>
                <a:latin typeface="Segoe UI"/>
              </a:rPr>
              <a:t>8</a:t>
            </a:r>
          </a:p>
        </p:txBody>
      </p:sp>
      <p:sp>
        <p:nvSpPr>
          <p:cNvPr id="22" name="Rounded Rectangle 21"/>
          <p:cNvSpPr/>
          <p:nvPr/>
        </p:nvSpPr>
        <p:spPr>
          <a:xfrm>
            <a:off x="640080" y="3840480"/>
            <a:ext cx="5303520" cy="1371600"/>
          </a:xfrm>
          <a:prstGeom prst="roundRect">
            <a:avLst>
              <a:gd name="adj" fmla="val 6000"/>
            </a:avLst>
          </a:prstGeom>
          <a:solidFill>
            <a:srgbClr val="181D25"/>
          </a:solidFill>
          <a:ln w="1524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8680" y="4005072"/>
            <a:ext cx="4846320" cy="1097280"/>
          </a:xfrm>
          <a:prstGeom prst="rect">
            <a:avLst/>
          </a:prstGeom>
          <a:noFill/>
        </p:spPr>
        <p:txBody>
          <a:bodyPr wrap="square" anchor="t" lIns="0" rIns="0" tIns="0" bIns="0">
            <a:spAutoFit/>
          </a:bodyPr>
          <a:lstStyle/>
          <a:p>
            <a:pPr algn="l">
              <a:lnSpc>
                <a:spcPct val="135000"/>
              </a:lnSpc>
              <a:spcAft>
                <a:spcPts val="0"/>
              </a:spcAft>
            </a:pPr>
            <a:r>
              <a:rPr sz="1200" b="0" i="0">
                <a:solidFill>
                  <a:srgbClr val="F2F5F8"/>
                </a:solidFill>
                <a:latin typeface="Segoe UI"/>
              </a:rPr>
              <a:t>EL PROBLEMA</a:t>
            </a:r>
          </a:p>
          <a:p>
            <a:pPr algn="l">
              <a:lnSpc>
                <a:spcPct val="135000"/>
              </a:lnSpc>
              <a:spcAft>
                <a:spcPts val="0"/>
              </a:spcAft>
            </a:pPr>
            <a:r>
              <a:rPr sz="1200" b="0" i="0">
                <a:solidFill>
                  <a:srgbClr val="F2F5F8"/>
                </a:solidFill>
                <a:latin typeface="Segoe UI"/>
              </a:rPr>
              <a:t/>
            </a:r>
          </a:p>
          <a:p>
            <a:pPr algn="l">
              <a:lnSpc>
                <a:spcPct val="135000"/>
              </a:lnSpc>
              <a:spcAft>
                <a:spcPts val="0"/>
              </a:spcAft>
            </a:pPr>
            <a:r>
              <a:rPr sz="1200" b="0" i="0">
                <a:solidFill>
                  <a:srgbClr val="F2F5F8"/>
                </a:solidFill>
                <a:latin typeface="Segoe UI"/>
              </a:rPr>
              <a:t>El dossier le da al prospecto una excusa perfecta para</a:t>
            </a:r>
          </a:p>
          <a:p>
            <a:pPr algn="l">
              <a:lnSpc>
                <a:spcPct val="135000"/>
              </a:lnSpc>
              <a:spcAft>
                <a:spcPts val="0"/>
              </a:spcAft>
            </a:pPr>
            <a:r>
              <a:rPr sz="1200" b="0" i="0">
                <a:solidFill>
                  <a:srgbClr val="F2F5F8"/>
                </a:solidFill>
                <a:latin typeface="Segoe UI"/>
              </a:rPr>
              <a:t>decir "lo reviso y te aviso". Y ahi termina la conversacion.</a:t>
            </a:r>
          </a:p>
          <a:p>
            <a:pPr algn="l">
              <a:lnSpc>
                <a:spcPct val="135000"/>
              </a:lnSpc>
              <a:spcAft>
                <a:spcPts val="0"/>
              </a:spcAft>
            </a:pPr>
            <a:r>
              <a:rPr sz="1200" b="0" i="0">
                <a:solidFill>
                  <a:srgbClr val="F2F5F8"/>
                </a:solidFill>
                <a:latin typeface="Segoe UI"/>
              </a:rPr>
              <a:t>Nadie vuelve por su cuenta.</a:t>
            </a:r>
          </a:p>
        </p:txBody>
      </p:sp>
      <p:sp>
        <p:nvSpPr>
          <p:cNvPr id="24" name="Rounded Rectangle 23"/>
          <p:cNvSpPr/>
          <p:nvPr/>
        </p:nvSpPr>
        <p:spPr>
          <a:xfrm>
            <a:off x="6217920" y="3840480"/>
            <a:ext cx="5303520" cy="1371600"/>
          </a:xfrm>
          <a:prstGeom prst="roundRect">
            <a:avLst>
              <a:gd name="adj" fmla="val 6000"/>
            </a:avLst>
          </a:prstGeom>
          <a:solidFill>
            <a:srgbClr val="181D25"/>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46520" y="4005072"/>
            <a:ext cx="4846320" cy="1097280"/>
          </a:xfrm>
          <a:prstGeom prst="rect">
            <a:avLst/>
          </a:prstGeom>
          <a:noFill/>
        </p:spPr>
        <p:txBody>
          <a:bodyPr wrap="square" anchor="t" lIns="0" rIns="0" tIns="0" bIns="0">
            <a:spAutoFit/>
          </a:bodyPr>
          <a:lstStyle/>
          <a:p>
            <a:pPr algn="l">
              <a:lnSpc>
                <a:spcPct val="135000"/>
              </a:lnSpc>
              <a:spcAft>
                <a:spcPts val="0"/>
              </a:spcAft>
            </a:pPr>
            <a:r>
              <a:rPr sz="1200" b="0" i="0">
                <a:solidFill>
                  <a:srgbClr val="F2F5F8"/>
                </a:solidFill>
                <a:latin typeface="Segoe UI"/>
              </a:rPr>
              <a:t>LA CORRECCION</a:t>
            </a:r>
          </a:p>
          <a:p>
            <a:pPr algn="l">
              <a:lnSpc>
                <a:spcPct val="135000"/>
              </a:lnSpc>
              <a:spcAft>
                <a:spcPts val="0"/>
              </a:spcAft>
            </a:pPr>
            <a:r>
              <a:rPr sz="1200" b="0" i="0">
                <a:solidFill>
                  <a:srgbClr val="F2F5F8"/>
                </a:solidFill>
                <a:latin typeface="Segoe UI"/>
              </a:rPr>
              <a:t/>
            </a:r>
          </a:p>
          <a:p>
            <a:pPr algn="l">
              <a:lnSpc>
                <a:spcPct val="135000"/>
              </a:lnSpc>
              <a:spcAft>
                <a:spcPts val="0"/>
              </a:spcAft>
            </a:pPr>
            <a:r>
              <a:rPr sz="1200" b="0" i="0">
                <a:solidFill>
                  <a:srgbClr val="F2F5F8"/>
                </a:solidFill>
                <a:latin typeface="Segoe UI"/>
              </a:rPr>
              <a:t>El dossier nunca viaja solo. Siempre acompanado de una</a:t>
            </a:r>
          </a:p>
          <a:p>
            <a:pPr algn="l">
              <a:lnSpc>
                <a:spcPct val="135000"/>
              </a:lnSpc>
              <a:spcAft>
                <a:spcPts val="0"/>
              </a:spcAft>
            </a:pPr>
            <a:r>
              <a:rPr sz="1200" b="0" i="0">
                <a:solidFill>
                  <a:srgbClr val="F2F5F8"/>
                </a:solidFill>
                <a:latin typeface="Segoe UI"/>
              </a:rPr>
              <a:t>pregunta que exige respuesta, o directamente reemplazado</a:t>
            </a:r>
          </a:p>
          <a:p>
            <a:pPr algn="l">
              <a:lnSpc>
                <a:spcPct val="135000"/>
              </a:lnSpc>
              <a:spcAft>
                <a:spcPts val="0"/>
              </a:spcAft>
            </a:pPr>
            <a:r>
              <a:rPr sz="1200" b="0" i="0">
                <a:solidFill>
                  <a:srgbClr val="F2F5F8"/>
                </a:solidFill>
                <a:latin typeface="Segoe UI"/>
              </a:rPr>
              <a:t>por la propuesta de 15 minutos.</a:t>
            </a:r>
          </a:p>
        </p:txBody>
      </p:sp>
      <p:sp>
        <p:nvSpPr>
          <p:cNvPr id="26" name="Rounded Rectangle 25"/>
          <p:cNvSpPr/>
          <p:nvPr/>
        </p:nvSpPr>
        <p:spPr>
          <a:xfrm>
            <a:off x="640080" y="5440680"/>
            <a:ext cx="10881360" cy="868680"/>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5577840"/>
            <a:ext cx="10424160" cy="640080"/>
          </a:xfrm>
          <a:prstGeom prst="rect">
            <a:avLst/>
          </a:prstGeom>
          <a:noFill/>
        </p:spPr>
        <p:txBody>
          <a:bodyPr wrap="square" anchor="t" lIns="0" rIns="0" tIns="0" bIns="0">
            <a:spAutoFit/>
          </a:bodyPr>
          <a:lstStyle/>
          <a:p>
            <a:pPr algn="l">
              <a:lnSpc>
                <a:spcPct val="130000"/>
              </a:lnSpc>
              <a:spcAft>
                <a:spcPts val="0"/>
              </a:spcAft>
            </a:pPr>
            <a:r>
              <a:rPr sz="1300" b="1" i="0">
                <a:solidFill>
                  <a:srgbClr val="E8B45B"/>
                </a:solidFill>
                <a:latin typeface="Segoe UI"/>
              </a:rPr>
              <a:t>Nuevo cierre propuesto:  "Te mando el dossier, pero te soy honesta: en 15 minutos te lo explico mejor de lo que lo lee cualquiera.</a:t>
            </a:r>
          </a:p>
          <a:p>
            <a:pPr algn="l">
              <a:lnSpc>
                <a:spcPct val="130000"/>
              </a:lnSpc>
              <a:spcAft>
                <a:spcPts val="0"/>
              </a:spcAft>
            </a:pPr>
            <a:r>
              <a:rPr sz="1300" b="1" i="0">
                <a:solidFill>
                  <a:srgbClr val="E8B45B"/>
                </a:solidFill>
                <a:latin typeface="Segoe UI"/>
              </a:rPr>
              <a:t>Martes 10h o jueves 16h, que te sirve mas?"   →   opcion concreta, no pregunta abierta.</a:t>
            </a:r>
          </a:p>
        </p:txBody>
      </p:sp>
      <p:sp>
        <p:nvSpPr>
          <p:cNvPr id="28" name="TextBox 27"/>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29" name="TextBox 28"/>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IDEAS NUEVAS  ·  1 DE 2</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Cosas que no estamos haciendo y mueven la aguja</a:t>
            </a:r>
          </a:p>
        </p:txBody>
      </p:sp>
      <p:sp>
        <p:nvSpPr>
          <p:cNvPr id="4" name="Rectangle 3"/>
          <p:cNvSpPr/>
          <p:nvPr/>
        </p:nvSpPr>
        <p:spPr>
          <a:xfrm>
            <a:off x="640080" y="1170432"/>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2093976"/>
            <a:ext cx="91440" cy="91440"/>
          </a:xfrm>
          <a:prstGeom prst="roundRect">
            <a:avLst>
              <a:gd name="adj" fmla="val 6000"/>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2011680"/>
            <a:ext cx="10625328" cy="274320"/>
          </a:xfrm>
          <a:prstGeom prst="rect">
            <a:avLst/>
          </a:prstGeom>
          <a:noFill/>
        </p:spPr>
        <p:txBody>
          <a:bodyPr wrap="square" anchor="t" lIns="0" rIns="0" tIns="0" bIns="0">
            <a:spAutoFit/>
          </a:bodyPr>
          <a:lstStyle/>
          <a:p>
            <a:pPr algn="l">
              <a:spcAft>
                <a:spcPts val="0"/>
              </a:spcAft>
            </a:pPr>
            <a:r>
              <a:rPr sz="1450" b="1" i="0">
                <a:solidFill>
                  <a:srgbClr val="F2F5F8"/>
                </a:solidFill>
                <a:latin typeface="Segoe UI"/>
              </a:rPr>
              <a:t>Multicanal: LinkedIn + mail  ·  impacto 3-4x</a:t>
            </a:r>
          </a:p>
        </p:txBody>
      </p:sp>
      <p:sp>
        <p:nvSpPr>
          <p:cNvPr id="7" name="TextBox 6"/>
          <p:cNvSpPr txBox="1"/>
          <p:nvPr/>
        </p:nvSpPr>
        <p:spPr>
          <a:xfrm>
            <a:off x="896112" y="2258568"/>
            <a:ext cx="10625328" cy="365760"/>
          </a:xfrm>
          <a:prstGeom prst="rect">
            <a:avLst/>
          </a:prstGeom>
          <a:noFill/>
        </p:spPr>
        <p:txBody>
          <a:bodyPr wrap="square" anchor="t" lIns="0" rIns="0" tIns="0" bIns="0">
            <a:spAutoFit/>
          </a:bodyPr>
          <a:lstStyle/>
          <a:p>
            <a:pPr algn="l">
              <a:lnSpc>
                <a:spcPct val="125000"/>
              </a:lnSpc>
              <a:spcAft>
                <a:spcPts val="0"/>
              </a:spcAft>
            </a:pPr>
            <a:r>
              <a:rPr sz="1150" b="0" i="0">
                <a:solidFill>
                  <a:srgbClr val="8A94A6"/>
                </a:solidFill>
                <a:latin typeface="Segoe UI"/>
              </a:rPr>
              <a:t>Las secuencias coordinadas multicanal rinden 3-4x mas que un solo canal (287% mas engagement). Ya tenemos 14 mails capturados en historial.json que no se usan sistematicamente. Cada vez que alguien da su mail, debe entrar a una secuencia paralela.</a:t>
            </a:r>
          </a:p>
        </p:txBody>
      </p:sp>
      <p:sp>
        <p:nvSpPr>
          <p:cNvPr id="8" name="Rounded Rectangle 7"/>
          <p:cNvSpPr/>
          <p:nvPr/>
        </p:nvSpPr>
        <p:spPr>
          <a:xfrm>
            <a:off x="640080" y="2898648"/>
            <a:ext cx="91440" cy="91440"/>
          </a:xfrm>
          <a:prstGeom prst="roundRect">
            <a:avLst>
              <a:gd name="adj" fmla="val 6000"/>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2816352"/>
            <a:ext cx="10625328" cy="274320"/>
          </a:xfrm>
          <a:prstGeom prst="rect">
            <a:avLst/>
          </a:prstGeom>
          <a:noFill/>
        </p:spPr>
        <p:txBody>
          <a:bodyPr wrap="square" anchor="t" lIns="0" rIns="0" tIns="0" bIns="0">
            <a:spAutoFit/>
          </a:bodyPr>
          <a:lstStyle/>
          <a:p>
            <a:pPr algn="l">
              <a:spcAft>
                <a:spcPts val="0"/>
              </a:spcAft>
            </a:pPr>
            <a:r>
              <a:rPr sz="1450" b="1" i="0">
                <a:solidFill>
                  <a:srgbClr val="F2F5F8"/>
                </a:solidFill>
                <a:latin typeface="Segoe UI"/>
              </a:rPr>
              <a:t>Warm-up antes del MSG1  ·  impacto en aceptacion</a:t>
            </a:r>
          </a:p>
        </p:txBody>
      </p:sp>
      <p:sp>
        <p:nvSpPr>
          <p:cNvPr id="10" name="TextBox 9"/>
          <p:cNvSpPr txBox="1"/>
          <p:nvPr/>
        </p:nvSpPr>
        <p:spPr>
          <a:xfrm>
            <a:off x="896112" y="3063240"/>
            <a:ext cx="10625328" cy="365760"/>
          </a:xfrm>
          <a:prstGeom prst="rect">
            <a:avLst/>
          </a:prstGeom>
          <a:noFill/>
        </p:spPr>
        <p:txBody>
          <a:bodyPr wrap="square" anchor="t" lIns="0" rIns="0" tIns="0" bIns="0">
            <a:spAutoFit/>
          </a:bodyPr>
          <a:lstStyle/>
          <a:p>
            <a:pPr algn="l">
              <a:lnSpc>
                <a:spcPct val="125000"/>
              </a:lnSpc>
              <a:spcAft>
                <a:spcPts val="0"/>
              </a:spcAft>
            </a:pPr>
            <a:r>
              <a:rPr sz="1150" b="0" i="0">
                <a:solidFill>
                  <a:srgbClr val="8A94A6"/>
                </a:solidFill>
                <a:latin typeface="Segoe UI"/>
              </a:rPr>
              <a:t>El targeting por senal rinde 40-60% de aceptacion vs 10-20% de lista fria. Comentar dos posts del prospecto en los 5 dias previos al MSG1 convierte la lista fria en lista tibia. Cero costo, solo orden.</a:t>
            </a:r>
          </a:p>
        </p:txBody>
      </p:sp>
      <p:sp>
        <p:nvSpPr>
          <p:cNvPr id="11" name="Rounded Rectangle 10"/>
          <p:cNvSpPr/>
          <p:nvPr/>
        </p:nvSpPr>
        <p:spPr>
          <a:xfrm>
            <a:off x="640080" y="3703320"/>
            <a:ext cx="91440" cy="91440"/>
          </a:xfrm>
          <a:prstGeom prst="roundRect">
            <a:avLst>
              <a:gd name="adj" fmla="val 6000"/>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96112" y="3621024"/>
            <a:ext cx="10625328" cy="274320"/>
          </a:xfrm>
          <a:prstGeom prst="rect">
            <a:avLst/>
          </a:prstGeom>
          <a:noFill/>
        </p:spPr>
        <p:txBody>
          <a:bodyPr wrap="square" anchor="t" lIns="0" rIns="0" tIns="0" bIns="0">
            <a:spAutoFit/>
          </a:bodyPr>
          <a:lstStyle/>
          <a:p>
            <a:pPr algn="l">
              <a:spcAft>
                <a:spcPts val="0"/>
              </a:spcAft>
            </a:pPr>
            <a:r>
              <a:rPr sz="1450" b="1" i="0">
                <a:solidFill>
                  <a:srgbClr val="F2F5F8"/>
                </a:solidFill>
                <a:latin typeface="Segoe UI"/>
              </a:rPr>
              <a:t>Invertir dossier y reunion</a:t>
            </a:r>
          </a:p>
        </p:txBody>
      </p:sp>
      <p:sp>
        <p:nvSpPr>
          <p:cNvPr id="13" name="TextBox 12"/>
          <p:cNvSpPr txBox="1"/>
          <p:nvPr/>
        </p:nvSpPr>
        <p:spPr>
          <a:xfrm>
            <a:off x="896112" y="3867912"/>
            <a:ext cx="10625328" cy="365760"/>
          </a:xfrm>
          <a:prstGeom prst="rect">
            <a:avLst/>
          </a:prstGeom>
          <a:noFill/>
        </p:spPr>
        <p:txBody>
          <a:bodyPr wrap="square" anchor="t" lIns="0" rIns="0" tIns="0" bIns="0">
            <a:spAutoFit/>
          </a:bodyPr>
          <a:lstStyle/>
          <a:p>
            <a:pPr algn="l">
              <a:lnSpc>
                <a:spcPct val="125000"/>
              </a:lnSpc>
              <a:spcAft>
                <a:spcPts val="0"/>
              </a:spcAft>
            </a:pPr>
            <a:r>
              <a:rPr sz="1150" b="0" i="0">
                <a:solidFill>
                  <a:srgbClr val="8A94A6"/>
                </a:solidFill>
                <a:latin typeface="Segoe UI"/>
              </a:rPr>
              <a:t>Hoy: dossier → (silencio) → reunion. Propuesto: reunion de 15 min → dossier como material de la reunion. El dossier deja de ser la meta y pasa a ser la excusa para el encuentro.</a:t>
            </a:r>
          </a:p>
        </p:txBody>
      </p:sp>
      <p:sp>
        <p:nvSpPr>
          <p:cNvPr id="14" name="Rounded Rectangle 13"/>
          <p:cNvSpPr/>
          <p:nvPr/>
        </p:nvSpPr>
        <p:spPr>
          <a:xfrm>
            <a:off x="640080" y="4507992"/>
            <a:ext cx="91440" cy="91440"/>
          </a:xfrm>
          <a:prstGeom prst="roundRect">
            <a:avLst>
              <a:gd name="adj" fmla="val 6000"/>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6112" y="4425696"/>
            <a:ext cx="10625328" cy="274320"/>
          </a:xfrm>
          <a:prstGeom prst="rect">
            <a:avLst/>
          </a:prstGeom>
          <a:noFill/>
        </p:spPr>
        <p:txBody>
          <a:bodyPr wrap="square" anchor="t" lIns="0" rIns="0" tIns="0" bIns="0">
            <a:spAutoFit/>
          </a:bodyPr>
          <a:lstStyle/>
          <a:p>
            <a:pPr algn="l">
              <a:spcAft>
                <a:spcPts val="0"/>
              </a:spcAft>
            </a:pPr>
            <a:r>
              <a:rPr sz="1450" b="1" i="0">
                <a:solidFill>
                  <a:srgbClr val="F2F5F8"/>
                </a:solidFill>
                <a:latin typeface="Segoe UI"/>
              </a:rPr>
              <a:t>Sistematizar el referido  ·  ya pasa solo el 12%</a:t>
            </a:r>
          </a:p>
        </p:txBody>
      </p:sp>
      <p:sp>
        <p:nvSpPr>
          <p:cNvPr id="16" name="TextBox 15"/>
          <p:cNvSpPr txBox="1"/>
          <p:nvPr/>
        </p:nvSpPr>
        <p:spPr>
          <a:xfrm>
            <a:off x="896112" y="4672584"/>
            <a:ext cx="10625328" cy="365760"/>
          </a:xfrm>
          <a:prstGeom prst="rect">
            <a:avLst/>
          </a:prstGeom>
          <a:noFill/>
        </p:spPr>
        <p:txBody>
          <a:bodyPr wrap="square" anchor="t" lIns="0" rIns="0" tIns="0" bIns="0">
            <a:spAutoFit/>
          </a:bodyPr>
          <a:lstStyle/>
          <a:p>
            <a:pPr algn="l">
              <a:lnSpc>
                <a:spcPct val="125000"/>
              </a:lnSpc>
              <a:spcAft>
                <a:spcPts val="0"/>
              </a:spcAft>
            </a:pPr>
            <a:r>
              <a:rPr sz="1150" b="0" i="0">
                <a:solidFill>
                  <a:srgbClr val="8A94A6"/>
                </a:solidFill>
                <a:latin typeface="Segoe UI"/>
              </a:rPr>
              <a:t>12% de las respuestas de septiembre derivan a otra persona sin que se lo pidamos. Si se pide explicitamente en el toque 6, ese numero sube. Es el canal mas barato que tenemos y esta sin explotar.</a:t>
            </a:r>
          </a:p>
        </p:txBody>
      </p:sp>
      <p:sp>
        <p:nvSpPr>
          <p:cNvPr id="17" name="TextBox 16"/>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18" name="TextBox 17"/>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IDEAS NUEVAS  ·  2 DE 2</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Las que nadie propuso todavia</a:t>
            </a:r>
          </a:p>
        </p:txBody>
      </p:sp>
      <p:sp>
        <p:nvSpPr>
          <p:cNvPr id="4" name="Rectangle 3"/>
          <p:cNvSpPr/>
          <p:nvPr/>
        </p:nvSpPr>
        <p:spPr>
          <a:xfrm>
            <a:off x="640080" y="1170432"/>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2048256"/>
            <a:ext cx="91440" cy="91440"/>
          </a:xfrm>
          <a:prstGeom prst="roundRect">
            <a:avLst>
              <a:gd name="adj" fmla="val 6000"/>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1965960"/>
            <a:ext cx="10625328" cy="274320"/>
          </a:xfrm>
          <a:prstGeom prst="rect">
            <a:avLst/>
          </a:prstGeom>
          <a:noFill/>
        </p:spPr>
        <p:txBody>
          <a:bodyPr wrap="square" anchor="t" lIns="0" rIns="0" tIns="0" bIns="0">
            <a:spAutoFit/>
          </a:bodyPr>
          <a:lstStyle/>
          <a:p>
            <a:pPr algn="l">
              <a:spcAft>
                <a:spcPts val="0"/>
              </a:spcAft>
            </a:pPr>
            <a:r>
              <a:rPr sz="1400" b="1" i="0">
                <a:solidFill>
                  <a:srgbClr val="F2F5F8"/>
                </a:solidFill>
                <a:latin typeface="Segoe UI"/>
              </a:rPr>
              <a:t>El saludo vale 3 veces mas que cualquier otra correccion</a:t>
            </a:r>
          </a:p>
        </p:txBody>
      </p:sp>
      <p:sp>
        <p:nvSpPr>
          <p:cNvPr id="7" name="TextBox 6"/>
          <p:cNvSpPr txBox="1"/>
          <p:nvPr/>
        </p:nvSpPr>
        <p:spPr>
          <a:xfrm>
            <a:off x="896112" y="2212848"/>
            <a:ext cx="10625328" cy="365760"/>
          </a:xfrm>
          <a:prstGeom prst="rect">
            <a:avLst/>
          </a:prstGeom>
          <a:noFill/>
        </p:spPr>
        <p:txBody>
          <a:bodyPr wrap="square" anchor="t" lIns="0" rIns="0" tIns="0" bIns="0">
            <a:spAutoFit/>
          </a:bodyPr>
          <a:lstStyle/>
          <a:p>
            <a:pPr algn="l">
              <a:lnSpc>
                <a:spcPct val="125000"/>
              </a:lnSpc>
              <a:spcAft>
                <a:spcPts val="0"/>
              </a:spcAft>
            </a:pPr>
            <a:r>
              <a:rPr sz="1100" b="0" i="0">
                <a:solidFill>
                  <a:srgbClr val="8A94A6"/>
                </a:solidFill>
                <a:latin typeface="Segoe UI"/>
              </a:rPr>
              <a:t>Abrir con el nombre y gracias por conectar rinde 66,2 por ciento de respuesta; abrir con Buenas rinde entre 10 y 18. El efecto se confirma mes por mes. Es un cambio de cuatro palabras.</a:t>
            </a:r>
          </a:p>
        </p:txBody>
      </p:sp>
      <p:sp>
        <p:nvSpPr>
          <p:cNvPr id="8" name="Rounded Rectangle 7"/>
          <p:cNvSpPr/>
          <p:nvPr/>
        </p:nvSpPr>
        <p:spPr>
          <a:xfrm>
            <a:off x="640080" y="2743200"/>
            <a:ext cx="91440" cy="91440"/>
          </a:xfrm>
          <a:prstGeom prst="roundRect">
            <a:avLst>
              <a:gd name="adj" fmla="val 6000"/>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2660904"/>
            <a:ext cx="10625328" cy="274320"/>
          </a:xfrm>
          <a:prstGeom prst="rect">
            <a:avLst/>
          </a:prstGeom>
          <a:noFill/>
        </p:spPr>
        <p:txBody>
          <a:bodyPr wrap="square" anchor="t" lIns="0" rIns="0" tIns="0" bIns="0">
            <a:spAutoFit/>
          </a:bodyPr>
          <a:lstStyle/>
          <a:p>
            <a:pPr algn="l">
              <a:spcAft>
                <a:spcPts val="0"/>
              </a:spcAft>
            </a:pPr>
            <a:r>
              <a:rPr sz="1400" b="1" i="0">
                <a:solidFill>
                  <a:srgbClr val="F2F5F8"/>
                </a:solidFill>
                <a:latin typeface="Segoe UI"/>
              </a:rPr>
              <a:t>Campana de resurreccion sobre 773 contactos</a:t>
            </a:r>
          </a:p>
        </p:txBody>
      </p:sp>
      <p:sp>
        <p:nvSpPr>
          <p:cNvPr id="10" name="TextBox 9"/>
          <p:cNvSpPr txBox="1"/>
          <p:nvPr/>
        </p:nvSpPr>
        <p:spPr>
          <a:xfrm>
            <a:off x="896112" y="2907792"/>
            <a:ext cx="10625328" cy="365760"/>
          </a:xfrm>
          <a:prstGeom prst="rect">
            <a:avLst/>
          </a:prstGeom>
          <a:noFill/>
        </p:spPr>
        <p:txBody>
          <a:bodyPr wrap="square" anchor="t" lIns="0" rIns="0" tIns="0" bIns="0">
            <a:spAutoFit/>
          </a:bodyPr>
          <a:lstStyle/>
          <a:p>
            <a:pPr algn="l">
              <a:lnSpc>
                <a:spcPct val="125000"/>
              </a:lnSpc>
              <a:spcAft>
                <a:spcPts val="0"/>
              </a:spcAft>
            </a:pPr>
            <a:r>
              <a:rPr sz="1100" b="0" i="0">
                <a:solidFill>
                  <a:srgbClr val="8A94A6"/>
                </a:solidFill>
                <a:latin typeface="Segoe UI"/>
              </a:rPr>
              <a:t>Los contactos de un solo toque no estan muertos, estan sin trabajar. Un mensaje de reactivacion con angulo nuevo sobre esa base, sin gastar una sola conexion nueva, es la accion de mayor retorno disponible hoy.</a:t>
            </a:r>
          </a:p>
        </p:txBody>
      </p:sp>
      <p:sp>
        <p:nvSpPr>
          <p:cNvPr id="11" name="Rounded Rectangle 10"/>
          <p:cNvSpPr/>
          <p:nvPr/>
        </p:nvSpPr>
        <p:spPr>
          <a:xfrm>
            <a:off x="640080" y="3438144"/>
            <a:ext cx="91440" cy="91440"/>
          </a:xfrm>
          <a:prstGeom prst="roundRect">
            <a:avLst>
              <a:gd name="adj" fmla="val 6000"/>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96112" y="3355848"/>
            <a:ext cx="10625328" cy="274320"/>
          </a:xfrm>
          <a:prstGeom prst="rect">
            <a:avLst/>
          </a:prstGeom>
          <a:noFill/>
        </p:spPr>
        <p:txBody>
          <a:bodyPr wrap="square" anchor="t" lIns="0" rIns="0" tIns="0" bIns="0">
            <a:spAutoFit/>
          </a:bodyPr>
          <a:lstStyle/>
          <a:p>
            <a:pPr algn="l">
              <a:spcAft>
                <a:spcPts val="0"/>
              </a:spcAft>
            </a:pPr>
            <a:r>
              <a:rPr sz="1400" b="1" i="0">
                <a:solidFill>
                  <a:srgbClr val="F2F5F8"/>
                </a:solidFill>
                <a:latin typeface="Segoe UI"/>
              </a:rPr>
              <a:t>Dejar de escribirle a CEOs en frio</a:t>
            </a:r>
          </a:p>
        </p:txBody>
      </p:sp>
      <p:sp>
        <p:nvSpPr>
          <p:cNvPr id="13" name="TextBox 12"/>
          <p:cNvSpPr txBox="1"/>
          <p:nvPr/>
        </p:nvSpPr>
        <p:spPr>
          <a:xfrm>
            <a:off x="896112" y="3602736"/>
            <a:ext cx="10625328" cy="365760"/>
          </a:xfrm>
          <a:prstGeom prst="rect">
            <a:avLst/>
          </a:prstGeom>
          <a:noFill/>
        </p:spPr>
        <p:txBody>
          <a:bodyPr wrap="square" anchor="t" lIns="0" rIns="0" tIns="0" bIns="0">
            <a:spAutoFit/>
          </a:bodyPr>
          <a:lstStyle/>
          <a:p>
            <a:pPr algn="l">
              <a:lnSpc>
                <a:spcPct val="125000"/>
              </a:lnSpc>
              <a:spcAft>
                <a:spcPts val="0"/>
              </a:spcAft>
            </a:pPr>
            <a:r>
              <a:rPr sz="1100" b="0" i="0">
                <a:solidFill>
                  <a:srgbClr val="8A94A6"/>
                </a:solidFill>
                <a:latin typeface="Segoe UI"/>
              </a:rPr>
              <a:t>25,2% de respuesta y 5,4% de dossier, el peor de todos los niveles. El C-Level funcional (CTO, CFO, CMO) responde 57,1% y pide dossier 14,3%. Mismo esfuerzo, mas del doble de retorno.</a:t>
            </a:r>
          </a:p>
        </p:txBody>
      </p:sp>
      <p:sp>
        <p:nvSpPr>
          <p:cNvPr id="14" name="Rounded Rectangle 13"/>
          <p:cNvSpPr/>
          <p:nvPr/>
        </p:nvSpPr>
        <p:spPr>
          <a:xfrm>
            <a:off x="640080" y="4133088"/>
            <a:ext cx="91440" cy="91440"/>
          </a:xfrm>
          <a:prstGeom prst="roundRect">
            <a:avLst>
              <a:gd name="adj" fmla="val 6000"/>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6112" y="4050792"/>
            <a:ext cx="10625328" cy="274320"/>
          </a:xfrm>
          <a:prstGeom prst="rect">
            <a:avLst/>
          </a:prstGeom>
          <a:noFill/>
        </p:spPr>
        <p:txBody>
          <a:bodyPr wrap="square" anchor="t" lIns="0" rIns="0" tIns="0" bIns="0">
            <a:spAutoFit/>
          </a:bodyPr>
          <a:lstStyle/>
          <a:p>
            <a:pPr algn="l">
              <a:spcAft>
                <a:spcPts val="0"/>
              </a:spcAft>
            </a:pPr>
            <a:r>
              <a:rPr sz="1400" b="1" i="0">
                <a:solidFill>
                  <a:srgbClr val="F2F5F8"/>
                </a:solidFill>
                <a:latin typeface="Segoe UI"/>
              </a:rPr>
              <a:t>Matar tres sectores y doblar apuesta en dos</a:t>
            </a:r>
          </a:p>
        </p:txBody>
      </p:sp>
      <p:sp>
        <p:nvSpPr>
          <p:cNvPr id="16" name="TextBox 15"/>
          <p:cNvSpPr txBox="1"/>
          <p:nvPr/>
        </p:nvSpPr>
        <p:spPr>
          <a:xfrm>
            <a:off x="896112" y="4297680"/>
            <a:ext cx="10625328" cy="365760"/>
          </a:xfrm>
          <a:prstGeom prst="rect">
            <a:avLst/>
          </a:prstGeom>
          <a:noFill/>
        </p:spPr>
        <p:txBody>
          <a:bodyPr wrap="square" anchor="t" lIns="0" rIns="0" tIns="0" bIns="0">
            <a:spAutoFit/>
          </a:bodyPr>
          <a:lstStyle/>
          <a:p>
            <a:pPr algn="l">
              <a:lnSpc>
                <a:spcPct val="125000"/>
              </a:lnSpc>
              <a:spcAft>
                <a:spcPts val="0"/>
              </a:spcAft>
            </a:pPr>
            <a:r>
              <a:rPr sz="1100" b="0" i="0">
                <a:solidFill>
                  <a:srgbClr val="8A94A6"/>
                </a:solidFill>
                <a:latin typeface="Segoe UI"/>
              </a:rPr>
              <a:t>Tecnologia, Mineria y Construccion son 463 contactos (42% de la base) y 27 dossiers. Consultoria/RRHH y Salud son 72 contactos y 12 dossiers. Reasignar ese volumen vale mas que cualquier mejora de copy.</a:t>
            </a:r>
          </a:p>
        </p:txBody>
      </p:sp>
      <p:sp>
        <p:nvSpPr>
          <p:cNvPr id="17" name="Rounded Rectangle 16"/>
          <p:cNvSpPr/>
          <p:nvPr/>
        </p:nvSpPr>
        <p:spPr>
          <a:xfrm>
            <a:off x="640080" y="4828032"/>
            <a:ext cx="91440" cy="91440"/>
          </a:xfrm>
          <a:prstGeom prst="roundRect">
            <a:avLst>
              <a:gd name="adj" fmla="val 6000"/>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6112" y="4745736"/>
            <a:ext cx="10625328" cy="274320"/>
          </a:xfrm>
          <a:prstGeom prst="rect">
            <a:avLst/>
          </a:prstGeom>
          <a:noFill/>
        </p:spPr>
        <p:txBody>
          <a:bodyPr wrap="square" anchor="t" lIns="0" rIns="0" tIns="0" bIns="0">
            <a:spAutoFit/>
          </a:bodyPr>
          <a:lstStyle/>
          <a:p>
            <a:pPr algn="l">
              <a:spcAft>
                <a:spcPts val="0"/>
              </a:spcAft>
            </a:pPr>
            <a:r>
              <a:rPr sz="1400" b="1" i="0">
                <a:solidFill>
                  <a:srgbClr val="F2F5F8"/>
                </a:solidFill>
                <a:latin typeface="Segoe UI"/>
              </a:rPr>
              <a:t>Un solo numero en el tablero: reuniones agendadas</a:t>
            </a:r>
          </a:p>
        </p:txBody>
      </p:sp>
      <p:sp>
        <p:nvSpPr>
          <p:cNvPr id="19" name="TextBox 18"/>
          <p:cNvSpPr txBox="1"/>
          <p:nvPr/>
        </p:nvSpPr>
        <p:spPr>
          <a:xfrm>
            <a:off x="896112" y="4992624"/>
            <a:ext cx="10625328" cy="365760"/>
          </a:xfrm>
          <a:prstGeom prst="rect">
            <a:avLst/>
          </a:prstGeom>
          <a:noFill/>
        </p:spPr>
        <p:txBody>
          <a:bodyPr wrap="square" anchor="t" lIns="0" rIns="0" tIns="0" bIns="0">
            <a:spAutoFit/>
          </a:bodyPr>
          <a:lstStyle/>
          <a:p>
            <a:pPr algn="l">
              <a:lnSpc>
                <a:spcPct val="125000"/>
              </a:lnSpc>
              <a:spcAft>
                <a:spcPts val="0"/>
              </a:spcAft>
            </a:pPr>
            <a:r>
              <a:rPr sz="1100" b="0" i="0">
                <a:solidFill>
                  <a:srgbClr val="8A94A6"/>
                </a:solidFill>
                <a:latin typeface="Segoe UI"/>
              </a:rPr>
              <a:t>Hoy el sistema celebra dossiers enviados. Es una metrica de actividad, no de resultado, y explica por que 82 se quedaron sin follow-up: ya habian cumplido su funcion en el tablero.</a:t>
            </a:r>
          </a:p>
        </p:txBody>
      </p:sp>
      <p:sp>
        <p:nvSpPr>
          <p:cNvPr id="20" name="TextBox 19"/>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21" name="TextBox 20"/>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EL SISTEMA</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Mejoras al programa que usamos</a:t>
            </a:r>
          </a:p>
        </p:txBody>
      </p:sp>
      <p:sp>
        <p:nvSpPr>
          <p:cNvPr id="4" name="TextBox 3"/>
          <p:cNvSpPr txBox="1"/>
          <p:nvPr/>
        </p:nvSpPr>
        <p:spPr>
          <a:xfrm>
            <a:off x="640080" y="1261872"/>
            <a:ext cx="10972800" cy="365760"/>
          </a:xfrm>
          <a:prstGeom prst="rect">
            <a:avLst/>
          </a:prstGeom>
          <a:noFill/>
        </p:spPr>
        <p:txBody>
          <a:bodyPr wrap="square" anchor="t" lIns="0" rIns="0" tIns="0" bIns="0">
            <a:spAutoFit/>
          </a:bodyPr>
          <a:lstStyle/>
          <a:p>
            <a:pPr algn="l">
              <a:spcAft>
                <a:spcPts val="0"/>
              </a:spcAft>
            </a:pPr>
            <a:r>
              <a:rPr sz="1300" b="0" i="0">
                <a:solidFill>
                  <a:srgbClr val="8A94A6"/>
                </a:solidFill>
                <a:latin typeface="Segoe UI"/>
              </a:rPr>
              <a:t>Cambios concretos en servidor.py, index.html, historial.json y el watcher</a:t>
            </a:r>
          </a:p>
        </p:txBody>
      </p:sp>
      <p:sp>
        <p:nvSpPr>
          <p:cNvPr id="5" name="Rectangle 4"/>
          <p:cNvSpPr/>
          <p:nvPr/>
        </p:nvSpPr>
        <p:spPr>
          <a:xfrm>
            <a:off x="640080" y="1682496"/>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965960"/>
            <a:ext cx="5303520" cy="274320"/>
          </a:xfrm>
          <a:prstGeom prst="rect">
            <a:avLst/>
          </a:prstGeom>
          <a:noFill/>
        </p:spPr>
        <p:txBody>
          <a:bodyPr wrap="square" anchor="t" lIns="0" rIns="0" tIns="0" bIns="0">
            <a:spAutoFit/>
          </a:bodyPr>
          <a:lstStyle/>
          <a:p>
            <a:pPr algn="l">
              <a:spcAft>
                <a:spcPts val="0"/>
              </a:spcAft>
            </a:pPr>
            <a:r>
              <a:rPr sz="1100" b="1" i="0">
                <a:solidFill>
                  <a:srgbClr val="F87171"/>
                </a:solidFill>
                <a:latin typeface="Segoe UI"/>
              </a:rPr>
              <a:t>URGENTE</a:t>
            </a:r>
          </a:p>
        </p:txBody>
      </p:sp>
      <p:sp>
        <p:nvSpPr>
          <p:cNvPr id="7" name="Rounded Rectangle 6"/>
          <p:cNvSpPr/>
          <p:nvPr/>
        </p:nvSpPr>
        <p:spPr>
          <a:xfrm>
            <a:off x="640080" y="2368296"/>
            <a:ext cx="91440" cy="91440"/>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6112" y="2286000"/>
            <a:ext cx="4956048" cy="274320"/>
          </a:xfrm>
          <a:prstGeom prst="rect">
            <a:avLst/>
          </a:prstGeom>
          <a:noFill/>
        </p:spPr>
        <p:txBody>
          <a:bodyPr wrap="square" anchor="t" lIns="0" rIns="0" tIns="0" bIns="0">
            <a:spAutoFit/>
          </a:bodyPr>
          <a:lstStyle/>
          <a:p>
            <a:pPr algn="l">
              <a:spcAft>
                <a:spcPts val="0"/>
              </a:spcAft>
            </a:pPr>
            <a:r>
              <a:rPr sz="1300" b="1" i="0">
                <a:solidFill>
                  <a:srgbClr val="F2F5F8"/>
                </a:solidFill>
                <a:latin typeface="Segoe UI"/>
              </a:rPr>
              <a:t>Alertas de vencimiento automaticas</a:t>
            </a:r>
          </a:p>
        </p:txBody>
      </p:sp>
      <p:sp>
        <p:nvSpPr>
          <p:cNvPr id="9" name="TextBox 8"/>
          <p:cNvSpPr txBox="1"/>
          <p:nvPr/>
        </p:nvSpPr>
        <p:spPr>
          <a:xfrm>
            <a:off x="896112" y="2532888"/>
            <a:ext cx="4956048" cy="365760"/>
          </a:xfrm>
          <a:prstGeom prst="rect">
            <a:avLst/>
          </a:prstGeom>
          <a:noFill/>
        </p:spPr>
        <p:txBody>
          <a:bodyPr wrap="square" anchor="t" lIns="0" rIns="0" tIns="0" bIns="0">
            <a:spAutoFit/>
          </a:bodyPr>
          <a:lstStyle/>
          <a:p>
            <a:pPr algn="l">
              <a:lnSpc>
                <a:spcPct val="125000"/>
              </a:lnSpc>
              <a:spcAft>
                <a:spcPts val="0"/>
              </a:spcAft>
            </a:pPr>
            <a:r>
              <a:rPr sz="1050" b="0" i="0">
                <a:solidFill>
                  <a:srgbClr val="8A94A6"/>
                </a:solidFill>
                <a:latin typeface="Segoe UI"/>
              </a:rPr>
              <a:t>El watcher ya detecta cambios de stage. Debe ademas marcar en rojo todo contacto con dossier enviado hace mas de 3 dias sin SEG1. Hoy no avisa nada y por eso se perdieron 82.</a:t>
            </a:r>
          </a:p>
        </p:txBody>
      </p:sp>
      <p:sp>
        <p:nvSpPr>
          <p:cNvPr id="10" name="Rounded Rectangle 9"/>
          <p:cNvSpPr/>
          <p:nvPr/>
        </p:nvSpPr>
        <p:spPr>
          <a:xfrm>
            <a:off x="640080" y="3118104"/>
            <a:ext cx="91440" cy="91440"/>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6112" y="3035808"/>
            <a:ext cx="4956048" cy="274320"/>
          </a:xfrm>
          <a:prstGeom prst="rect">
            <a:avLst/>
          </a:prstGeom>
          <a:noFill/>
        </p:spPr>
        <p:txBody>
          <a:bodyPr wrap="square" anchor="t" lIns="0" rIns="0" tIns="0" bIns="0">
            <a:spAutoFit/>
          </a:bodyPr>
          <a:lstStyle/>
          <a:p>
            <a:pPr algn="l">
              <a:spcAft>
                <a:spcPts val="0"/>
              </a:spcAft>
            </a:pPr>
            <a:r>
              <a:rPr sz="1300" b="1" i="0">
                <a:solidFill>
                  <a:srgbClr val="F2F5F8"/>
                </a:solidFill>
                <a:latin typeface="Segoe UI"/>
              </a:rPr>
              <a:t>Secuencia obligatoria, no opcional</a:t>
            </a:r>
          </a:p>
        </p:txBody>
      </p:sp>
      <p:sp>
        <p:nvSpPr>
          <p:cNvPr id="12" name="TextBox 11"/>
          <p:cNvSpPr txBox="1"/>
          <p:nvPr/>
        </p:nvSpPr>
        <p:spPr>
          <a:xfrm>
            <a:off x="896112" y="3282696"/>
            <a:ext cx="4956048" cy="365760"/>
          </a:xfrm>
          <a:prstGeom prst="rect">
            <a:avLst/>
          </a:prstGeom>
          <a:noFill/>
        </p:spPr>
        <p:txBody>
          <a:bodyPr wrap="square" anchor="t" lIns="0" rIns="0" tIns="0" bIns="0">
            <a:spAutoFit/>
          </a:bodyPr>
          <a:lstStyle/>
          <a:p>
            <a:pPr algn="l">
              <a:lnSpc>
                <a:spcPct val="125000"/>
              </a:lnSpc>
              <a:spcAft>
                <a:spcPts val="0"/>
              </a:spcAft>
            </a:pPr>
            <a:r>
              <a:rPr sz="1050" b="0" i="0">
                <a:solidFill>
                  <a:srgbClr val="8A94A6"/>
                </a:solidFill>
                <a:latin typeface="Segoe UI"/>
              </a:rPr>
              <a:t>El programa deberia negarse a generar un MSG1 nuevo si hay mas de N contactos con follow-up vencido. Forzar el orden correcto por diseno, no por disciplina.</a:t>
            </a:r>
          </a:p>
        </p:txBody>
      </p:sp>
      <p:sp>
        <p:nvSpPr>
          <p:cNvPr id="13" name="Rounded Rectangle 12"/>
          <p:cNvSpPr/>
          <p:nvPr/>
        </p:nvSpPr>
        <p:spPr>
          <a:xfrm>
            <a:off x="640080" y="3867912"/>
            <a:ext cx="91440" cy="91440"/>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2" y="3785616"/>
            <a:ext cx="4956048" cy="274320"/>
          </a:xfrm>
          <a:prstGeom prst="rect">
            <a:avLst/>
          </a:prstGeom>
          <a:noFill/>
        </p:spPr>
        <p:txBody>
          <a:bodyPr wrap="square" anchor="t" lIns="0" rIns="0" tIns="0" bIns="0">
            <a:spAutoFit/>
          </a:bodyPr>
          <a:lstStyle/>
          <a:p>
            <a:pPr algn="l">
              <a:spcAft>
                <a:spcPts val="0"/>
              </a:spcAft>
            </a:pPr>
            <a:r>
              <a:rPr sz="1300" b="1" i="0">
                <a:solidFill>
                  <a:srgbClr val="F2F5F8"/>
                </a:solidFill>
                <a:latin typeface="Segoe UI"/>
              </a:rPr>
              <a:t>Campo de proxima accion + fecha</a:t>
            </a:r>
          </a:p>
        </p:txBody>
      </p:sp>
      <p:sp>
        <p:nvSpPr>
          <p:cNvPr id="15" name="TextBox 14"/>
          <p:cNvSpPr txBox="1"/>
          <p:nvPr/>
        </p:nvSpPr>
        <p:spPr>
          <a:xfrm>
            <a:off x="896112" y="4032504"/>
            <a:ext cx="4956048" cy="365760"/>
          </a:xfrm>
          <a:prstGeom prst="rect">
            <a:avLst/>
          </a:prstGeom>
          <a:noFill/>
        </p:spPr>
        <p:txBody>
          <a:bodyPr wrap="square" anchor="t" lIns="0" rIns="0" tIns="0" bIns="0">
            <a:spAutoFit/>
          </a:bodyPr>
          <a:lstStyle/>
          <a:p>
            <a:pPr algn="l">
              <a:lnSpc>
                <a:spcPct val="125000"/>
              </a:lnSpc>
              <a:spcAft>
                <a:spcPts val="0"/>
              </a:spcAft>
            </a:pPr>
            <a:r>
              <a:rPr sz="1050" b="0" i="0">
                <a:solidFill>
                  <a:srgbClr val="8A94A6"/>
                </a:solidFill>
                <a:latin typeface="Segoe UI"/>
              </a:rPr>
              <a:t>historial.json tiene stage pero no tiene 'proximo toque'. Sin ese campo el sistema no puede recordarnos nada.</a:t>
            </a:r>
          </a:p>
        </p:txBody>
      </p:sp>
      <p:sp>
        <p:nvSpPr>
          <p:cNvPr id="16" name="TextBox 15"/>
          <p:cNvSpPr txBox="1"/>
          <p:nvPr/>
        </p:nvSpPr>
        <p:spPr>
          <a:xfrm>
            <a:off x="6309360" y="1965960"/>
            <a:ext cx="530352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IMPORTANTE</a:t>
            </a:r>
          </a:p>
        </p:txBody>
      </p:sp>
      <p:sp>
        <p:nvSpPr>
          <p:cNvPr id="17" name="Rounded Rectangle 16"/>
          <p:cNvSpPr/>
          <p:nvPr/>
        </p:nvSpPr>
        <p:spPr>
          <a:xfrm>
            <a:off x="6309360" y="2368296"/>
            <a:ext cx="91440" cy="91440"/>
          </a:xfrm>
          <a:prstGeom prst="roundRect">
            <a:avLst>
              <a:gd name="adj" fmla="val 6000"/>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65392" y="2286000"/>
            <a:ext cx="4956048" cy="274320"/>
          </a:xfrm>
          <a:prstGeom prst="rect">
            <a:avLst/>
          </a:prstGeom>
          <a:noFill/>
        </p:spPr>
        <p:txBody>
          <a:bodyPr wrap="square" anchor="t" lIns="0" rIns="0" tIns="0" bIns="0">
            <a:spAutoFit/>
          </a:bodyPr>
          <a:lstStyle/>
          <a:p>
            <a:pPr algn="l">
              <a:spcAft>
                <a:spcPts val="0"/>
              </a:spcAft>
            </a:pPr>
            <a:r>
              <a:rPr sz="1300" b="1" i="0">
                <a:solidFill>
                  <a:srgbClr val="F2F5F8"/>
                </a:solidFill>
                <a:latin typeface="Segoe UI"/>
              </a:rPr>
              <a:t>Validador de mensaje antes de enviar</a:t>
            </a:r>
          </a:p>
        </p:txBody>
      </p:sp>
      <p:sp>
        <p:nvSpPr>
          <p:cNvPr id="19" name="TextBox 18"/>
          <p:cNvSpPr txBox="1"/>
          <p:nvPr/>
        </p:nvSpPr>
        <p:spPr>
          <a:xfrm>
            <a:off x="6565392" y="2532888"/>
            <a:ext cx="4956048" cy="365760"/>
          </a:xfrm>
          <a:prstGeom prst="rect">
            <a:avLst/>
          </a:prstGeom>
          <a:noFill/>
        </p:spPr>
        <p:txBody>
          <a:bodyPr wrap="square" anchor="t" lIns="0" rIns="0" tIns="0" bIns="0">
            <a:spAutoFit/>
          </a:bodyPr>
          <a:lstStyle/>
          <a:p>
            <a:pPr algn="l">
              <a:lnSpc>
                <a:spcPct val="125000"/>
              </a:lnSpc>
              <a:spcAft>
                <a:spcPts val="0"/>
              </a:spcAft>
            </a:pPr>
            <a:r>
              <a:rPr sz="1050" b="0" i="0">
                <a:solidFill>
                  <a:srgbClr val="8A94A6"/>
                </a:solidFill>
                <a:latin typeface="Segoe UI"/>
              </a:rPr>
              <a:t>Chequeo automatico: cuenta palabras (rechaza +65), detecta 'Hint' en MSG1, detecta frases de la blocklist y verifica que el cliente citado corresponda al sector. Los errores de cliente-fuera-de-sector se repitieron todo el trimestre.</a:t>
            </a:r>
          </a:p>
        </p:txBody>
      </p:sp>
      <p:sp>
        <p:nvSpPr>
          <p:cNvPr id="20" name="Rounded Rectangle 19"/>
          <p:cNvSpPr/>
          <p:nvPr/>
        </p:nvSpPr>
        <p:spPr>
          <a:xfrm>
            <a:off x="6309360" y="3118104"/>
            <a:ext cx="91440" cy="91440"/>
          </a:xfrm>
          <a:prstGeom prst="roundRect">
            <a:avLst>
              <a:gd name="adj" fmla="val 6000"/>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65392" y="3035808"/>
            <a:ext cx="4956048" cy="274320"/>
          </a:xfrm>
          <a:prstGeom prst="rect">
            <a:avLst/>
          </a:prstGeom>
          <a:noFill/>
        </p:spPr>
        <p:txBody>
          <a:bodyPr wrap="square" anchor="t" lIns="0" rIns="0" tIns="0" bIns="0">
            <a:spAutoFit/>
          </a:bodyPr>
          <a:lstStyle/>
          <a:p>
            <a:pPr algn="l">
              <a:spcAft>
                <a:spcPts val="0"/>
              </a:spcAft>
            </a:pPr>
            <a:r>
              <a:rPr sz="1300" b="1" i="0">
                <a:solidFill>
                  <a:srgbClr val="F2F5F8"/>
                </a:solidFill>
                <a:latin typeface="Segoe UI"/>
              </a:rPr>
              <a:t>Dashboard con embudo real</a:t>
            </a:r>
          </a:p>
        </p:txBody>
      </p:sp>
      <p:sp>
        <p:nvSpPr>
          <p:cNvPr id="22" name="TextBox 21"/>
          <p:cNvSpPr txBox="1"/>
          <p:nvPr/>
        </p:nvSpPr>
        <p:spPr>
          <a:xfrm>
            <a:off x="6565392" y="3282696"/>
            <a:ext cx="4956048" cy="365760"/>
          </a:xfrm>
          <a:prstGeom prst="rect">
            <a:avLst/>
          </a:prstGeom>
          <a:noFill/>
        </p:spPr>
        <p:txBody>
          <a:bodyPr wrap="square" anchor="t" lIns="0" rIns="0" tIns="0" bIns="0">
            <a:spAutoFit/>
          </a:bodyPr>
          <a:lstStyle/>
          <a:p>
            <a:pPr algn="l">
              <a:lnSpc>
                <a:spcPct val="125000"/>
              </a:lnSpc>
              <a:spcAft>
                <a:spcPts val="0"/>
              </a:spcAft>
            </a:pPr>
            <a:r>
              <a:rPr sz="1050" b="0" i="0">
                <a:solidFill>
                  <a:srgbClr val="8A94A6"/>
                </a:solidFill>
                <a:latin typeface="Segoe UI"/>
              </a:rPr>
              <a:t>Hoy el tablero muestra contactos y dossiers. Debe mostrar: respuestas sin MSG2, dossiers sin SEG1 y reuniones. Las tres cosas que importan.</a:t>
            </a:r>
          </a:p>
        </p:txBody>
      </p:sp>
      <p:sp>
        <p:nvSpPr>
          <p:cNvPr id="23" name="Rounded Rectangle 22"/>
          <p:cNvSpPr/>
          <p:nvPr/>
        </p:nvSpPr>
        <p:spPr>
          <a:xfrm>
            <a:off x="6309360" y="3867912"/>
            <a:ext cx="91440" cy="91440"/>
          </a:xfrm>
          <a:prstGeom prst="roundRect">
            <a:avLst>
              <a:gd name="adj" fmla="val 6000"/>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65392" y="3785616"/>
            <a:ext cx="4956048" cy="274320"/>
          </a:xfrm>
          <a:prstGeom prst="rect">
            <a:avLst/>
          </a:prstGeom>
          <a:noFill/>
        </p:spPr>
        <p:txBody>
          <a:bodyPr wrap="square" anchor="t" lIns="0" rIns="0" tIns="0" bIns="0">
            <a:spAutoFit/>
          </a:bodyPr>
          <a:lstStyle/>
          <a:p>
            <a:pPr algn="l">
              <a:spcAft>
                <a:spcPts val="0"/>
              </a:spcAft>
            </a:pPr>
            <a:r>
              <a:rPr sz="1300" b="1" i="0">
                <a:solidFill>
                  <a:srgbClr val="F2F5F8"/>
                </a:solidFill>
                <a:latin typeface="Segoe UI"/>
              </a:rPr>
              <a:t>Registro del toque, no solo del stage</a:t>
            </a:r>
          </a:p>
        </p:txBody>
      </p:sp>
      <p:sp>
        <p:nvSpPr>
          <p:cNvPr id="25" name="TextBox 24"/>
          <p:cNvSpPr txBox="1"/>
          <p:nvPr/>
        </p:nvSpPr>
        <p:spPr>
          <a:xfrm>
            <a:off x="6565392" y="4032504"/>
            <a:ext cx="4956048" cy="365760"/>
          </a:xfrm>
          <a:prstGeom prst="rect">
            <a:avLst/>
          </a:prstGeom>
          <a:noFill/>
        </p:spPr>
        <p:txBody>
          <a:bodyPr wrap="square" anchor="t" lIns="0" rIns="0" tIns="0" bIns="0">
            <a:spAutoFit/>
          </a:bodyPr>
          <a:lstStyle/>
          <a:p>
            <a:pPr algn="l">
              <a:lnSpc>
                <a:spcPct val="125000"/>
              </a:lnSpc>
              <a:spcAft>
                <a:spcPts val="0"/>
              </a:spcAft>
            </a:pPr>
            <a:r>
              <a:rPr sz="1050" b="0" i="0">
                <a:solidFill>
                  <a:srgbClr val="8A94A6"/>
                </a:solidFill>
                <a:latin typeface="Segoe UI"/>
              </a:rPr>
              <a:t>Guardar cuantos toques recibio cada contacto permite medir la secuencia. Hoy es imposible saberlo sin parsear los .md.</a:t>
            </a:r>
          </a:p>
        </p:txBody>
      </p:sp>
      <p:sp>
        <p:nvSpPr>
          <p:cNvPr id="26" name="TextBox 25"/>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27" name="TextBox 26"/>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HALLAZGO</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La conversacion convierte 7 veces mas que el dossier</a:t>
            </a:r>
          </a:p>
        </p:txBody>
      </p:sp>
      <p:sp>
        <p:nvSpPr>
          <p:cNvPr id="4" name="TextBox 3"/>
          <p:cNvSpPr txBox="1"/>
          <p:nvPr/>
        </p:nvSpPr>
        <p:spPr>
          <a:xfrm>
            <a:off x="640080" y="1261872"/>
            <a:ext cx="10972800" cy="365760"/>
          </a:xfrm>
          <a:prstGeom prst="rect">
            <a:avLst/>
          </a:prstGeom>
          <a:noFill/>
        </p:spPr>
        <p:txBody>
          <a:bodyPr wrap="square" anchor="t" lIns="0" rIns="0" tIns="0" bIns="0">
            <a:spAutoFit/>
          </a:bodyPr>
          <a:lstStyle/>
          <a:p>
            <a:pPr algn="l">
              <a:spcAft>
                <a:spcPts val="0"/>
              </a:spcAft>
            </a:pPr>
            <a:r>
              <a:rPr sz="1300" b="0" i="0">
                <a:solidFill>
                  <a:srgbClr val="8A94A6"/>
                </a:solidFill>
                <a:latin typeface="Segoe UI"/>
              </a:rPr>
              <a:t>Siete de las ocho reuniones del proyecto NO pasaron por el dossier</a:t>
            </a:r>
          </a:p>
        </p:txBody>
      </p:sp>
      <p:sp>
        <p:nvSpPr>
          <p:cNvPr id="5" name="Rectangle 4"/>
          <p:cNvSpPr/>
          <p:nvPr/>
        </p:nvSpPr>
        <p:spPr>
          <a:xfrm>
            <a:off x="640080" y="1682496"/>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221992"/>
            <a:ext cx="3108960" cy="457200"/>
          </a:xfrm>
          <a:prstGeom prst="rect">
            <a:avLst/>
          </a:prstGeom>
          <a:noFill/>
        </p:spPr>
        <p:txBody>
          <a:bodyPr wrap="square" anchor="ctr" lIns="0" rIns="0" tIns="0" bIns="0">
            <a:spAutoFit/>
          </a:bodyPr>
          <a:lstStyle/>
          <a:p>
            <a:pPr algn="l">
              <a:spcAft>
                <a:spcPts val="0"/>
              </a:spcAft>
            </a:pPr>
            <a:r>
              <a:rPr sz="1100" b="0" i="0">
                <a:solidFill>
                  <a:srgbClr val="F2F5F8"/>
                </a:solidFill>
                <a:latin typeface="Segoe UI"/>
              </a:rPr>
              <a:t>Hubo conversacion real</a:t>
            </a:r>
          </a:p>
        </p:txBody>
      </p:sp>
      <p:sp>
        <p:nvSpPr>
          <p:cNvPr id="7" name="Rounded Rectangle 6"/>
          <p:cNvSpPr/>
          <p:nvPr/>
        </p:nvSpPr>
        <p:spPr>
          <a:xfrm>
            <a:off x="3749040" y="2240280"/>
            <a:ext cx="6858000" cy="457200"/>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749040" y="2240280"/>
            <a:ext cx="6126480" cy="457200"/>
          </a:xfrm>
          <a:prstGeom prst="roundRect">
            <a:avLst>
              <a:gd name="adj" fmla="val 6000"/>
            </a:avLst>
          </a:prstGeom>
          <a:solidFill>
            <a:srgbClr val="3DD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716768" y="2221992"/>
            <a:ext cx="914400" cy="457200"/>
          </a:xfrm>
          <a:prstGeom prst="rect">
            <a:avLst/>
          </a:prstGeom>
          <a:noFill/>
        </p:spPr>
        <p:txBody>
          <a:bodyPr wrap="square" anchor="ctr" lIns="0" rIns="0" tIns="0" bIns="0">
            <a:spAutoFit/>
          </a:bodyPr>
          <a:lstStyle/>
          <a:p>
            <a:pPr algn="l">
              <a:spcAft>
                <a:spcPts val="0"/>
              </a:spcAft>
            </a:pPr>
            <a:r>
              <a:rPr sz="1150" b="1" i="0">
                <a:solidFill>
                  <a:srgbClr val="3DD68C"/>
                </a:solidFill>
                <a:latin typeface="Segoe UI"/>
              </a:rPr>
              <a:t>6.7%</a:t>
            </a:r>
          </a:p>
        </p:txBody>
      </p:sp>
      <p:sp>
        <p:nvSpPr>
          <p:cNvPr id="10" name="TextBox 9"/>
          <p:cNvSpPr txBox="1"/>
          <p:nvPr/>
        </p:nvSpPr>
        <p:spPr>
          <a:xfrm>
            <a:off x="640080" y="2935224"/>
            <a:ext cx="3108960" cy="457200"/>
          </a:xfrm>
          <a:prstGeom prst="rect">
            <a:avLst/>
          </a:prstGeom>
          <a:noFill/>
        </p:spPr>
        <p:txBody>
          <a:bodyPr wrap="square" anchor="ctr" lIns="0" rIns="0" tIns="0" bIns="0">
            <a:spAutoFit/>
          </a:bodyPr>
          <a:lstStyle/>
          <a:p>
            <a:pPr algn="l">
              <a:spcAft>
                <a:spcPts val="0"/>
              </a:spcAft>
            </a:pPr>
            <a:r>
              <a:rPr sz="1100" b="0" i="0">
                <a:solidFill>
                  <a:srgbClr val="F2F5F8"/>
                </a:solidFill>
                <a:latin typeface="Segoe UI"/>
              </a:rPr>
              <a:t>Se mando el dossier</a:t>
            </a:r>
          </a:p>
        </p:txBody>
      </p:sp>
      <p:sp>
        <p:nvSpPr>
          <p:cNvPr id="11" name="Rounded Rectangle 10"/>
          <p:cNvSpPr/>
          <p:nvPr/>
        </p:nvSpPr>
        <p:spPr>
          <a:xfrm>
            <a:off x="3749040" y="2953512"/>
            <a:ext cx="6858000" cy="457200"/>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3749040" y="2953512"/>
            <a:ext cx="822960" cy="457200"/>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16768" y="2935224"/>
            <a:ext cx="914400" cy="457200"/>
          </a:xfrm>
          <a:prstGeom prst="rect">
            <a:avLst/>
          </a:prstGeom>
          <a:noFill/>
        </p:spPr>
        <p:txBody>
          <a:bodyPr wrap="square" anchor="ctr" lIns="0" rIns="0" tIns="0" bIns="0">
            <a:spAutoFit/>
          </a:bodyPr>
          <a:lstStyle/>
          <a:p>
            <a:pPr algn="l">
              <a:spcAft>
                <a:spcPts val="0"/>
              </a:spcAft>
            </a:pPr>
            <a:r>
              <a:rPr sz="1150" b="1" i="0">
                <a:solidFill>
                  <a:srgbClr val="F87171"/>
                </a:solidFill>
                <a:latin typeface="Segoe UI"/>
              </a:rPr>
              <a:t>0.9%</a:t>
            </a:r>
          </a:p>
        </p:txBody>
      </p:sp>
      <p:sp>
        <p:nvSpPr>
          <p:cNvPr id="14" name="TextBox 13"/>
          <p:cNvSpPr txBox="1"/>
          <p:nvPr/>
        </p:nvSpPr>
        <p:spPr>
          <a:xfrm>
            <a:off x="640080" y="1920240"/>
            <a:ext cx="73152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TASA DE REUNION SEGUN EL CAMINO</a:t>
            </a:r>
          </a:p>
        </p:txBody>
      </p:sp>
      <p:sp>
        <p:nvSpPr>
          <p:cNvPr id="15" name="Rounded Rectangle 14"/>
          <p:cNvSpPr/>
          <p:nvPr/>
        </p:nvSpPr>
        <p:spPr>
          <a:xfrm>
            <a:off x="640080" y="3886200"/>
            <a:ext cx="2606040" cy="1645920"/>
          </a:xfrm>
          <a:prstGeom prst="roundRect">
            <a:avLst>
              <a:gd name="adj" fmla="val 6000"/>
            </a:avLst>
          </a:prstGeom>
          <a:solidFill>
            <a:srgbClr val="181D25"/>
          </a:solidFill>
          <a:ln w="1524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41248" y="4032504"/>
            <a:ext cx="2286000" cy="457200"/>
          </a:xfrm>
          <a:prstGeom prst="rect">
            <a:avLst/>
          </a:prstGeom>
          <a:noFill/>
        </p:spPr>
        <p:txBody>
          <a:bodyPr wrap="square" anchor="t" lIns="0" rIns="0" tIns="0" bIns="0">
            <a:spAutoFit/>
          </a:bodyPr>
          <a:lstStyle/>
          <a:p>
            <a:pPr algn="l">
              <a:spcAft>
                <a:spcPts val="0"/>
              </a:spcAft>
            </a:pPr>
            <a:r>
              <a:rPr sz="3000" b="1" i="0">
                <a:solidFill>
                  <a:srgbClr val="FBBF24"/>
                </a:solidFill>
                <a:latin typeface="Segoe UI"/>
              </a:rPr>
              <a:t>66</a:t>
            </a:r>
          </a:p>
        </p:txBody>
      </p:sp>
      <p:sp>
        <p:nvSpPr>
          <p:cNvPr id="17" name="TextBox 16"/>
          <p:cNvSpPr txBox="1"/>
          <p:nvPr/>
        </p:nvSpPr>
        <p:spPr>
          <a:xfrm>
            <a:off x="841248" y="4562856"/>
            <a:ext cx="2286000" cy="457200"/>
          </a:xfrm>
          <a:prstGeom prst="rect">
            <a:avLst/>
          </a:prstGeom>
          <a:noFill/>
        </p:spPr>
        <p:txBody>
          <a:bodyPr wrap="square" anchor="t" lIns="0" rIns="0" tIns="0" bIns="0">
            <a:spAutoFit/>
          </a:bodyPr>
          <a:lstStyle/>
          <a:p>
            <a:pPr algn="l">
              <a:lnSpc>
                <a:spcPct val="115000"/>
              </a:lnSpc>
              <a:spcAft>
                <a:spcPts val="0"/>
              </a:spcAft>
            </a:pPr>
            <a:r>
              <a:rPr sz="1100" b="1" i="0">
                <a:solidFill>
                  <a:srgbClr val="F2F5F8"/>
                </a:solidFill>
                <a:latin typeface="Segoe UI"/>
              </a:rPr>
              <a:t>respondieron DESPUES</a:t>
            </a:r>
          </a:p>
          <a:p>
            <a:pPr algn="l">
              <a:lnSpc>
                <a:spcPct val="115000"/>
              </a:lnSpc>
              <a:spcAft>
                <a:spcPts val="0"/>
              </a:spcAft>
            </a:pPr>
            <a:r>
              <a:rPr sz="1100" b="1" i="0">
                <a:solidFill>
                  <a:srgbClr val="F2F5F8"/>
                </a:solidFill>
                <a:latin typeface="Segoe UI"/>
              </a:rPr>
              <a:t>de recibir el dossier</a:t>
            </a:r>
          </a:p>
        </p:txBody>
      </p:sp>
      <p:sp>
        <p:nvSpPr>
          <p:cNvPr id="18" name="TextBox 17"/>
          <p:cNvSpPr txBox="1"/>
          <p:nvPr/>
        </p:nvSpPr>
        <p:spPr>
          <a:xfrm>
            <a:off x="841248" y="5020056"/>
            <a:ext cx="2286000" cy="457200"/>
          </a:xfrm>
          <a:prstGeom prst="rect">
            <a:avLst/>
          </a:prstGeom>
          <a:noFill/>
        </p:spPr>
        <p:txBody>
          <a:bodyPr wrap="square" anchor="t" lIns="0" rIns="0" tIns="0" bIns="0">
            <a:spAutoFit/>
          </a:bodyPr>
          <a:lstStyle/>
          <a:p>
            <a:pPr algn="l">
              <a:lnSpc>
                <a:spcPct val="120000"/>
              </a:lnSpc>
              <a:spcAft>
                <a:spcPts val="0"/>
              </a:spcAft>
            </a:pPr>
            <a:r>
              <a:rPr sz="950" b="0" i="0">
                <a:solidFill>
                  <a:srgbClr val="8A94A6"/>
                </a:solidFill>
                <a:latin typeface="Segoe UI"/>
              </a:rPr>
              <a:t>no desaparecieron:</a:t>
            </a:r>
          </a:p>
          <a:p>
            <a:pPr algn="l">
              <a:lnSpc>
                <a:spcPct val="120000"/>
              </a:lnSpc>
              <a:spcAft>
                <a:spcPts val="0"/>
              </a:spcAft>
            </a:pPr>
            <a:r>
              <a:rPr sz="950" b="0" i="0">
                <a:solidFill>
                  <a:srgbClr val="8A94A6"/>
                </a:solidFill>
                <a:latin typeface="Segoe UI"/>
              </a:rPr>
              <a:t>contestaron</a:t>
            </a:r>
          </a:p>
        </p:txBody>
      </p:sp>
      <p:sp>
        <p:nvSpPr>
          <p:cNvPr id="19" name="Rounded Rectangle 18"/>
          <p:cNvSpPr/>
          <p:nvPr/>
        </p:nvSpPr>
        <p:spPr>
          <a:xfrm>
            <a:off x="3429000" y="3886200"/>
            <a:ext cx="2606040" cy="1645920"/>
          </a:xfrm>
          <a:prstGeom prst="roundRect">
            <a:avLst>
              <a:gd name="adj" fmla="val 6000"/>
            </a:avLst>
          </a:prstGeom>
          <a:solidFill>
            <a:srgbClr val="181D25"/>
          </a:solidFill>
          <a:ln w="1524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630168" y="4032504"/>
            <a:ext cx="2286000" cy="457200"/>
          </a:xfrm>
          <a:prstGeom prst="rect">
            <a:avLst/>
          </a:prstGeom>
          <a:noFill/>
        </p:spPr>
        <p:txBody>
          <a:bodyPr wrap="square" anchor="t" lIns="0" rIns="0" tIns="0" bIns="0">
            <a:spAutoFit/>
          </a:bodyPr>
          <a:lstStyle/>
          <a:p>
            <a:pPr algn="l">
              <a:spcAft>
                <a:spcPts val="0"/>
              </a:spcAft>
            </a:pPr>
            <a:r>
              <a:rPr sz="3000" b="1" i="0">
                <a:solidFill>
                  <a:srgbClr val="F87171"/>
                </a:solidFill>
                <a:latin typeface="Segoe UI"/>
              </a:rPr>
              <a:t>1</a:t>
            </a:r>
          </a:p>
        </p:txBody>
      </p:sp>
      <p:sp>
        <p:nvSpPr>
          <p:cNvPr id="21" name="TextBox 20"/>
          <p:cNvSpPr txBox="1"/>
          <p:nvPr/>
        </p:nvSpPr>
        <p:spPr>
          <a:xfrm>
            <a:off x="3630168" y="4562856"/>
            <a:ext cx="2286000" cy="457200"/>
          </a:xfrm>
          <a:prstGeom prst="rect">
            <a:avLst/>
          </a:prstGeom>
          <a:noFill/>
        </p:spPr>
        <p:txBody>
          <a:bodyPr wrap="square" anchor="t" lIns="0" rIns="0" tIns="0" bIns="0">
            <a:spAutoFit/>
          </a:bodyPr>
          <a:lstStyle/>
          <a:p>
            <a:pPr algn="l">
              <a:lnSpc>
                <a:spcPct val="115000"/>
              </a:lnSpc>
              <a:spcAft>
                <a:spcPts val="0"/>
              </a:spcAft>
            </a:pPr>
            <a:r>
              <a:rPr sz="1100" b="1" i="0">
                <a:solidFill>
                  <a:srgbClr val="F2F5F8"/>
                </a:solidFill>
                <a:latin typeface="Segoe UI"/>
              </a:rPr>
              <a:t>de esos 66 termino</a:t>
            </a:r>
          </a:p>
          <a:p>
            <a:pPr algn="l">
              <a:lnSpc>
                <a:spcPct val="115000"/>
              </a:lnSpc>
              <a:spcAft>
                <a:spcPts val="0"/>
              </a:spcAft>
            </a:pPr>
            <a:r>
              <a:rPr sz="1100" b="1" i="0">
                <a:solidFill>
                  <a:srgbClr val="F2F5F8"/>
                </a:solidFill>
                <a:latin typeface="Segoe UI"/>
              </a:rPr>
              <a:t>en reunion</a:t>
            </a:r>
          </a:p>
        </p:txBody>
      </p:sp>
      <p:sp>
        <p:nvSpPr>
          <p:cNvPr id="22" name="TextBox 21"/>
          <p:cNvSpPr txBox="1"/>
          <p:nvPr/>
        </p:nvSpPr>
        <p:spPr>
          <a:xfrm>
            <a:off x="3630168" y="5020056"/>
            <a:ext cx="2286000" cy="457200"/>
          </a:xfrm>
          <a:prstGeom prst="rect">
            <a:avLst/>
          </a:prstGeom>
          <a:noFill/>
        </p:spPr>
        <p:txBody>
          <a:bodyPr wrap="square" anchor="t" lIns="0" rIns="0" tIns="0" bIns="0">
            <a:spAutoFit/>
          </a:bodyPr>
          <a:lstStyle/>
          <a:p>
            <a:pPr algn="l">
              <a:lnSpc>
                <a:spcPct val="120000"/>
              </a:lnSpc>
              <a:spcAft>
                <a:spcPts val="0"/>
              </a:spcAft>
            </a:pPr>
            <a:r>
              <a:rPr sz="950" b="0" i="0">
                <a:solidFill>
                  <a:srgbClr val="8A94A6"/>
                </a:solidFill>
                <a:latin typeface="Segoe UI"/>
              </a:rPr>
              <a:t>nadie propuso</a:t>
            </a:r>
          </a:p>
          <a:p>
            <a:pPr algn="l">
              <a:lnSpc>
                <a:spcPct val="120000"/>
              </a:lnSpc>
              <a:spcAft>
                <a:spcPts val="0"/>
              </a:spcAft>
            </a:pPr>
            <a:r>
              <a:rPr sz="950" b="0" i="0">
                <a:solidFill>
                  <a:srgbClr val="8A94A6"/>
                </a:solidFill>
                <a:latin typeface="Segoe UI"/>
              </a:rPr>
              <a:t>una conversacion</a:t>
            </a:r>
          </a:p>
        </p:txBody>
      </p:sp>
      <p:sp>
        <p:nvSpPr>
          <p:cNvPr id="23" name="Rounded Rectangle 22"/>
          <p:cNvSpPr/>
          <p:nvPr/>
        </p:nvSpPr>
        <p:spPr>
          <a:xfrm>
            <a:off x="6217920" y="3886200"/>
            <a:ext cx="2606040" cy="1645920"/>
          </a:xfrm>
          <a:prstGeom prst="roundRect">
            <a:avLst>
              <a:gd name="adj" fmla="val 6000"/>
            </a:avLst>
          </a:prstGeom>
          <a:solidFill>
            <a:srgbClr val="181D25"/>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19088" y="4032504"/>
            <a:ext cx="2286000" cy="457200"/>
          </a:xfrm>
          <a:prstGeom prst="rect">
            <a:avLst/>
          </a:prstGeom>
          <a:noFill/>
        </p:spPr>
        <p:txBody>
          <a:bodyPr wrap="square" anchor="t" lIns="0" rIns="0" tIns="0" bIns="0">
            <a:spAutoFit/>
          </a:bodyPr>
          <a:lstStyle/>
          <a:p>
            <a:pPr algn="l">
              <a:spcAft>
                <a:spcPts val="0"/>
              </a:spcAft>
            </a:pPr>
            <a:r>
              <a:rPr sz="3000" b="1" i="0">
                <a:solidFill>
                  <a:srgbClr val="3DD68C"/>
                </a:solidFill>
                <a:latin typeface="Segoe UI"/>
              </a:rPr>
              <a:t>7 de 8</a:t>
            </a:r>
          </a:p>
        </p:txBody>
      </p:sp>
      <p:sp>
        <p:nvSpPr>
          <p:cNvPr id="25" name="TextBox 24"/>
          <p:cNvSpPr txBox="1"/>
          <p:nvPr/>
        </p:nvSpPr>
        <p:spPr>
          <a:xfrm>
            <a:off x="6419088" y="4562856"/>
            <a:ext cx="2286000" cy="457200"/>
          </a:xfrm>
          <a:prstGeom prst="rect">
            <a:avLst/>
          </a:prstGeom>
          <a:noFill/>
        </p:spPr>
        <p:txBody>
          <a:bodyPr wrap="square" anchor="t" lIns="0" rIns="0" tIns="0" bIns="0">
            <a:spAutoFit/>
          </a:bodyPr>
          <a:lstStyle/>
          <a:p>
            <a:pPr algn="l">
              <a:lnSpc>
                <a:spcPct val="115000"/>
              </a:lnSpc>
              <a:spcAft>
                <a:spcPts val="0"/>
              </a:spcAft>
            </a:pPr>
            <a:r>
              <a:rPr sz="1100" b="1" i="0">
                <a:solidFill>
                  <a:srgbClr val="F2F5F8"/>
                </a:solidFill>
                <a:latin typeface="Segoe UI"/>
              </a:rPr>
              <a:t>reuniones NO pasaron</a:t>
            </a:r>
          </a:p>
          <a:p>
            <a:pPr algn="l">
              <a:lnSpc>
                <a:spcPct val="115000"/>
              </a:lnSpc>
              <a:spcAft>
                <a:spcPts val="0"/>
              </a:spcAft>
            </a:pPr>
            <a:r>
              <a:rPr sz="1100" b="1" i="0">
                <a:solidFill>
                  <a:srgbClr val="F2F5F8"/>
                </a:solidFill>
                <a:latin typeface="Segoe UI"/>
              </a:rPr>
              <a:t>por el dossier</a:t>
            </a:r>
          </a:p>
        </p:txBody>
      </p:sp>
      <p:sp>
        <p:nvSpPr>
          <p:cNvPr id="26" name="TextBox 25"/>
          <p:cNvSpPr txBox="1"/>
          <p:nvPr/>
        </p:nvSpPr>
        <p:spPr>
          <a:xfrm>
            <a:off x="6419088" y="5020056"/>
            <a:ext cx="2286000" cy="457200"/>
          </a:xfrm>
          <a:prstGeom prst="rect">
            <a:avLst/>
          </a:prstGeom>
          <a:noFill/>
        </p:spPr>
        <p:txBody>
          <a:bodyPr wrap="square" anchor="t" lIns="0" rIns="0" tIns="0" bIns="0">
            <a:spAutoFit/>
          </a:bodyPr>
          <a:lstStyle/>
          <a:p>
            <a:pPr algn="l">
              <a:lnSpc>
                <a:spcPct val="120000"/>
              </a:lnSpc>
              <a:spcAft>
                <a:spcPts val="0"/>
              </a:spcAft>
            </a:pPr>
            <a:r>
              <a:rPr sz="950" b="0" i="0">
                <a:solidFill>
                  <a:srgbClr val="8A94A6"/>
                </a:solidFill>
                <a:latin typeface="Segoe UI"/>
              </a:rPr>
              <a:t>salieron de conversar</a:t>
            </a:r>
          </a:p>
        </p:txBody>
      </p:sp>
      <p:sp>
        <p:nvSpPr>
          <p:cNvPr id="27" name="Rounded Rectangle 26"/>
          <p:cNvSpPr/>
          <p:nvPr/>
        </p:nvSpPr>
        <p:spPr>
          <a:xfrm>
            <a:off x="9006840" y="3886200"/>
            <a:ext cx="2606040" cy="1645920"/>
          </a:xfrm>
          <a:prstGeom prst="roundRect">
            <a:avLst>
              <a:gd name="adj" fmla="val 6000"/>
            </a:avLst>
          </a:prstGeom>
          <a:solidFill>
            <a:srgbClr val="181D25"/>
          </a:solidFill>
          <a:ln w="15240">
            <a:solidFill>
              <a:srgbClr val="E8B4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08008" y="4032504"/>
            <a:ext cx="2286000" cy="457200"/>
          </a:xfrm>
          <a:prstGeom prst="rect">
            <a:avLst/>
          </a:prstGeom>
          <a:noFill/>
        </p:spPr>
        <p:txBody>
          <a:bodyPr wrap="square" anchor="t" lIns="0" rIns="0" tIns="0" bIns="0">
            <a:spAutoFit/>
          </a:bodyPr>
          <a:lstStyle/>
          <a:p>
            <a:pPr algn="l">
              <a:spcAft>
                <a:spcPts val="0"/>
              </a:spcAft>
            </a:pPr>
            <a:r>
              <a:rPr sz="3000" b="1" i="0">
                <a:solidFill>
                  <a:srgbClr val="E8B45B"/>
                </a:solidFill>
                <a:latin typeface="Segoe UI"/>
              </a:rPr>
              <a:t>38</a:t>
            </a:r>
          </a:p>
        </p:txBody>
      </p:sp>
      <p:sp>
        <p:nvSpPr>
          <p:cNvPr id="29" name="TextBox 28"/>
          <p:cNvSpPr txBox="1"/>
          <p:nvPr/>
        </p:nvSpPr>
        <p:spPr>
          <a:xfrm>
            <a:off x="9208008" y="4562856"/>
            <a:ext cx="2286000" cy="457200"/>
          </a:xfrm>
          <a:prstGeom prst="rect">
            <a:avLst/>
          </a:prstGeom>
          <a:noFill/>
        </p:spPr>
        <p:txBody>
          <a:bodyPr wrap="square" anchor="t" lIns="0" rIns="0" tIns="0" bIns="0">
            <a:spAutoFit/>
          </a:bodyPr>
          <a:lstStyle/>
          <a:p>
            <a:pPr algn="l">
              <a:lnSpc>
                <a:spcPct val="115000"/>
              </a:lnSpc>
              <a:spcAft>
                <a:spcPts val="0"/>
              </a:spcAft>
            </a:pPr>
            <a:r>
              <a:rPr sz="1100" b="1" i="0">
                <a:solidFill>
                  <a:srgbClr val="F2F5F8"/>
                </a:solidFill>
                <a:latin typeface="Segoe UI"/>
              </a:rPr>
              <a:t>dieron mail o telefono</a:t>
            </a:r>
          </a:p>
        </p:txBody>
      </p:sp>
      <p:sp>
        <p:nvSpPr>
          <p:cNvPr id="30" name="TextBox 29"/>
          <p:cNvSpPr txBox="1"/>
          <p:nvPr/>
        </p:nvSpPr>
        <p:spPr>
          <a:xfrm>
            <a:off x="9208008" y="5020056"/>
            <a:ext cx="2286000" cy="457200"/>
          </a:xfrm>
          <a:prstGeom prst="rect">
            <a:avLst/>
          </a:prstGeom>
          <a:noFill/>
        </p:spPr>
        <p:txBody>
          <a:bodyPr wrap="square" anchor="t" lIns="0" rIns="0" tIns="0" bIns="0">
            <a:spAutoFit/>
          </a:bodyPr>
          <a:lstStyle/>
          <a:p>
            <a:pPr algn="l">
              <a:lnSpc>
                <a:spcPct val="120000"/>
              </a:lnSpc>
              <a:spcAft>
                <a:spcPts val="0"/>
              </a:spcAft>
            </a:pPr>
            <a:r>
              <a:rPr sz="950" b="0" i="0">
                <a:solidFill>
                  <a:srgbClr val="8A94A6"/>
                </a:solidFill>
                <a:latin typeface="Segoe UI"/>
              </a:rPr>
              <a:t>la senal de compra</a:t>
            </a:r>
          </a:p>
          <a:p>
            <a:pPr algn="l">
              <a:lnSpc>
                <a:spcPct val="120000"/>
              </a:lnSpc>
              <a:spcAft>
                <a:spcPts val="0"/>
              </a:spcAft>
            </a:pPr>
            <a:r>
              <a:rPr sz="950" b="0" i="0">
                <a:solidFill>
                  <a:srgbClr val="8A94A6"/>
                </a:solidFill>
                <a:latin typeface="Segoe UI"/>
              </a:rPr>
              <a:t>mas fuerte de la base</a:t>
            </a:r>
          </a:p>
        </p:txBody>
      </p:sp>
      <p:sp>
        <p:nvSpPr>
          <p:cNvPr id="31" name="Rounded Rectangle 30"/>
          <p:cNvSpPr/>
          <p:nvPr/>
        </p:nvSpPr>
        <p:spPr>
          <a:xfrm>
            <a:off x="640080" y="5760720"/>
            <a:ext cx="10881360" cy="548640"/>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68680" y="5870448"/>
            <a:ext cx="10424160" cy="365760"/>
          </a:xfrm>
          <a:prstGeom prst="rect">
            <a:avLst/>
          </a:prstGeom>
          <a:noFill/>
        </p:spPr>
        <p:txBody>
          <a:bodyPr wrap="square" anchor="t" lIns="0" rIns="0" tIns="0" bIns="0">
            <a:spAutoFit/>
          </a:bodyPr>
          <a:lstStyle/>
          <a:p>
            <a:pPr algn="l">
              <a:spcAft>
                <a:spcPts val="0"/>
              </a:spcAft>
            </a:pPr>
            <a:r>
              <a:rPr sz="1250" b="1" i="0">
                <a:solidFill>
                  <a:srgbClr val="E8B45B"/>
                </a:solidFill>
                <a:latin typeface="Segoe UI"/>
              </a:rPr>
              <a:t>El dossier no es un paso hacia la reunion. Es el paso que la reemplaza: llega el PDF, el prospecto agradece y el hilo muere con buen clima.</a:t>
            </a:r>
          </a:p>
        </p:txBody>
      </p:sp>
      <p:sp>
        <p:nvSpPr>
          <p:cNvPr id="33" name="TextBox 32"/>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34" name="TextBox 33"/>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LA HERRAMIENTA</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Hint Language Bank</a:t>
            </a:r>
          </a:p>
        </p:txBody>
      </p:sp>
      <p:sp>
        <p:nvSpPr>
          <p:cNvPr id="4" name="TextBox 3"/>
          <p:cNvSpPr txBox="1"/>
          <p:nvPr/>
        </p:nvSpPr>
        <p:spPr>
          <a:xfrm>
            <a:off x="640080" y="1261872"/>
            <a:ext cx="10972800" cy="365760"/>
          </a:xfrm>
          <a:prstGeom prst="rect">
            <a:avLst/>
          </a:prstGeom>
          <a:noFill/>
        </p:spPr>
        <p:txBody>
          <a:bodyPr wrap="square" anchor="t" lIns="0" rIns="0" tIns="0" bIns="0">
            <a:spAutoFit/>
          </a:bodyPr>
          <a:lstStyle/>
          <a:p>
            <a:pPr algn="l">
              <a:spcAft>
                <a:spcPts val="0"/>
              </a:spcAft>
            </a:pPr>
            <a:r>
              <a:rPr sz="1300" b="0" i="0">
                <a:solidFill>
                  <a:srgbClr val="8A94A6"/>
                </a:solidFill>
                <a:latin typeface="Segoe UI"/>
              </a:rPr>
              <a:t>En vez de describirle el estilo al modelo, se lo mostramos con los mensajes que funcionaron</a:t>
            </a:r>
          </a:p>
        </p:txBody>
      </p:sp>
      <p:sp>
        <p:nvSpPr>
          <p:cNvPr id="5" name="Rectangle 4"/>
          <p:cNvSpPr/>
          <p:nvPr/>
        </p:nvSpPr>
        <p:spPr>
          <a:xfrm>
            <a:off x="640080" y="1682496"/>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640080" y="2139696"/>
            <a:ext cx="91440" cy="91440"/>
          </a:xfrm>
          <a:prstGeom prst="roundRect">
            <a:avLst>
              <a:gd name="adj" fmla="val 6000"/>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96112" y="2057400"/>
            <a:ext cx="5138928" cy="274320"/>
          </a:xfrm>
          <a:prstGeom prst="rect">
            <a:avLst/>
          </a:prstGeom>
          <a:noFill/>
        </p:spPr>
        <p:txBody>
          <a:bodyPr wrap="square" anchor="t" lIns="0" rIns="0" tIns="0" bIns="0">
            <a:spAutoFit/>
          </a:bodyPr>
          <a:lstStyle/>
          <a:p>
            <a:pPr algn="l">
              <a:spcAft>
                <a:spcPts val="0"/>
              </a:spcAft>
            </a:pPr>
            <a:r>
              <a:rPr sz="1350" b="1" i="0">
                <a:solidFill>
                  <a:srgbClr val="F2F5F8"/>
                </a:solidFill>
                <a:latin typeface="Segoe UI"/>
              </a:rPr>
              <a:t>El problema que resuelve</a:t>
            </a:r>
          </a:p>
        </p:txBody>
      </p:sp>
      <p:sp>
        <p:nvSpPr>
          <p:cNvPr id="8" name="TextBox 7"/>
          <p:cNvSpPr txBox="1"/>
          <p:nvPr/>
        </p:nvSpPr>
        <p:spPr>
          <a:xfrm>
            <a:off x="896112" y="2304288"/>
            <a:ext cx="5138928" cy="365760"/>
          </a:xfrm>
          <a:prstGeom prst="rect">
            <a:avLst/>
          </a:prstGeom>
          <a:noFill/>
        </p:spPr>
        <p:txBody>
          <a:bodyPr wrap="square" anchor="t" lIns="0" rIns="0" tIns="0" bIns="0">
            <a:spAutoFit/>
          </a:bodyPr>
          <a:lstStyle/>
          <a:p>
            <a:pPr algn="l">
              <a:lnSpc>
                <a:spcPct val="125000"/>
              </a:lnSpc>
              <a:spcAft>
                <a:spcPts val="0"/>
              </a:spcAft>
            </a:pPr>
            <a:r>
              <a:rPr sz="1100" b="0" i="0">
                <a:solidFill>
                  <a:srgbClr val="8A94A6"/>
                </a:solidFill>
                <a:latin typeface="Segoe UI"/>
              </a:rPr>
              <a:t>Un ejemplo mal etiquetado como correcto produjo 159 mensajes identicos. El modelo copia los ejemplos antes que las reglas.</a:t>
            </a:r>
          </a:p>
        </p:txBody>
      </p:sp>
      <p:sp>
        <p:nvSpPr>
          <p:cNvPr id="9" name="Rounded Rectangle 8"/>
          <p:cNvSpPr/>
          <p:nvPr/>
        </p:nvSpPr>
        <p:spPr>
          <a:xfrm>
            <a:off x="640080" y="2889504"/>
            <a:ext cx="91440" cy="91440"/>
          </a:xfrm>
          <a:prstGeom prst="roundRect">
            <a:avLst>
              <a:gd name="adj" fmla="val 6000"/>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96112" y="2807208"/>
            <a:ext cx="5138928" cy="274320"/>
          </a:xfrm>
          <a:prstGeom prst="rect">
            <a:avLst/>
          </a:prstGeom>
          <a:noFill/>
        </p:spPr>
        <p:txBody>
          <a:bodyPr wrap="square" anchor="t" lIns="0" rIns="0" tIns="0" bIns="0">
            <a:spAutoFit/>
          </a:bodyPr>
          <a:lstStyle/>
          <a:p>
            <a:pPr algn="l">
              <a:spcAft>
                <a:spcPts val="0"/>
              </a:spcAft>
            </a:pPr>
            <a:r>
              <a:rPr sz="1350" b="1" i="0">
                <a:solidFill>
                  <a:srgbClr val="F2F5F8"/>
                </a:solidFill>
                <a:latin typeface="Segoe UI"/>
              </a:rPr>
              <a:t>De donde sale</a:t>
            </a:r>
          </a:p>
        </p:txBody>
      </p:sp>
      <p:sp>
        <p:nvSpPr>
          <p:cNvPr id="11" name="TextBox 10"/>
          <p:cNvSpPr txBox="1"/>
          <p:nvPr/>
        </p:nvSpPr>
        <p:spPr>
          <a:xfrm>
            <a:off x="896112" y="3054096"/>
            <a:ext cx="5138928" cy="365760"/>
          </a:xfrm>
          <a:prstGeom prst="rect">
            <a:avLst/>
          </a:prstGeom>
          <a:noFill/>
        </p:spPr>
        <p:txBody>
          <a:bodyPr wrap="square" anchor="t" lIns="0" rIns="0" tIns="0" bIns="0">
            <a:spAutoFit/>
          </a:bodyPr>
          <a:lstStyle/>
          <a:p>
            <a:pPr algn="l">
              <a:lnSpc>
                <a:spcPct val="125000"/>
              </a:lnSpc>
              <a:spcAft>
                <a:spcPts val="0"/>
              </a:spcAft>
            </a:pPr>
            <a:r>
              <a:rPr sz="1100" b="0" i="0">
                <a:solidFill>
                  <a:srgbClr val="8A94A6"/>
                </a:solidFill>
                <a:latin typeface="Segoe UI"/>
              </a:rPr>
              <a:t>De las 1.102 conversaciones propias, clasificadas por resultado verificado: reunion, contacto, conversacion o fracaso.</a:t>
            </a:r>
          </a:p>
        </p:txBody>
      </p:sp>
      <p:sp>
        <p:nvSpPr>
          <p:cNvPr id="12" name="Rounded Rectangle 11"/>
          <p:cNvSpPr/>
          <p:nvPr/>
        </p:nvSpPr>
        <p:spPr>
          <a:xfrm>
            <a:off x="640080" y="3639312"/>
            <a:ext cx="91440" cy="91440"/>
          </a:xfrm>
          <a:prstGeom prst="roundRect">
            <a:avLst>
              <a:gd name="adj" fmla="val 6000"/>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6112" y="3557016"/>
            <a:ext cx="5138928" cy="274320"/>
          </a:xfrm>
          <a:prstGeom prst="rect">
            <a:avLst/>
          </a:prstGeom>
          <a:noFill/>
        </p:spPr>
        <p:txBody>
          <a:bodyPr wrap="square" anchor="t" lIns="0" rIns="0" tIns="0" bIns="0">
            <a:spAutoFit/>
          </a:bodyPr>
          <a:lstStyle/>
          <a:p>
            <a:pPr algn="l">
              <a:spcAft>
                <a:spcPts val="0"/>
              </a:spcAft>
            </a:pPr>
            <a:r>
              <a:rPr sz="1350" b="1" i="0">
                <a:solidFill>
                  <a:srgbClr val="F2F5F8"/>
                </a:solidFill>
                <a:latin typeface="Segoe UI"/>
              </a:rPr>
              <a:t>Que contiene</a:t>
            </a:r>
          </a:p>
        </p:txBody>
      </p:sp>
      <p:sp>
        <p:nvSpPr>
          <p:cNvPr id="14" name="TextBox 13"/>
          <p:cNvSpPr txBox="1"/>
          <p:nvPr/>
        </p:nvSpPr>
        <p:spPr>
          <a:xfrm>
            <a:off x="896112" y="3803904"/>
            <a:ext cx="5138928" cy="365760"/>
          </a:xfrm>
          <a:prstGeom prst="rect">
            <a:avLst/>
          </a:prstGeom>
          <a:noFill/>
        </p:spPr>
        <p:txBody>
          <a:bodyPr wrap="square" anchor="t" lIns="0" rIns="0" tIns="0" bIns="0">
            <a:spAutoFit/>
          </a:bodyPr>
          <a:lstStyle/>
          <a:p>
            <a:pPr algn="l">
              <a:lnSpc>
                <a:spcPct val="125000"/>
              </a:lnSpc>
              <a:spcAft>
                <a:spcPts val="0"/>
              </a:spcAft>
            </a:pPr>
            <a:r>
              <a:rPr sz="1100" b="0" i="0">
                <a:solidFill>
                  <a:srgbClr val="8A94A6"/>
                </a:solidFill>
                <a:latin typeface="Segoe UI"/>
              </a:rPr>
              <a:t>Los mensajes reales de las 8 reuniones y los 38 contactos, con la respuesta textual del prospecto al lado.</a:t>
            </a:r>
          </a:p>
        </p:txBody>
      </p:sp>
      <p:sp>
        <p:nvSpPr>
          <p:cNvPr id="15" name="Rounded Rectangle 14"/>
          <p:cNvSpPr/>
          <p:nvPr/>
        </p:nvSpPr>
        <p:spPr>
          <a:xfrm>
            <a:off x="6400800" y="2057400"/>
            <a:ext cx="5120640" cy="1874519"/>
          </a:xfrm>
          <a:prstGeom prst="roundRect">
            <a:avLst>
              <a:gd name="adj" fmla="val 6000"/>
            </a:avLst>
          </a:prstGeom>
          <a:solidFill>
            <a:srgbClr val="181D25"/>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29400" y="2212848"/>
            <a:ext cx="4663440" cy="274320"/>
          </a:xfrm>
          <a:prstGeom prst="rect">
            <a:avLst/>
          </a:prstGeom>
          <a:noFill/>
        </p:spPr>
        <p:txBody>
          <a:bodyPr wrap="square" anchor="t" lIns="0" rIns="0" tIns="0" bIns="0">
            <a:spAutoFit/>
          </a:bodyPr>
          <a:lstStyle/>
          <a:p>
            <a:pPr algn="l">
              <a:spcAft>
                <a:spcPts val="0"/>
              </a:spcAft>
            </a:pPr>
            <a:r>
              <a:rPr sz="1000" b="1" i="0">
                <a:solidFill>
                  <a:srgbClr val="3DD68C"/>
                </a:solidFill>
                <a:latin typeface="Segoe UI"/>
              </a:rPr>
              <a:t>APARECEN EN LOS QUE FUNCIONARON</a:t>
            </a:r>
          </a:p>
        </p:txBody>
      </p:sp>
      <p:sp>
        <p:nvSpPr>
          <p:cNvPr id="17" name="TextBox 16"/>
          <p:cNvSpPr txBox="1"/>
          <p:nvPr/>
        </p:nvSpPr>
        <p:spPr>
          <a:xfrm>
            <a:off x="6629400" y="2542032"/>
            <a:ext cx="4663440" cy="1280160"/>
          </a:xfrm>
          <a:prstGeom prst="rect">
            <a:avLst/>
          </a:prstGeom>
          <a:noFill/>
        </p:spPr>
        <p:txBody>
          <a:bodyPr wrap="square" anchor="t" lIns="0" rIns="0" tIns="0" bIns="0">
            <a:spAutoFit/>
          </a:bodyPr>
          <a:lstStyle/>
          <a:p>
            <a:pPr algn="l">
              <a:lnSpc>
                <a:spcPct val="135000"/>
              </a:lnSpc>
              <a:spcAft>
                <a:spcPts val="0"/>
              </a:spcAft>
            </a:pPr>
            <a:r>
              <a:rPr sz="1100" b="0" i="0">
                <a:solidFill>
                  <a:srgbClr val="F2F5F8"/>
                </a:solidFill>
                <a:latin typeface="Segoe UI"/>
              </a:rPr>
              <a:t>me llamo la atencion  ·  gracias por conectar</a:t>
            </a:r>
          </a:p>
          <a:p>
            <a:pPr algn="l">
              <a:lnSpc>
                <a:spcPct val="135000"/>
              </a:lnSpc>
              <a:spcAft>
                <a:spcPts val="0"/>
              </a:spcAft>
            </a:pPr>
            <a:r>
              <a:rPr sz="1100" b="0" i="0">
                <a:solidFill>
                  <a:srgbClr val="F2F5F8"/>
                </a:solidFill>
                <a:latin typeface="Segoe UI"/>
              </a:rPr>
              <a:t>queria saber  ·  me podias ayudar</a:t>
            </a:r>
          </a:p>
          <a:p>
            <a:pPr algn="l">
              <a:lnSpc>
                <a:spcPct val="135000"/>
              </a:lnSpc>
              <a:spcAft>
                <a:spcPts val="0"/>
              </a:spcAft>
            </a:pPr>
            <a:r>
              <a:rPr sz="1100" b="0" i="0">
                <a:solidFill>
                  <a:srgbClr val="F2F5F8"/>
                </a:solidFill>
                <a:latin typeface="Segoe UI"/>
              </a:rPr>
              <a:t>escribiste  ·  pusiste  ·  publicacion</a:t>
            </a:r>
          </a:p>
          <a:p>
            <a:pPr algn="l">
              <a:lnSpc>
                <a:spcPct val="135000"/>
              </a:lnSpc>
              <a:spcAft>
                <a:spcPts val="0"/>
              </a:spcAft>
            </a:pPr>
            <a:r>
              <a:rPr sz="1100" b="0" i="0">
                <a:solidFill>
                  <a:srgbClr val="F2F5F8"/>
                </a:solidFill>
                <a:latin typeface="Segoe UI"/>
              </a:rPr>
              <a:t/>
            </a:r>
          </a:p>
          <a:p>
            <a:pPr algn="l">
              <a:lnSpc>
                <a:spcPct val="135000"/>
              </a:lnSpc>
              <a:spcAft>
                <a:spcPts val="0"/>
              </a:spcAft>
            </a:pPr>
            <a:r>
              <a:rPr sz="1100" b="0" i="0">
                <a:solidFill>
                  <a:srgbClr val="F2F5F8"/>
                </a:solidFill>
                <a:latin typeface="Segoe UI"/>
              </a:rPr>
              <a:t>Palabras de lectura real y de pedido.</a:t>
            </a:r>
          </a:p>
          <a:p>
            <a:pPr algn="l">
              <a:lnSpc>
                <a:spcPct val="135000"/>
              </a:lnSpc>
              <a:spcAft>
                <a:spcPts val="0"/>
              </a:spcAft>
            </a:pPr>
            <a:r>
              <a:rPr sz="1100" b="0" i="0">
                <a:solidFill>
                  <a:srgbClr val="F2F5F8"/>
                </a:solidFill>
                <a:latin typeface="Segoe UI"/>
              </a:rPr>
              <a:t>Ninguna es de venta.</a:t>
            </a:r>
          </a:p>
        </p:txBody>
      </p:sp>
      <p:sp>
        <p:nvSpPr>
          <p:cNvPr id="18" name="Rounded Rectangle 17"/>
          <p:cNvSpPr/>
          <p:nvPr/>
        </p:nvSpPr>
        <p:spPr>
          <a:xfrm>
            <a:off x="6400800" y="4114800"/>
            <a:ext cx="5120640" cy="2148840"/>
          </a:xfrm>
          <a:prstGeom prst="roundRect">
            <a:avLst>
              <a:gd name="adj" fmla="val 6000"/>
            </a:avLst>
          </a:prstGeom>
          <a:solidFill>
            <a:srgbClr val="181D25"/>
          </a:solidFill>
          <a:ln w="1524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629400" y="4270248"/>
            <a:ext cx="4663440" cy="274320"/>
          </a:xfrm>
          <a:prstGeom prst="rect">
            <a:avLst/>
          </a:prstGeom>
          <a:noFill/>
        </p:spPr>
        <p:txBody>
          <a:bodyPr wrap="square" anchor="t" lIns="0" rIns="0" tIns="0" bIns="0">
            <a:spAutoFit/>
          </a:bodyPr>
          <a:lstStyle/>
          <a:p>
            <a:pPr algn="l">
              <a:spcAft>
                <a:spcPts val="0"/>
              </a:spcAft>
            </a:pPr>
            <a:r>
              <a:rPr sz="1000" b="1" i="0">
                <a:solidFill>
                  <a:srgbClr val="F87171"/>
                </a:solidFill>
                <a:latin typeface="Segoe UI"/>
              </a:rPr>
              <a:t>APARECEN SOLO EN LOS QUE MURIERON</a:t>
            </a:r>
          </a:p>
        </p:txBody>
      </p:sp>
      <p:sp>
        <p:nvSpPr>
          <p:cNvPr id="20" name="TextBox 19"/>
          <p:cNvSpPr txBox="1"/>
          <p:nvPr/>
        </p:nvSpPr>
        <p:spPr>
          <a:xfrm>
            <a:off x="6629400" y="4599432"/>
            <a:ext cx="4663440" cy="1554480"/>
          </a:xfrm>
          <a:prstGeom prst="rect">
            <a:avLst/>
          </a:prstGeom>
          <a:noFill/>
        </p:spPr>
        <p:txBody>
          <a:bodyPr wrap="square" anchor="t" lIns="0" rIns="0" tIns="0" bIns="0">
            <a:spAutoFit/>
          </a:bodyPr>
          <a:lstStyle/>
          <a:p>
            <a:pPr algn="l">
              <a:lnSpc>
                <a:spcPct val="135000"/>
              </a:lnSpc>
              <a:spcAft>
                <a:spcPts val="0"/>
              </a:spcAft>
            </a:pPr>
            <a:r>
              <a:rPr sz="1100" b="0" i="0">
                <a:solidFill>
                  <a:srgbClr val="F2F5F8"/>
                </a:solidFill>
                <a:latin typeface="Segoe UI"/>
              </a:rPr>
              <a:t>credibilidad  ·  presencia  ·  solucion</a:t>
            </a:r>
          </a:p>
          <a:p>
            <a:pPr algn="l">
              <a:lnSpc>
                <a:spcPct val="135000"/>
              </a:lnSpc>
              <a:spcAft>
                <a:spcPts val="0"/>
              </a:spcAft>
            </a:pPr>
            <a:r>
              <a:rPr sz="1100" b="0" i="0">
                <a:solidFill>
                  <a:srgbClr val="F2F5F8"/>
                </a:solidFill>
                <a:latin typeface="Segoe UI"/>
              </a:rPr>
              <a:t>construimos  ·  resolvemos  ·  escale</a:t>
            </a:r>
          </a:p>
          <a:p>
            <a:pPr algn="l">
              <a:lnSpc>
                <a:spcPct val="135000"/>
              </a:lnSpc>
              <a:spcAft>
                <a:spcPts val="0"/>
              </a:spcAft>
            </a:pPr>
            <a:r>
              <a:rPr sz="1100" b="0" i="0">
                <a:solidFill>
                  <a:srgbClr val="F2F5F8"/>
                </a:solidFill>
                <a:latin typeface="Segoe UI"/>
              </a:rPr>
              <a:t>complejo  ·  mercados  ·  narrativa</a:t>
            </a:r>
          </a:p>
          <a:p>
            <a:pPr algn="l">
              <a:lnSpc>
                <a:spcPct val="135000"/>
              </a:lnSpc>
              <a:spcAft>
                <a:spcPts val="0"/>
              </a:spcAft>
            </a:pPr>
            <a:r>
              <a:rPr sz="1100" b="0" i="0">
                <a:solidFill>
                  <a:srgbClr val="F2F5F8"/>
                </a:solidFill>
                <a:latin typeface="Segoe UI"/>
              </a:rPr>
              <a:t/>
            </a:r>
          </a:p>
          <a:p>
            <a:pPr algn="l">
              <a:lnSpc>
                <a:spcPct val="135000"/>
              </a:lnSpc>
              <a:spcAft>
                <a:spcPts val="0"/>
              </a:spcAft>
            </a:pPr>
            <a:r>
              <a:rPr sz="1100" b="0" i="0">
                <a:solidFill>
                  <a:srgbClr val="F2F5F8"/>
                </a:solidFill>
                <a:latin typeface="Segoe UI"/>
              </a:rPr>
              <a:t>"mientras" esta en 0% de los que</a:t>
            </a:r>
          </a:p>
          <a:p>
            <a:pPr algn="l">
              <a:lnSpc>
                <a:spcPct val="135000"/>
              </a:lnSpc>
              <a:spcAft>
                <a:spcPts val="0"/>
              </a:spcAft>
            </a:pPr>
            <a:r>
              <a:rPr sz="1100" b="0" i="0">
                <a:solidFill>
                  <a:srgbClr val="F2F5F8"/>
                </a:solidFill>
                <a:latin typeface="Segoe UI"/>
              </a:rPr>
              <a:t>funcionaron y 10% de los que fallaron:</a:t>
            </a:r>
          </a:p>
          <a:p>
            <a:pPr algn="l">
              <a:lnSpc>
                <a:spcPct val="135000"/>
              </a:lnSpc>
              <a:spcAft>
                <a:spcPts val="0"/>
              </a:spcAft>
            </a:pPr>
            <a:r>
              <a:rPr sz="1100" b="0" i="0">
                <a:solidFill>
                  <a:srgbClr val="F2F5F8"/>
                </a:solidFill>
                <a:latin typeface="Segoe UI"/>
              </a:rPr>
              <a:t>es el marcador de la frase larga.</a:t>
            </a:r>
          </a:p>
        </p:txBody>
      </p:sp>
      <p:sp>
        <p:nvSpPr>
          <p:cNvPr id="21" name="TextBox 20"/>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22" name="TextBox 21"/>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HERRAMIENTAS</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Que esta haciendo el resto del mundo</a:t>
            </a:r>
          </a:p>
        </p:txBody>
      </p:sp>
      <p:sp>
        <p:nvSpPr>
          <p:cNvPr id="4" name="TextBox 3"/>
          <p:cNvSpPr txBox="1"/>
          <p:nvPr/>
        </p:nvSpPr>
        <p:spPr>
          <a:xfrm>
            <a:off x="640080" y="1261872"/>
            <a:ext cx="10972800" cy="365760"/>
          </a:xfrm>
          <a:prstGeom prst="rect">
            <a:avLst/>
          </a:prstGeom>
          <a:noFill/>
        </p:spPr>
        <p:txBody>
          <a:bodyPr wrap="square" anchor="t" lIns="0" rIns="0" tIns="0" bIns="0">
            <a:spAutoFit/>
          </a:bodyPr>
          <a:lstStyle/>
          <a:p>
            <a:pPr algn="l">
              <a:spcAft>
                <a:spcPts val="0"/>
              </a:spcAft>
            </a:pPr>
            <a:r>
              <a:rPr sz="1300" b="0" i="0">
                <a:solidFill>
                  <a:srgbClr val="8A94A6"/>
                </a:solidFill>
                <a:latin typeface="Segoe UI"/>
              </a:rPr>
              <a:t>Proyectos open source de prospeccion y outreach relevantes para nuestro stack</a:t>
            </a:r>
          </a:p>
        </p:txBody>
      </p:sp>
      <p:sp>
        <p:nvSpPr>
          <p:cNvPr id="5" name="Rectangle 4"/>
          <p:cNvSpPr/>
          <p:nvPr/>
        </p:nvSpPr>
        <p:spPr>
          <a:xfrm>
            <a:off x="640080" y="1682496"/>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011680"/>
            <a:ext cx="2926080" cy="274320"/>
          </a:xfrm>
          <a:prstGeom prst="rect">
            <a:avLst/>
          </a:prstGeom>
          <a:noFill/>
        </p:spPr>
        <p:txBody>
          <a:bodyPr wrap="square" anchor="t" lIns="0" rIns="0" tIns="0" bIns="0">
            <a:spAutoFit/>
          </a:bodyPr>
          <a:lstStyle/>
          <a:p>
            <a:pPr algn="l">
              <a:spcAft>
                <a:spcPts val="0"/>
              </a:spcAft>
            </a:pPr>
            <a:r>
              <a:rPr sz="1000" b="1" i="0">
                <a:solidFill>
                  <a:srgbClr val="8A94A6"/>
                </a:solidFill>
                <a:latin typeface="Segoe UI"/>
              </a:rPr>
              <a:t>Proyecto</a:t>
            </a:r>
          </a:p>
        </p:txBody>
      </p:sp>
      <p:sp>
        <p:nvSpPr>
          <p:cNvPr id="7" name="TextBox 6"/>
          <p:cNvSpPr txBox="1"/>
          <p:nvPr/>
        </p:nvSpPr>
        <p:spPr>
          <a:xfrm>
            <a:off x="3566160" y="2011680"/>
            <a:ext cx="3474720" cy="274320"/>
          </a:xfrm>
          <a:prstGeom prst="rect">
            <a:avLst/>
          </a:prstGeom>
          <a:noFill/>
        </p:spPr>
        <p:txBody>
          <a:bodyPr wrap="square" anchor="t" lIns="0" rIns="0" tIns="0" bIns="0">
            <a:spAutoFit/>
          </a:bodyPr>
          <a:lstStyle/>
          <a:p>
            <a:pPr algn="r">
              <a:spcAft>
                <a:spcPts val="0"/>
              </a:spcAft>
            </a:pPr>
            <a:r>
              <a:rPr sz="1000" b="1" i="0">
                <a:solidFill>
                  <a:srgbClr val="8A94A6"/>
                </a:solidFill>
                <a:latin typeface="Segoe UI"/>
              </a:rPr>
              <a:t>Que es</a:t>
            </a:r>
          </a:p>
        </p:txBody>
      </p:sp>
      <p:sp>
        <p:nvSpPr>
          <p:cNvPr id="8" name="TextBox 7"/>
          <p:cNvSpPr txBox="1"/>
          <p:nvPr/>
        </p:nvSpPr>
        <p:spPr>
          <a:xfrm>
            <a:off x="7040880" y="2011680"/>
            <a:ext cx="4480560" cy="274320"/>
          </a:xfrm>
          <a:prstGeom prst="rect">
            <a:avLst/>
          </a:prstGeom>
          <a:noFill/>
        </p:spPr>
        <p:txBody>
          <a:bodyPr wrap="square" anchor="t" lIns="0" rIns="0" tIns="0" bIns="0">
            <a:spAutoFit/>
          </a:bodyPr>
          <a:lstStyle/>
          <a:p>
            <a:pPr algn="r">
              <a:spcAft>
                <a:spcPts val="0"/>
              </a:spcAft>
            </a:pPr>
            <a:r>
              <a:rPr sz="1000" b="1" i="0">
                <a:solidFill>
                  <a:srgbClr val="8A94A6"/>
                </a:solidFill>
                <a:latin typeface="Segoe UI"/>
              </a:rPr>
              <a:t>Por que nos sirve</a:t>
            </a:r>
          </a:p>
        </p:txBody>
      </p:sp>
      <p:sp>
        <p:nvSpPr>
          <p:cNvPr id="9" name="Rectangle 8"/>
          <p:cNvSpPr/>
          <p:nvPr/>
        </p:nvSpPr>
        <p:spPr>
          <a:xfrm>
            <a:off x="640080" y="2304288"/>
            <a:ext cx="10881360" cy="12700"/>
          </a:xfrm>
          <a:prstGeom prst="rect">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548640" y="2359152"/>
            <a:ext cx="11064240" cy="658368"/>
          </a:xfrm>
          <a:prstGeom prst="roundRect">
            <a:avLst>
              <a:gd name="adj" fmla="val 6000"/>
            </a:avLst>
          </a:prstGeom>
          <a:solidFill>
            <a:srgbClr val="1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2395728"/>
            <a:ext cx="2926080" cy="658368"/>
          </a:xfrm>
          <a:prstGeom prst="rect">
            <a:avLst/>
          </a:prstGeom>
          <a:noFill/>
        </p:spPr>
        <p:txBody>
          <a:bodyPr wrap="square" anchor="ctr" lIns="0" rIns="0" tIns="0" bIns="0">
            <a:spAutoFit/>
          </a:bodyPr>
          <a:lstStyle/>
          <a:p>
            <a:pPr algn="l">
              <a:spcAft>
                <a:spcPts val="0"/>
              </a:spcAft>
            </a:pPr>
            <a:r>
              <a:rPr sz="1150" b="1" i="0">
                <a:solidFill>
                  <a:srgbClr val="F2F5F8"/>
                </a:solidFill>
                <a:latin typeface="Segoe UI"/>
              </a:rPr>
              <a:t>impecablemee/gtm-mcp</a:t>
            </a:r>
          </a:p>
        </p:txBody>
      </p:sp>
      <p:sp>
        <p:nvSpPr>
          <p:cNvPr id="12" name="TextBox 11"/>
          <p:cNvSpPr txBox="1"/>
          <p:nvPr/>
        </p:nvSpPr>
        <p:spPr>
          <a:xfrm>
            <a:off x="3566160" y="2395728"/>
            <a:ext cx="3474720" cy="658368"/>
          </a:xfrm>
          <a:prstGeom prst="rect">
            <a:avLst/>
          </a:prstGeom>
          <a:noFill/>
        </p:spPr>
        <p:txBody>
          <a:bodyPr wrap="square" anchor="ctr" lIns="0" rIns="0" tIns="0" bIns="0">
            <a:spAutoFit/>
          </a:bodyPr>
          <a:lstStyle/>
          <a:p>
            <a:pPr algn="r">
              <a:spcAft>
                <a:spcPts val="0"/>
              </a:spcAft>
            </a:pPr>
            <a:r>
              <a:rPr sz="1150" b="0" i="0">
                <a:solidFill>
                  <a:srgbClr val="F2F5F8"/>
                </a:solidFill>
                <a:latin typeface="Segoe UI"/>
              </a:rPr>
              <a:t>Pipeline B2B cold outreach</a:t>
            </a:r>
          </a:p>
          <a:p>
            <a:pPr algn="r">
              <a:spcAft>
                <a:spcPts val="0"/>
              </a:spcAft>
            </a:pPr>
            <a:r>
              <a:rPr sz="1150" b="0" i="0">
                <a:solidFill>
                  <a:srgbClr val="F2F5F8"/>
                </a:solidFill>
                <a:latin typeface="Segoe UI"/>
              </a:rPr>
              <a:t>para Claude Code (MCP)</a:t>
            </a:r>
          </a:p>
        </p:txBody>
      </p:sp>
      <p:sp>
        <p:nvSpPr>
          <p:cNvPr id="13" name="TextBox 12"/>
          <p:cNvSpPr txBox="1"/>
          <p:nvPr/>
        </p:nvSpPr>
        <p:spPr>
          <a:xfrm>
            <a:off x="7040880" y="2395728"/>
            <a:ext cx="4480560" cy="658368"/>
          </a:xfrm>
          <a:prstGeom prst="rect">
            <a:avLst/>
          </a:prstGeom>
          <a:noFill/>
        </p:spPr>
        <p:txBody>
          <a:bodyPr wrap="square" anchor="ctr" lIns="0" rIns="0" tIns="0" bIns="0">
            <a:spAutoFit/>
          </a:bodyPr>
          <a:lstStyle/>
          <a:p>
            <a:pPr algn="r">
              <a:spcAft>
                <a:spcPts val="0"/>
              </a:spcAft>
            </a:pPr>
            <a:r>
              <a:rPr sz="1150" b="0" i="0">
                <a:solidFill>
                  <a:srgbClr val="F2F5F8"/>
                </a:solidFill>
                <a:latin typeface="Segoe UI"/>
              </a:rPr>
              <a:t>El mas parecido a lo nuestro. Un comando</a:t>
            </a:r>
          </a:p>
          <a:p>
            <a:pPr algn="r">
              <a:spcAft>
                <a:spcPts val="0"/>
              </a:spcAft>
            </a:pPr>
            <a:r>
              <a:rPr sz="1150" b="0" i="0">
                <a:solidFill>
                  <a:srgbClr val="F2F5F8"/>
                </a:solidFill>
                <a:latin typeface="Segoe UI"/>
              </a:rPr>
              <a:t>busca, clasifica y escribe secuencias.</a:t>
            </a:r>
          </a:p>
        </p:txBody>
      </p:sp>
      <p:sp>
        <p:nvSpPr>
          <p:cNvPr id="14" name="TextBox 13"/>
          <p:cNvSpPr txBox="1"/>
          <p:nvPr/>
        </p:nvSpPr>
        <p:spPr>
          <a:xfrm>
            <a:off x="640080" y="3054096"/>
            <a:ext cx="2926080" cy="658368"/>
          </a:xfrm>
          <a:prstGeom prst="rect">
            <a:avLst/>
          </a:prstGeom>
          <a:noFill/>
        </p:spPr>
        <p:txBody>
          <a:bodyPr wrap="square" anchor="ctr" lIns="0" rIns="0" tIns="0" bIns="0">
            <a:spAutoFit/>
          </a:bodyPr>
          <a:lstStyle/>
          <a:p>
            <a:pPr algn="l">
              <a:spcAft>
                <a:spcPts val="0"/>
              </a:spcAft>
            </a:pPr>
            <a:r>
              <a:rPr sz="1150" b="1" i="0">
                <a:solidFill>
                  <a:srgbClr val="F2F5F8"/>
                </a:solidFill>
                <a:latin typeface="Segoe UI"/>
              </a:rPr>
              <a:t>coldoutboundskills</a:t>
            </a:r>
          </a:p>
        </p:txBody>
      </p:sp>
      <p:sp>
        <p:nvSpPr>
          <p:cNvPr id="15" name="TextBox 14"/>
          <p:cNvSpPr txBox="1"/>
          <p:nvPr/>
        </p:nvSpPr>
        <p:spPr>
          <a:xfrm>
            <a:off x="3566160" y="3054096"/>
            <a:ext cx="3474720" cy="658368"/>
          </a:xfrm>
          <a:prstGeom prst="rect">
            <a:avLst/>
          </a:prstGeom>
          <a:noFill/>
        </p:spPr>
        <p:txBody>
          <a:bodyPr wrap="square" anchor="ctr" lIns="0" rIns="0" tIns="0" bIns="0">
            <a:spAutoFit/>
          </a:bodyPr>
          <a:lstStyle/>
          <a:p>
            <a:pPr algn="r">
              <a:spcAft>
                <a:spcPts val="0"/>
              </a:spcAft>
            </a:pPr>
            <a:r>
              <a:rPr sz="1150" b="0" i="0">
                <a:solidFill>
                  <a:srgbClr val="F2F5F8"/>
                </a:solidFill>
                <a:latin typeface="Segoe UI"/>
              </a:rPr>
              <a:t>30 skills de Claude Code</a:t>
            </a:r>
          </a:p>
          <a:p>
            <a:pPr algn="r">
              <a:spcAft>
                <a:spcPts val="0"/>
              </a:spcAft>
            </a:pPr>
            <a:r>
              <a:rPr sz="1150" b="0" i="0">
                <a:solidFill>
                  <a:srgbClr val="F2F5F8"/>
                </a:solidFill>
                <a:latin typeface="Segoe UI"/>
              </a:rPr>
              <a:t>para cold outbound</a:t>
            </a:r>
          </a:p>
        </p:txBody>
      </p:sp>
      <p:sp>
        <p:nvSpPr>
          <p:cNvPr id="16" name="TextBox 15"/>
          <p:cNvSpPr txBox="1"/>
          <p:nvPr/>
        </p:nvSpPr>
        <p:spPr>
          <a:xfrm>
            <a:off x="7040880" y="3054096"/>
            <a:ext cx="4480560" cy="658368"/>
          </a:xfrm>
          <a:prstGeom prst="rect">
            <a:avLst/>
          </a:prstGeom>
          <a:noFill/>
        </p:spPr>
        <p:txBody>
          <a:bodyPr wrap="square" anchor="ctr" lIns="0" rIns="0" tIns="0" bIns="0">
            <a:spAutoFit/>
          </a:bodyPr>
          <a:lstStyle/>
          <a:p>
            <a:pPr algn="r">
              <a:spcAft>
                <a:spcPts val="0"/>
              </a:spcAft>
            </a:pPr>
            <a:r>
              <a:rPr sz="1150" b="0" i="0">
                <a:solidFill>
                  <a:srgbClr val="F2F5F8"/>
                </a:solidFill>
                <a:latin typeface="Segoe UI"/>
              </a:rPr>
              <a:t>Skills ya hechas para calificar campanas</a:t>
            </a:r>
          </a:p>
          <a:p>
            <a:pPr algn="r">
              <a:spcAft>
                <a:spcPts val="0"/>
              </a:spcAft>
            </a:pPr>
            <a:r>
              <a:rPr sz="1150" b="0" i="0">
                <a:solidFill>
                  <a:srgbClr val="F2F5F8"/>
                </a:solidFill>
                <a:latin typeface="Segoe UI"/>
              </a:rPr>
              <a:t>y armar ICP. Directamente reutilizable.</a:t>
            </a:r>
          </a:p>
        </p:txBody>
      </p:sp>
      <p:sp>
        <p:nvSpPr>
          <p:cNvPr id="17" name="Rounded Rectangle 16"/>
          <p:cNvSpPr/>
          <p:nvPr/>
        </p:nvSpPr>
        <p:spPr>
          <a:xfrm>
            <a:off x="548640" y="3675888"/>
            <a:ext cx="11064240" cy="658368"/>
          </a:xfrm>
          <a:prstGeom prst="roundRect">
            <a:avLst>
              <a:gd name="adj" fmla="val 6000"/>
            </a:avLst>
          </a:prstGeom>
          <a:solidFill>
            <a:srgbClr val="1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3712464"/>
            <a:ext cx="2926080" cy="658368"/>
          </a:xfrm>
          <a:prstGeom prst="rect">
            <a:avLst/>
          </a:prstGeom>
          <a:noFill/>
        </p:spPr>
        <p:txBody>
          <a:bodyPr wrap="square" anchor="ctr" lIns="0" rIns="0" tIns="0" bIns="0">
            <a:spAutoFit/>
          </a:bodyPr>
          <a:lstStyle/>
          <a:p>
            <a:pPr algn="l">
              <a:spcAft>
                <a:spcPts val="0"/>
              </a:spcAft>
            </a:pPr>
            <a:r>
              <a:rPr sz="1150" b="1" i="0">
                <a:solidFill>
                  <a:srgbClr val="F2F5F8"/>
                </a:solidFill>
                <a:latin typeface="Segoe UI"/>
              </a:rPr>
              <a:t>moaljumaa/linki</a:t>
            </a:r>
          </a:p>
        </p:txBody>
      </p:sp>
      <p:sp>
        <p:nvSpPr>
          <p:cNvPr id="19" name="TextBox 18"/>
          <p:cNvSpPr txBox="1"/>
          <p:nvPr/>
        </p:nvSpPr>
        <p:spPr>
          <a:xfrm>
            <a:off x="3566160" y="3712464"/>
            <a:ext cx="3474720" cy="658368"/>
          </a:xfrm>
          <a:prstGeom prst="rect">
            <a:avLst/>
          </a:prstGeom>
          <a:noFill/>
        </p:spPr>
        <p:txBody>
          <a:bodyPr wrap="square" anchor="ctr" lIns="0" rIns="0" tIns="0" bIns="0">
            <a:spAutoFit/>
          </a:bodyPr>
          <a:lstStyle/>
          <a:p>
            <a:pPr algn="r">
              <a:spcAft>
                <a:spcPts val="0"/>
              </a:spcAft>
            </a:pPr>
            <a:r>
              <a:rPr sz="1150" b="0" i="0">
                <a:solidFill>
                  <a:srgbClr val="F2F5F8"/>
                </a:solidFill>
                <a:latin typeface="Segoe UI"/>
              </a:rPr>
              <a:t>AI SDR self-hosted,</a:t>
            </a:r>
          </a:p>
          <a:p>
            <a:pPr algn="r">
              <a:spcAft>
                <a:spcPts val="0"/>
              </a:spcAft>
            </a:pPr>
            <a:r>
              <a:rPr sz="1150" b="0" i="0">
                <a:solidFill>
                  <a:srgbClr val="F2F5F8"/>
                </a:solidFill>
                <a:latin typeface="Segoe UI"/>
              </a:rPr>
              <a:t>secuencias multicanal</a:t>
            </a:r>
          </a:p>
        </p:txBody>
      </p:sp>
      <p:sp>
        <p:nvSpPr>
          <p:cNvPr id="20" name="TextBox 19"/>
          <p:cNvSpPr txBox="1"/>
          <p:nvPr/>
        </p:nvSpPr>
        <p:spPr>
          <a:xfrm>
            <a:off x="7040880" y="3712464"/>
            <a:ext cx="4480560" cy="658368"/>
          </a:xfrm>
          <a:prstGeom prst="rect">
            <a:avLst/>
          </a:prstGeom>
          <a:noFill/>
        </p:spPr>
        <p:txBody>
          <a:bodyPr wrap="square" anchor="ctr" lIns="0" rIns="0" tIns="0" bIns="0">
            <a:spAutoFit/>
          </a:bodyPr>
          <a:lstStyle/>
          <a:p>
            <a:pPr algn="r">
              <a:spcAft>
                <a:spcPts val="0"/>
              </a:spcAft>
            </a:pPr>
            <a:r>
              <a:rPr sz="1150" b="0" i="0">
                <a:solidFill>
                  <a:srgbClr val="F2F5F8"/>
                </a:solidFill>
                <a:latin typeface="Segoe UI"/>
              </a:rPr>
              <a:t>Resuelve exactamente nuestro agujero:</a:t>
            </a:r>
          </a:p>
          <a:p>
            <a:pPr algn="r">
              <a:spcAft>
                <a:spcPts val="0"/>
              </a:spcAft>
            </a:pPr>
            <a:r>
              <a:rPr sz="1150" b="0" i="0">
                <a:solidFill>
                  <a:srgbClr val="F2F5F8"/>
                </a:solidFill>
                <a:latin typeface="Segoe UI"/>
              </a:rPr>
              <a:t>secuencias LinkedIn + mail coordinadas.</a:t>
            </a:r>
          </a:p>
        </p:txBody>
      </p:sp>
      <p:sp>
        <p:nvSpPr>
          <p:cNvPr id="21" name="TextBox 20"/>
          <p:cNvSpPr txBox="1"/>
          <p:nvPr/>
        </p:nvSpPr>
        <p:spPr>
          <a:xfrm>
            <a:off x="640080" y="4370832"/>
            <a:ext cx="2926080" cy="658368"/>
          </a:xfrm>
          <a:prstGeom prst="rect">
            <a:avLst/>
          </a:prstGeom>
          <a:noFill/>
        </p:spPr>
        <p:txBody>
          <a:bodyPr wrap="square" anchor="ctr" lIns="0" rIns="0" tIns="0" bIns="0">
            <a:spAutoFit/>
          </a:bodyPr>
          <a:lstStyle/>
          <a:p>
            <a:pPr algn="l">
              <a:spcAft>
                <a:spcPts val="0"/>
              </a:spcAft>
            </a:pPr>
            <a:r>
              <a:rPr sz="1150" b="1" i="0">
                <a:solidFill>
                  <a:srgbClr val="F2F5F8"/>
                </a:solidFill>
                <a:latin typeface="Segoe UI"/>
              </a:rPr>
              <a:t>tajbaka/OpenOutreach</a:t>
            </a:r>
          </a:p>
        </p:txBody>
      </p:sp>
      <p:sp>
        <p:nvSpPr>
          <p:cNvPr id="22" name="TextBox 21"/>
          <p:cNvSpPr txBox="1"/>
          <p:nvPr/>
        </p:nvSpPr>
        <p:spPr>
          <a:xfrm>
            <a:off x="3566160" y="4370832"/>
            <a:ext cx="3474720" cy="658368"/>
          </a:xfrm>
          <a:prstGeom prst="rect">
            <a:avLst/>
          </a:prstGeom>
          <a:noFill/>
        </p:spPr>
        <p:txBody>
          <a:bodyPr wrap="square" anchor="ctr" lIns="0" rIns="0" tIns="0" bIns="0">
            <a:spAutoFit/>
          </a:bodyPr>
          <a:lstStyle/>
          <a:p>
            <a:pPr algn="r">
              <a:spcAft>
                <a:spcPts val="0"/>
              </a:spcAft>
            </a:pPr>
            <a:r>
              <a:rPr sz="1150" b="0" i="0">
                <a:solidFill>
                  <a:srgbClr val="F2F5F8"/>
                </a:solidFill>
                <a:latin typeface="Segoe UI"/>
              </a:rPr>
              <a:t>LinkedIn + Postgres +</a:t>
            </a:r>
          </a:p>
          <a:p>
            <a:pPr algn="r">
              <a:spcAft>
                <a:spcPts val="0"/>
              </a:spcAft>
            </a:pPr>
            <a:r>
              <a:rPr sz="1150" b="0" i="0">
                <a:solidFill>
                  <a:srgbClr val="F2F5F8"/>
                </a:solidFill>
                <a:latin typeface="Segoe UI"/>
              </a:rPr>
              <a:t>CRM sobre Google Sheets</a:t>
            </a:r>
          </a:p>
        </p:txBody>
      </p:sp>
      <p:sp>
        <p:nvSpPr>
          <p:cNvPr id="23" name="TextBox 22"/>
          <p:cNvSpPr txBox="1"/>
          <p:nvPr/>
        </p:nvSpPr>
        <p:spPr>
          <a:xfrm>
            <a:off x="7040880" y="4370832"/>
            <a:ext cx="4480560" cy="658368"/>
          </a:xfrm>
          <a:prstGeom prst="rect">
            <a:avLst/>
          </a:prstGeom>
          <a:noFill/>
        </p:spPr>
        <p:txBody>
          <a:bodyPr wrap="square" anchor="ctr" lIns="0" rIns="0" tIns="0" bIns="0">
            <a:spAutoFit/>
          </a:bodyPr>
          <a:lstStyle/>
          <a:p>
            <a:pPr algn="r">
              <a:spcAft>
                <a:spcPts val="0"/>
              </a:spcAft>
            </a:pPr>
            <a:r>
              <a:rPr sz="1150" b="0" i="0">
                <a:solidFill>
                  <a:srgbClr val="F2F5F8"/>
                </a:solidFill>
                <a:latin typeface="Segoe UI"/>
              </a:rPr>
              <a:t>Modelo de 'People ledger' durable.</a:t>
            </a:r>
          </a:p>
          <a:p>
            <a:pPr algn="r">
              <a:spcAft>
                <a:spcPts val="0"/>
              </a:spcAft>
            </a:pPr>
            <a:r>
              <a:rPr sz="1150" b="0" i="0">
                <a:solidFill>
                  <a:srgbClr val="F2F5F8"/>
                </a:solidFill>
                <a:latin typeface="Segoe UI"/>
              </a:rPr>
              <a:t>Mejor que nuestro historial.json plano.</a:t>
            </a:r>
          </a:p>
        </p:txBody>
      </p:sp>
      <p:sp>
        <p:nvSpPr>
          <p:cNvPr id="24" name="Rounded Rectangle 23"/>
          <p:cNvSpPr/>
          <p:nvPr/>
        </p:nvSpPr>
        <p:spPr>
          <a:xfrm>
            <a:off x="548640" y="4992624"/>
            <a:ext cx="11064240" cy="658368"/>
          </a:xfrm>
          <a:prstGeom prst="roundRect">
            <a:avLst>
              <a:gd name="adj" fmla="val 6000"/>
            </a:avLst>
          </a:prstGeom>
          <a:solidFill>
            <a:srgbClr val="1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5029200"/>
            <a:ext cx="2926080" cy="658368"/>
          </a:xfrm>
          <a:prstGeom prst="rect">
            <a:avLst/>
          </a:prstGeom>
          <a:noFill/>
        </p:spPr>
        <p:txBody>
          <a:bodyPr wrap="square" anchor="ctr" lIns="0" rIns="0" tIns="0" bIns="0">
            <a:spAutoFit/>
          </a:bodyPr>
          <a:lstStyle/>
          <a:p>
            <a:pPr algn="l">
              <a:spcAft>
                <a:spcPts val="0"/>
              </a:spcAft>
            </a:pPr>
            <a:r>
              <a:rPr sz="1150" b="1" i="0">
                <a:solidFill>
                  <a:srgbClr val="F2F5F8"/>
                </a:solidFill>
                <a:latin typeface="Segoe UI"/>
              </a:rPr>
              <a:t>YALC</a:t>
            </a:r>
          </a:p>
        </p:txBody>
      </p:sp>
      <p:sp>
        <p:nvSpPr>
          <p:cNvPr id="26" name="TextBox 25"/>
          <p:cNvSpPr txBox="1"/>
          <p:nvPr/>
        </p:nvSpPr>
        <p:spPr>
          <a:xfrm>
            <a:off x="3566160" y="5029200"/>
            <a:ext cx="3474720" cy="658368"/>
          </a:xfrm>
          <a:prstGeom prst="rect">
            <a:avLst/>
          </a:prstGeom>
          <a:noFill/>
        </p:spPr>
        <p:txBody>
          <a:bodyPr wrap="square" anchor="ctr" lIns="0" rIns="0" tIns="0" bIns="0">
            <a:spAutoFit/>
          </a:bodyPr>
          <a:lstStyle/>
          <a:p>
            <a:pPr algn="r">
              <a:spcAft>
                <a:spcPts val="0"/>
              </a:spcAft>
            </a:pPr>
            <a:r>
              <a:rPr sz="1150" b="0" i="0">
                <a:solidFill>
                  <a:srgbClr val="F2F5F8"/>
                </a:solidFill>
                <a:latin typeface="Segoe UI"/>
              </a:rPr>
              <a:t>Alternativa open source a</a:t>
            </a:r>
          </a:p>
          <a:p>
            <a:pPr algn="r">
              <a:spcAft>
                <a:spcPts val="0"/>
              </a:spcAft>
            </a:pPr>
            <a:r>
              <a:rPr sz="1150" b="0" i="0">
                <a:solidFill>
                  <a:srgbClr val="F2F5F8"/>
                </a:solidFill>
                <a:latin typeface="Segoe UI"/>
              </a:rPr>
              <a:t>Clay, corre en Claude Code</a:t>
            </a:r>
          </a:p>
        </p:txBody>
      </p:sp>
      <p:sp>
        <p:nvSpPr>
          <p:cNvPr id="27" name="TextBox 26"/>
          <p:cNvSpPr txBox="1"/>
          <p:nvPr/>
        </p:nvSpPr>
        <p:spPr>
          <a:xfrm>
            <a:off x="7040880" y="5029200"/>
            <a:ext cx="4480560" cy="658368"/>
          </a:xfrm>
          <a:prstGeom prst="rect">
            <a:avLst/>
          </a:prstGeom>
          <a:noFill/>
        </p:spPr>
        <p:txBody>
          <a:bodyPr wrap="square" anchor="ctr" lIns="0" rIns="0" tIns="0" bIns="0">
            <a:spAutoFit/>
          </a:bodyPr>
          <a:lstStyle/>
          <a:p>
            <a:pPr algn="r">
              <a:spcAft>
                <a:spcPts val="0"/>
              </a:spcAft>
            </a:pPr>
            <a:r>
              <a:rPr sz="1150" b="0" i="0">
                <a:solidFill>
                  <a:srgbClr val="F2F5F8"/>
                </a:solidFill>
                <a:latin typeface="Segoe UI"/>
              </a:rPr>
              <a:t>Enriquecimiento de leads y scoring ICP</a:t>
            </a:r>
          </a:p>
          <a:p>
            <a:pPr algn="r">
              <a:spcAft>
                <a:spcPts val="0"/>
              </a:spcAft>
            </a:pPr>
            <a:r>
              <a:rPr sz="1150" b="0" i="0">
                <a:solidFill>
                  <a:srgbClr val="F2F5F8"/>
                </a:solidFill>
                <a:latin typeface="Segoe UI"/>
              </a:rPr>
              <a:t>sin pagar Clay ni Apollo.</a:t>
            </a:r>
          </a:p>
        </p:txBody>
      </p:sp>
      <p:sp>
        <p:nvSpPr>
          <p:cNvPr id="28" name="Rounded Rectangle 27"/>
          <p:cNvSpPr/>
          <p:nvPr/>
        </p:nvSpPr>
        <p:spPr>
          <a:xfrm>
            <a:off x="640080" y="5669280"/>
            <a:ext cx="10881360" cy="621792"/>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68680" y="5788152"/>
            <a:ext cx="10424160" cy="411480"/>
          </a:xfrm>
          <a:prstGeom prst="rect">
            <a:avLst/>
          </a:prstGeom>
          <a:noFill/>
        </p:spPr>
        <p:txBody>
          <a:bodyPr wrap="square" anchor="t" lIns="0" rIns="0" tIns="0" bIns="0">
            <a:spAutoFit/>
          </a:bodyPr>
          <a:lstStyle/>
          <a:p>
            <a:pPr algn="l">
              <a:lnSpc>
                <a:spcPct val="130000"/>
              </a:lnSpc>
              <a:spcAft>
                <a:spcPts val="0"/>
              </a:spcAft>
            </a:pPr>
            <a:r>
              <a:rPr sz="1150" b="0" i="0">
                <a:solidFill>
                  <a:srgbClr val="E8B45B"/>
                </a:solidFill>
                <a:latin typeface="Segoe UI"/>
              </a:rPr>
              <a:t>Lectura: el mercado open source resolvio la parte de volumen y secuenciacion. Nuestra ventaja real es la calidad del analisis previo,</a:t>
            </a:r>
          </a:p>
          <a:p>
            <a:pPr algn="l">
              <a:lnSpc>
                <a:spcPct val="130000"/>
              </a:lnSpc>
              <a:spcAft>
                <a:spcPts val="0"/>
              </a:spcAft>
            </a:pPr>
            <a:r>
              <a:rPr sz="1150" b="0" i="0">
                <a:solidFill>
                  <a:srgbClr val="E8B45B"/>
                </a:solidFill>
                <a:latin typeface="Segoe UI"/>
              </a:rPr>
              <a:t>que ninguna de estas herramientas tiene. Conviene tomarles la mecanica de secuencias, no el criterio de mensaje.</a:t>
            </a:r>
          </a:p>
        </p:txBody>
      </p:sp>
      <p:sp>
        <p:nvSpPr>
          <p:cNvPr id="30" name="TextBox 29"/>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31" name="TextBox 30"/>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EJECUCION</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Plan de 30 / 60 / 90 dias</a:t>
            </a:r>
          </a:p>
        </p:txBody>
      </p:sp>
      <p:sp>
        <p:nvSpPr>
          <p:cNvPr id="4" name="Rectangle 3"/>
          <p:cNvSpPr/>
          <p:nvPr/>
        </p:nvSpPr>
        <p:spPr>
          <a:xfrm>
            <a:off x="640080" y="1170432"/>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965960"/>
            <a:ext cx="3520440" cy="3931920"/>
          </a:xfrm>
          <a:prstGeom prst="roundRect">
            <a:avLst>
              <a:gd name="adj" fmla="val 6000"/>
            </a:avLst>
          </a:prstGeom>
          <a:solidFill>
            <a:srgbClr val="181D25"/>
          </a:solidFill>
          <a:ln w="1524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868680" y="2148840"/>
            <a:ext cx="1554480" cy="274320"/>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176272"/>
            <a:ext cx="1554480" cy="228600"/>
          </a:xfrm>
          <a:prstGeom prst="rect">
            <a:avLst/>
          </a:prstGeom>
          <a:noFill/>
        </p:spPr>
        <p:txBody>
          <a:bodyPr wrap="square" anchor="t" lIns="0" rIns="0" tIns="0" bIns="0">
            <a:spAutoFit/>
          </a:bodyPr>
          <a:lstStyle/>
          <a:p>
            <a:pPr algn="ctr">
              <a:spcAft>
                <a:spcPts val="0"/>
              </a:spcAft>
            </a:pPr>
            <a:r>
              <a:rPr sz="950" b="1" i="0">
                <a:solidFill>
                  <a:srgbClr val="0E1116"/>
                </a:solidFill>
                <a:latin typeface="Segoe UI"/>
              </a:rPr>
              <a:t>ESTA SEMANA</a:t>
            </a:r>
          </a:p>
        </p:txBody>
      </p:sp>
      <p:sp>
        <p:nvSpPr>
          <p:cNvPr id="8" name="Rounded Rectangle 7"/>
          <p:cNvSpPr/>
          <p:nvPr/>
        </p:nvSpPr>
        <p:spPr>
          <a:xfrm>
            <a:off x="896112" y="2724912"/>
            <a:ext cx="73152" cy="73152"/>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97280" y="2651760"/>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Rollback del MSG1: CTA, sin Hint, 60 palabras</a:t>
            </a:r>
          </a:p>
        </p:txBody>
      </p:sp>
      <p:sp>
        <p:nvSpPr>
          <p:cNvPr id="10" name="Rounded Rectangle 9"/>
          <p:cNvSpPr/>
          <p:nvPr/>
        </p:nvSpPr>
        <p:spPr>
          <a:xfrm>
            <a:off x="896112" y="3346704"/>
            <a:ext cx="73152" cy="73152"/>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97280" y="3273552"/>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SEG1 a los 82 dossiers sin follow-up</a:t>
            </a:r>
          </a:p>
        </p:txBody>
      </p:sp>
      <p:sp>
        <p:nvSpPr>
          <p:cNvPr id="12" name="Rounded Rectangle 11"/>
          <p:cNvSpPr/>
          <p:nvPr/>
        </p:nvSpPr>
        <p:spPr>
          <a:xfrm>
            <a:off x="896112" y="3968496"/>
            <a:ext cx="73152" cy="73152"/>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97280" y="3895344"/>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MSG2 a los 97 leads que respondieron</a:t>
            </a:r>
          </a:p>
        </p:txBody>
      </p:sp>
      <p:sp>
        <p:nvSpPr>
          <p:cNvPr id="14" name="Rounded Rectangle 13"/>
          <p:cNvSpPr/>
          <p:nvPr/>
        </p:nvSpPr>
        <p:spPr>
          <a:xfrm>
            <a:off x="896112" y="4590288"/>
            <a:ext cx="73152" cy="73152"/>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97280" y="4517136"/>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Commitear los 40 .md de septiembre sin guardar</a:t>
            </a:r>
          </a:p>
        </p:txBody>
      </p:sp>
      <p:sp>
        <p:nvSpPr>
          <p:cNvPr id="16" name="Rounded Rectangle 15"/>
          <p:cNvSpPr/>
          <p:nvPr/>
        </p:nvSpPr>
        <p:spPr>
          <a:xfrm>
            <a:off x="896112" y="5212080"/>
            <a:ext cx="73152" cy="73152"/>
          </a:xfrm>
          <a:prstGeom prst="roundRect">
            <a:avLst>
              <a:gd name="adj" fmla="val 6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5138928"/>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Enviar los 5 dossiers por mail pendientes</a:t>
            </a:r>
          </a:p>
        </p:txBody>
      </p:sp>
      <p:sp>
        <p:nvSpPr>
          <p:cNvPr id="18" name="Rounded Rectangle 17"/>
          <p:cNvSpPr/>
          <p:nvPr/>
        </p:nvSpPr>
        <p:spPr>
          <a:xfrm>
            <a:off x="4361688" y="1965960"/>
            <a:ext cx="3520440" cy="3931920"/>
          </a:xfrm>
          <a:prstGeom prst="roundRect">
            <a:avLst>
              <a:gd name="adj" fmla="val 6000"/>
            </a:avLst>
          </a:prstGeom>
          <a:solidFill>
            <a:srgbClr val="181D25"/>
          </a:solidFill>
          <a:ln w="1524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4590288" y="2148840"/>
            <a:ext cx="1554480" cy="274320"/>
          </a:xfrm>
          <a:prstGeom prst="roundRect">
            <a:avLst>
              <a:gd name="adj" fmla="val 6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90288" y="2176272"/>
            <a:ext cx="1554480" cy="228600"/>
          </a:xfrm>
          <a:prstGeom prst="rect">
            <a:avLst/>
          </a:prstGeom>
          <a:noFill/>
        </p:spPr>
        <p:txBody>
          <a:bodyPr wrap="square" anchor="t" lIns="0" rIns="0" tIns="0" bIns="0">
            <a:spAutoFit/>
          </a:bodyPr>
          <a:lstStyle/>
          <a:p>
            <a:pPr algn="ctr">
              <a:spcAft>
                <a:spcPts val="0"/>
              </a:spcAft>
            </a:pPr>
            <a:r>
              <a:rPr sz="950" b="1" i="0">
                <a:solidFill>
                  <a:srgbClr val="0E1116"/>
                </a:solidFill>
                <a:latin typeface="Segoe UI"/>
              </a:rPr>
              <a:t>30 DIAS</a:t>
            </a:r>
          </a:p>
        </p:txBody>
      </p:sp>
      <p:sp>
        <p:nvSpPr>
          <p:cNvPr id="21" name="Rounded Rectangle 20"/>
          <p:cNvSpPr/>
          <p:nvPr/>
        </p:nvSpPr>
        <p:spPr>
          <a:xfrm>
            <a:off x="4617720" y="2724912"/>
            <a:ext cx="73152" cy="73152"/>
          </a:xfrm>
          <a:prstGeom prst="roundRect">
            <a:avLst>
              <a:gd name="adj" fmla="val 6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818888" y="2651760"/>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Secuencia de 7 toques implementada en el programa</a:t>
            </a:r>
          </a:p>
        </p:txBody>
      </p:sp>
      <p:sp>
        <p:nvSpPr>
          <p:cNvPr id="23" name="Rounded Rectangle 22"/>
          <p:cNvSpPr/>
          <p:nvPr/>
        </p:nvSpPr>
        <p:spPr>
          <a:xfrm>
            <a:off x="4617720" y="3346704"/>
            <a:ext cx="73152" cy="73152"/>
          </a:xfrm>
          <a:prstGeom prst="roundRect">
            <a:avLst>
              <a:gd name="adj" fmla="val 6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818888" y="3273552"/>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Alerta automatica de follow-up vencido</a:t>
            </a:r>
          </a:p>
        </p:txBody>
      </p:sp>
      <p:sp>
        <p:nvSpPr>
          <p:cNvPr id="25" name="Rounded Rectangle 24"/>
          <p:cNvSpPr/>
          <p:nvPr/>
        </p:nvSpPr>
        <p:spPr>
          <a:xfrm>
            <a:off x="4617720" y="3968496"/>
            <a:ext cx="73152" cy="73152"/>
          </a:xfrm>
          <a:prstGeom prst="roundRect">
            <a:avLst>
              <a:gd name="adj" fmla="val 6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818888" y="3895344"/>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Validador de mensaje antes de enviar</a:t>
            </a:r>
          </a:p>
        </p:txBody>
      </p:sp>
      <p:sp>
        <p:nvSpPr>
          <p:cNvPr id="27" name="Rounded Rectangle 26"/>
          <p:cNvSpPr/>
          <p:nvPr/>
        </p:nvSpPr>
        <p:spPr>
          <a:xfrm>
            <a:off x="4617720" y="4590288"/>
            <a:ext cx="73152" cy="73152"/>
          </a:xfrm>
          <a:prstGeom prst="roundRect">
            <a:avLst>
              <a:gd name="adj" fmla="val 6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818888" y="4517136"/>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Reasignar volumen: menos tech/mineria, mas consultoria/salud</a:t>
            </a:r>
          </a:p>
        </p:txBody>
      </p:sp>
      <p:sp>
        <p:nvSpPr>
          <p:cNvPr id="29" name="Rounded Rectangle 28"/>
          <p:cNvSpPr/>
          <p:nvPr/>
        </p:nvSpPr>
        <p:spPr>
          <a:xfrm>
            <a:off x="4617720" y="5212080"/>
            <a:ext cx="73152" cy="73152"/>
          </a:xfrm>
          <a:prstGeom prst="roundRect">
            <a:avLst>
              <a:gd name="adj" fmla="val 6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818888" y="5138928"/>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Campana de resurreccion sobre 773 contactos</a:t>
            </a:r>
          </a:p>
        </p:txBody>
      </p:sp>
      <p:sp>
        <p:nvSpPr>
          <p:cNvPr id="31" name="Rounded Rectangle 30"/>
          <p:cNvSpPr/>
          <p:nvPr/>
        </p:nvSpPr>
        <p:spPr>
          <a:xfrm>
            <a:off x="8083296" y="1965960"/>
            <a:ext cx="3520440" cy="3931920"/>
          </a:xfrm>
          <a:prstGeom prst="roundRect">
            <a:avLst>
              <a:gd name="adj" fmla="val 6000"/>
            </a:avLst>
          </a:prstGeom>
          <a:solidFill>
            <a:srgbClr val="181D25"/>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8311896" y="2148840"/>
            <a:ext cx="1554480" cy="274320"/>
          </a:xfrm>
          <a:prstGeom prst="roundRect">
            <a:avLst>
              <a:gd name="adj" fmla="val 6000"/>
            </a:avLst>
          </a:prstGeom>
          <a:solidFill>
            <a:srgbClr val="3DD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11896" y="2176272"/>
            <a:ext cx="1554480" cy="228600"/>
          </a:xfrm>
          <a:prstGeom prst="rect">
            <a:avLst/>
          </a:prstGeom>
          <a:noFill/>
        </p:spPr>
        <p:txBody>
          <a:bodyPr wrap="square" anchor="t" lIns="0" rIns="0" tIns="0" bIns="0">
            <a:spAutoFit/>
          </a:bodyPr>
          <a:lstStyle/>
          <a:p>
            <a:pPr algn="ctr">
              <a:spcAft>
                <a:spcPts val="0"/>
              </a:spcAft>
            </a:pPr>
            <a:r>
              <a:rPr sz="950" b="1" i="0">
                <a:solidFill>
                  <a:srgbClr val="0E1116"/>
                </a:solidFill>
                <a:latin typeface="Segoe UI"/>
              </a:rPr>
              <a:t>60-90 DIAS</a:t>
            </a:r>
          </a:p>
        </p:txBody>
      </p:sp>
      <p:sp>
        <p:nvSpPr>
          <p:cNvPr id="34" name="Rounded Rectangle 33"/>
          <p:cNvSpPr/>
          <p:nvPr/>
        </p:nvSpPr>
        <p:spPr>
          <a:xfrm>
            <a:off x="8339328" y="2724912"/>
            <a:ext cx="73152" cy="73152"/>
          </a:xfrm>
          <a:prstGeom prst="roundRect">
            <a:avLst>
              <a:gd name="adj" fmla="val 6000"/>
            </a:avLst>
          </a:prstGeom>
          <a:solidFill>
            <a:srgbClr val="3DD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540496" y="2651760"/>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Secuencia multicanal LinkedIn + mail</a:t>
            </a:r>
          </a:p>
        </p:txBody>
      </p:sp>
      <p:sp>
        <p:nvSpPr>
          <p:cNvPr id="36" name="Rounded Rectangle 35"/>
          <p:cNvSpPr/>
          <p:nvPr/>
        </p:nvSpPr>
        <p:spPr>
          <a:xfrm>
            <a:off x="8339328" y="3346704"/>
            <a:ext cx="73152" cy="73152"/>
          </a:xfrm>
          <a:prstGeom prst="roundRect">
            <a:avLst>
              <a:gd name="adj" fmla="val 6000"/>
            </a:avLst>
          </a:prstGeom>
          <a:solidFill>
            <a:srgbClr val="3DD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540496" y="3273552"/>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Warm-up sistematico antes del MSG1</a:t>
            </a:r>
          </a:p>
        </p:txBody>
      </p:sp>
      <p:sp>
        <p:nvSpPr>
          <p:cNvPr id="38" name="Rounded Rectangle 37"/>
          <p:cNvSpPr/>
          <p:nvPr/>
        </p:nvSpPr>
        <p:spPr>
          <a:xfrm>
            <a:off x="8339328" y="3968496"/>
            <a:ext cx="73152" cy="73152"/>
          </a:xfrm>
          <a:prstGeom prst="roundRect">
            <a:avLst>
              <a:gd name="adj" fmla="val 6000"/>
            </a:avLst>
          </a:prstGeom>
          <a:solidFill>
            <a:srgbClr val="3DD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540496" y="3895344"/>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Notas de voz en el toque 5</a:t>
            </a:r>
          </a:p>
        </p:txBody>
      </p:sp>
      <p:sp>
        <p:nvSpPr>
          <p:cNvPr id="40" name="Rounded Rectangle 39"/>
          <p:cNvSpPr/>
          <p:nvPr/>
        </p:nvSpPr>
        <p:spPr>
          <a:xfrm>
            <a:off x="8339328" y="4590288"/>
            <a:ext cx="73152" cy="73152"/>
          </a:xfrm>
          <a:prstGeom prst="roundRect">
            <a:avLst>
              <a:gd name="adj" fmla="val 6000"/>
            </a:avLst>
          </a:prstGeom>
          <a:solidFill>
            <a:srgbClr val="3DD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540496" y="4517136"/>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Dashboard con embudo real y reuniones como KPI unico</a:t>
            </a:r>
          </a:p>
        </p:txBody>
      </p:sp>
      <p:sp>
        <p:nvSpPr>
          <p:cNvPr id="42" name="Rounded Rectangle 41"/>
          <p:cNvSpPr/>
          <p:nvPr/>
        </p:nvSpPr>
        <p:spPr>
          <a:xfrm>
            <a:off x="8339328" y="5212080"/>
            <a:ext cx="73152" cy="73152"/>
          </a:xfrm>
          <a:prstGeom prst="roundRect">
            <a:avLst>
              <a:gd name="adj" fmla="val 6000"/>
            </a:avLst>
          </a:prstGeom>
          <a:solidFill>
            <a:srgbClr val="3DD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540496" y="5138928"/>
            <a:ext cx="2834640" cy="640080"/>
          </a:xfrm>
          <a:prstGeom prst="rect">
            <a:avLst/>
          </a:prstGeom>
          <a:noFill/>
        </p:spPr>
        <p:txBody>
          <a:bodyPr wrap="square" anchor="t" lIns="0" rIns="0" tIns="0" bIns="0">
            <a:spAutoFit/>
          </a:bodyPr>
          <a:lstStyle/>
          <a:p>
            <a:pPr algn="l">
              <a:lnSpc>
                <a:spcPct val="130000"/>
              </a:lnSpc>
              <a:spcAft>
                <a:spcPts val="0"/>
              </a:spcAft>
            </a:pPr>
            <a:r>
              <a:rPr sz="1100" b="0" i="0">
                <a:solidFill>
                  <a:srgbClr val="F2F5F8"/>
                </a:solidFill>
                <a:latin typeface="Segoe UI"/>
              </a:rPr>
              <a:t>Programa de referidos explicito</a:t>
            </a:r>
          </a:p>
        </p:txBody>
      </p:sp>
      <p:sp>
        <p:nvSpPr>
          <p:cNvPr id="44" name="TextBox 43"/>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45" name="TextBox 44"/>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nchor="t" lIns="0" rIns="0" tIns="0" bIns="0">
            <a:spAutoFit/>
          </a:bodyPr>
          <a:lstStyle/>
          <a:p>
            <a:pPr algn="l">
              <a:spcAft>
                <a:spcPts val="0"/>
              </a:spcAft>
            </a:pPr>
            <a:r>
              <a:rPr sz="1100" b="1" i="0">
                <a:solidFill>
                  <a:srgbClr val="5B9DF9"/>
                </a:solidFill>
                <a:latin typeface="Segoe UI"/>
              </a:rPr>
              <a:t>EL OBJETIVO</a:t>
            </a:r>
          </a:p>
        </p:txBody>
      </p:sp>
      <p:sp>
        <p:nvSpPr>
          <p:cNvPr id="3" name="TextBox 2"/>
          <p:cNvSpPr txBox="1"/>
          <p:nvPr/>
        </p:nvSpPr>
        <p:spPr>
          <a:xfrm>
            <a:off x="640080" y="658368"/>
            <a:ext cx="10972800" cy="566928"/>
          </a:xfrm>
          <a:prstGeom prst="rect">
            <a:avLst/>
          </a:prstGeom>
          <a:noFill/>
        </p:spPr>
        <p:txBody>
          <a:bodyPr wrap="square" anchor="t" lIns="0" rIns="0" tIns="0" bIns="0">
            <a:spAutoFit/>
          </a:bodyPr>
          <a:lstStyle/>
          <a:p>
            <a:pPr algn="l">
              <a:spcAft>
                <a:spcPts val="0"/>
              </a:spcAft>
            </a:pPr>
            <a:r>
              <a:rPr sz="3000" b="1" i="0">
                <a:solidFill>
                  <a:srgbClr val="F2F5F8"/>
                </a:solidFill>
                <a:latin typeface="Segoe UI"/>
              </a:rPr>
              <a:t>Que pasa si hacemos esto</a:t>
            </a:r>
          </a:p>
        </p:txBody>
      </p:sp>
      <p:sp>
        <p:nvSpPr>
          <p:cNvPr id="4" name="TextBox 3"/>
          <p:cNvSpPr txBox="1"/>
          <p:nvPr/>
        </p:nvSpPr>
        <p:spPr>
          <a:xfrm>
            <a:off x="640080" y="1261872"/>
            <a:ext cx="10972800" cy="365760"/>
          </a:xfrm>
          <a:prstGeom prst="rect">
            <a:avLst/>
          </a:prstGeom>
          <a:noFill/>
        </p:spPr>
        <p:txBody>
          <a:bodyPr wrap="square" anchor="t" lIns="0" rIns="0" tIns="0" bIns="0">
            <a:spAutoFit/>
          </a:bodyPr>
          <a:lstStyle/>
          <a:p>
            <a:pPr algn="l">
              <a:spcAft>
                <a:spcPts val="0"/>
              </a:spcAft>
            </a:pPr>
            <a:r>
              <a:rPr sz="1300" b="0" i="0">
                <a:solidFill>
                  <a:srgbClr val="8A94A6"/>
                </a:solidFill>
                <a:latin typeface="Segoe UI"/>
              </a:rPr>
              <a:t>Proyeccion sobre el mismo volumen de septiembre (315 contactos), sin gastar una conexion mas</a:t>
            </a:r>
          </a:p>
        </p:txBody>
      </p:sp>
      <p:sp>
        <p:nvSpPr>
          <p:cNvPr id="5" name="Rectangle 4"/>
          <p:cNvSpPr/>
          <p:nvPr/>
        </p:nvSpPr>
        <p:spPr>
          <a:xfrm>
            <a:off x="640080" y="1682496"/>
            <a:ext cx="1005840" cy="38100"/>
          </a:xfrm>
          <a:prstGeom prst="rect">
            <a:avLst/>
          </a:prstGeom>
          <a:solidFill>
            <a:srgbClr val="5B9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103120"/>
            <a:ext cx="2743200" cy="274320"/>
          </a:xfrm>
          <a:prstGeom prst="rect">
            <a:avLst/>
          </a:prstGeom>
          <a:noFill/>
        </p:spPr>
        <p:txBody>
          <a:bodyPr wrap="square" anchor="t" lIns="0" rIns="0" tIns="0" bIns="0">
            <a:spAutoFit/>
          </a:bodyPr>
          <a:lstStyle/>
          <a:p>
            <a:pPr algn="l">
              <a:spcAft>
                <a:spcPts val="0"/>
              </a:spcAft>
            </a:pPr>
            <a:r>
              <a:rPr sz="1000" b="1" i="0">
                <a:solidFill>
                  <a:srgbClr val="8A94A6"/>
                </a:solidFill>
                <a:latin typeface="Segoe UI"/>
              </a:rPr>
              <a:t>Metrica</a:t>
            </a:r>
          </a:p>
        </p:txBody>
      </p:sp>
      <p:sp>
        <p:nvSpPr>
          <p:cNvPr id="7" name="TextBox 6"/>
          <p:cNvSpPr txBox="1"/>
          <p:nvPr/>
        </p:nvSpPr>
        <p:spPr>
          <a:xfrm>
            <a:off x="3383280" y="2103120"/>
            <a:ext cx="2560320" cy="274320"/>
          </a:xfrm>
          <a:prstGeom prst="rect">
            <a:avLst/>
          </a:prstGeom>
          <a:noFill/>
        </p:spPr>
        <p:txBody>
          <a:bodyPr wrap="square" anchor="t" lIns="0" rIns="0" tIns="0" bIns="0">
            <a:spAutoFit/>
          </a:bodyPr>
          <a:lstStyle/>
          <a:p>
            <a:pPr algn="r">
              <a:spcAft>
                <a:spcPts val="0"/>
              </a:spcAft>
            </a:pPr>
            <a:r>
              <a:rPr sz="1000" b="1" i="0">
                <a:solidFill>
                  <a:srgbClr val="8A94A6"/>
                </a:solidFill>
                <a:latin typeface="Segoe UI"/>
              </a:rPr>
              <a:t>Septiembre real</a:t>
            </a:r>
          </a:p>
        </p:txBody>
      </p:sp>
      <p:sp>
        <p:nvSpPr>
          <p:cNvPr id="8" name="TextBox 7"/>
          <p:cNvSpPr txBox="1"/>
          <p:nvPr/>
        </p:nvSpPr>
        <p:spPr>
          <a:xfrm>
            <a:off x="5943600" y="2103120"/>
            <a:ext cx="2743200" cy="274320"/>
          </a:xfrm>
          <a:prstGeom prst="rect">
            <a:avLst/>
          </a:prstGeom>
          <a:noFill/>
        </p:spPr>
        <p:txBody>
          <a:bodyPr wrap="square" anchor="t" lIns="0" rIns="0" tIns="0" bIns="0">
            <a:spAutoFit/>
          </a:bodyPr>
          <a:lstStyle/>
          <a:p>
            <a:pPr algn="r">
              <a:spcAft>
                <a:spcPts val="0"/>
              </a:spcAft>
            </a:pPr>
            <a:r>
              <a:rPr sz="1000" b="1" i="0">
                <a:solidFill>
                  <a:srgbClr val="8A94A6"/>
                </a:solidFill>
                <a:latin typeface="Segoe UI"/>
              </a:rPr>
              <a:t>Solo rollback del mensaje</a:t>
            </a:r>
          </a:p>
        </p:txBody>
      </p:sp>
      <p:sp>
        <p:nvSpPr>
          <p:cNvPr id="9" name="TextBox 8"/>
          <p:cNvSpPr txBox="1"/>
          <p:nvPr/>
        </p:nvSpPr>
        <p:spPr>
          <a:xfrm>
            <a:off x="8686800" y="2103120"/>
            <a:ext cx="2834640" cy="274320"/>
          </a:xfrm>
          <a:prstGeom prst="rect">
            <a:avLst/>
          </a:prstGeom>
          <a:noFill/>
        </p:spPr>
        <p:txBody>
          <a:bodyPr wrap="square" anchor="t" lIns="0" rIns="0" tIns="0" bIns="0">
            <a:spAutoFit/>
          </a:bodyPr>
          <a:lstStyle/>
          <a:p>
            <a:pPr algn="r">
              <a:spcAft>
                <a:spcPts val="0"/>
              </a:spcAft>
            </a:pPr>
            <a:r>
              <a:rPr sz="1000" b="1" i="0">
                <a:solidFill>
                  <a:srgbClr val="8A94A6"/>
                </a:solidFill>
                <a:latin typeface="Segoe UI"/>
              </a:rPr>
              <a:t>Rollback + secuencia 7 toques</a:t>
            </a:r>
          </a:p>
        </p:txBody>
      </p:sp>
      <p:sp>
        <p:nvSpPr>
          <p:cNvPr id="10" name="Rectangle 9"/>
          <p:cNvSpPr/>
          <p:nvPr/>
        </p:nvSpPr>
        <p:spPr>
          <a:xfrm>
            <a:off x="640080" y="2395728"/>
            <a:ext cx="10881360" cy="12700"/>
          </a:xfrm>
          <a:prstGeom prst="rect">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48640" y="2450592"/>
            <a:ext cx="11064240" cy="502920"/>
          </a:xfrm>
          <a:prstGeom prst="roundRect">
            <a:avLst>
              <a:gd name="adj" fmla="val 6000"/>
            </a:avLst>
          </a:prstGeom>
          <a:solidFill>
            <a:srgbClr val="1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2487168"/>
            <a:ext cx="2743200" cy="502920"/>
          </a:xfrm>
          <a:prstGeom prst="rect">
            <a:avLst/>
          </a:prstGeom>
          <a:noFill/>
        </p:spPr>
        <p:txBody>
          <a:bodyPr wrap="square" anchor="ctr" lIns="0" rIns="0" tIns="0" bIns="0">
            <a:spAutoFit/>
          </a:bodyPr>
          <a:lstStyle/>
          <a:p>
            <a:pPr algn="l">
              <a:spcAft>
                <a:spcPts val="0"/>
              </a:spcAft>
            </a:pPr>
            <a:r>
              <a:rPr sz="1400" b="1" i="0">
                <a:solidFill>
                  <a:srgbClr val="F2F5F8"/>
                </a:solidFill>
                <a:latin typeface="Segoe UI"/>
              </a:rPr>
              <a:t>Respuestas</a:t>
            </a:r>
          </a:p>
        </p:txBody>
      </p:sp>
      <p:sp>
        <p:nvSpPr>
          <p:cNvPr id="13" name="TextBox 12"/>
          <p:cNvSpPr txBox="1"/>
          <p:nvPr/>
        </p:nvSpPr>
        <p:spPr>
          <a:xfrm>
            <a:off x="3383280" y="2487168"/>
            <a:ext cx="2560320" cy="502920"/>
          </a:xfrm>
          <a:prstGeom prst="rect">
            <a:avLst/>
          </a:prstGeom>
          <a:noFill/>
        </p:spPr>
        <p:txBody>
          <a:bodyPr wrap="square" anchor="ctr" lIns="0" rIns="0" tIns="0" bIns="0">
            <a:spAutoFit/>
          </a:bodyPr>
          <a:lstStyle/>
          <a:p>
            <a:pPr algn="r">
              <a:spcAft>
                <a:spcPts val="0"/>
              </a:spcAft>
            </a:pPr>
            <a:r>
              <a:rPr sz="1400" b="1" i="0">
                <a:solidFill>
                  <a:srgbClr val="F87171"/>
                </a:solidFill>
                <a:latin typeface="Segoe UI"/>
              </a:rPr>
              <a:t>50</a:t>
            </a:r>
          </a:p>
        </p:txBody>
      </p:sp>
      <p:sp>
        <p:nvSpPr>
          <p:cNvPr id="14" name="TextBox 13"/>
          <p:cNvSpPr txBox="1"/>
          <p:nvPr/>
        </p:nvSpPr>
        <p:spPr>
          <a:xfrm>
            <a:off x="5943600" y="2487168"/>
            <a:ext cx="2743200" cy="502920"/>
          </a:xfrm>
          <a:prstGeom prst="rect">
            <a:avLst/>
          </a:prstGeom>
          <a:noFill/>
        </p:spPr>
        <p:txBody>
          <a:bodyPr wrap="square" anchor="ctr" lIns="0" rIns="0" tIns="0" bIns="0">
            <a:spAutoFit/>
          </a:bodyPr>
          <a:lstStyle/>
          <a:p>
            <a:pPr algn="r">
              <a:spcAft>
                <a:spcPts val="0"/>
              </a:spcAft>
            </a:pPr>
            <a:r>
              <a:rPr sz="1400" b="1" i="0">
                <a:solidFill>
                  <a:srgbClr val="FBBF24"/>
                </a:solidFill>
                <a:latin typeface="Segoe UI"/>
              </a:rPr>
              <a:t>110 - 140</a:t>
            </a:r>
          </a:p>
        </p:txBody>
      </p:sp>
      <p:sp>
        <p:nvSpPr>
          <p:cNvPr id="15" name="TextBox 14"/>
          <p:cNvSpPr txBox="1"/>
          <p:nvPr/>
        </p:nvSpPr>
        <p:spPr>
          <a:xfrm>
            <a:off x="8686800" y="2487168"/>
            <a:ext cx="2834640" cy="502920"/>
          </a:xfrm>
          <a:prstGeom prst="rect">
            <a:avLst/>
          </a:prstGeom>
          <a:noFill/>
        </p:spPr>
        <p:txBody>
          <a:bodyPr wrap="square" anchor="ctr" lIns="0" rIns="0" tIns="0" bIns="0">
            <a:spAutoFit/>
          </a:bodyPr>
          <a:lstStyle/>
          <a:p>
            <a:pPr algn="r">
              <a:spcAft>
                <a:spcPts val="0"/>
              </a:spcAft>
            </a:pPr>
            <a:r>
              <a:rPr sz="1400" b="1" i="0">
                <a:solidFill>
                  <a:srgbClr val="3DD68C"/>
                </a:solidFill>
                <a:latin typeface="Segoe UI"/>
              </a:rPr>
              <a:t>110 - 140</a:t>
            </a:r>
          </a:p>
        </p:txBody>
      </p:sp>
      <p:sp>
        <p:nvSpPr>
          <p:cNvPr id="16" name="TextBox 15"/>
          <p:cNvSpPr txBox="1"/>
          <p:nvPr/>
        </p:nvSpPr>
        <p:spPr>
          <a:xfrm>
            <a:off x="640080" y="2990088"/>
            <a:ext cx="2743200" cy="502920"/>
          </a:xfrm>
          <a:prstGeom prst="rect">
            <a:avLst/>
          </a:prstGeom>
          <a:noFill/>
        </p:spPr>
        <p:txBody>
          <a:bodyPr wrap="square" anchor="ctr" lIns="0" rIns="0" tIns="0" bIns="0">
            <a:spAutoFit/>
          </a:bodyPr>
          <a:lstStyle/>
          <a:p>
            <a:pPr algn="l">
              <a:spcAft>
                <a:spcPts val="0"/>
              </a:spcAft>
            </a:pPr>
            <a:r>
              <a:rPr sz="1400" b="1" i="0">
                <a:solidFill>
                  <a:srgbClr val="F2F5F8"/>
                </a:solidFill>
                <a:latin typeface="Segoe UI"/>
              </a:rPr>
              <a:t>MSG2 enviados</a:t>
            </a:r>
          </a:p>
        </p:txBody>
      </p:sp>
      <p:sp>
        <p:nvSpPr>
          <p:cNvPr id="17" name="TextBox 16"/>
          <p:cNvSpPr txBox="1"/>
          <p:nvPr/>
        </p:nvSpPr>
        <p:spPr>
          <a:xfrm>
            <a:off x="3383280" y="2990088"/>
            <a:ext cx="2560320" cy="502920"/>
          </a:xfrm>
          <a:prstGeom prst="rect">
            <a:avLst/>
          </a:prstGeom>
          <a:noFill/>
        </p:spPr>
        <p:txBody>
          <a:bodyPr wrap="square" anchor="ctr" lIns="0" rIns="0" tIns="0" bIns="0">
            <a:spAutoFit/>
          </a:bodyPr>
          <a:lstStyle/>
          <a:p>
            <a:pPr algn="r">
              <a:spcAft>
                <a:spcPts val="0"/>
              </a:spcAft>
            </a:pPr>
            <a:r>
              <a:rPr sz="1400" b="1" i="0">
                <a:solidFill>
                  <a:srgbClr val="F87171"/>
                </a:solidFill>
                <a:latin typeface="Segoe UI"/>
              </a:rPr>
              <a:t>20</a:t>
            </a:r>
          </a:p>
        </p:txBody>
      </p:sp>
      <p:sp>
        <p:nvSpPr>
          <p:cNvPr id="18" name="TextBox 17"/>
          <p:cNvSpPr txBox="1"/>
          <p:nvPr/>
        </p:nvSpPr>
        <p:spPr>
          <a:xfrm>
            <a:off x="5943600" y="2990088"/>
            <a:ext cx="2743200" cy="502920"/>
          </a:xfrm>
          <a:prstGeom prst="rect">
            <a:avLst/>
          </a:prstGeom>
          <a:noFill/>
        </p:spPr>
        <p:txBody>
          <a:bodyPr wrap="square" anchor="ctr" lIns="0" rIns="0" tIns="0" bIns="0">
            <a:spAutoFit/>
          </a:bodyPr>
          <a:lstStyle/>
          <a:p>
            <a:pPr algn="r">
              <a:spcAft>
                <a:spcPts val="0"/>
              </a:spcAft>
            </a:pPr>
            <a:r>
              <a:rPr sz="1400" b="1" i="0">
                <a:solidFill>
                  <a:srgbClr val="FBBF24"/>
                </a:solidFill>
                <a:latin typeface="Segoe UI"/>
              </a:rPr>
              <a:t>100 - 130</a:t>
            </a:r>
          </a:p>
        </p:txBody>
      </p:sp>
      <p:sp>
        <p:nvSpPr>
          <p:cNvPr id="19" name="TextBox 18"/>
          <p:cNvSpPr txBox="1"/>
          <p:nvPr/>
        </p:nvSpPr>
        <p:spPr>
          <a:xfrm>
            <a:off x="8686800" y="2990088"/>
            <a:ext cx="2834640" cy="502920"/>
          </a:xfrm>
          <a:prstGeom prst="rect">
            <a:avLst/>
          </a:prstGeom>
          <a:noFill/>
        </p:spPr>
        <p:txBody>
          <a:bodyPr wrap="square" anchor="ctr" lIns="0" rIns="0" tIns="0" bIns="0">
            <a:spAutoFit/>
          </a:bodyPr>
          <a:lstStyle/>
          <a:p>
            <a:pPr algn="r">
              <a:spcAft>
                <a:spcPts val="0"/>
              </a:spcAft>
            </a:pPr>
            <a:r>
              <a:rPr sz="1400" b="1" i="0">
                <a:solidFill>
                  <a:srgbClr val="3DD68C"/>
                </a:solidFill>
                <a:latin typeface="Segoe UI"/>
              </a:rPr>
              <a:t>110 - 140</a:t>
            </a:r>
          </a:p>
        </p:txBody>
      </p:sp>
      <p:sp>
        <p:nvSpPr>
          <p:cNvPr id="20" name="Rounded Rectangle 19"/>
          <p:cNvSpPr/>
          <p:nvPr/>
        </p:nvSpPr>
        <p:spPr>
          <a:xfrm>
            <a:off x="548640" y="3456432"/>
            <a:ext cx="11064240" cy="502920"/>
          </a:xfrm>
          <a:prstGeom prst="roundRect">
            <a:avLst>
              <a:gd name="adj" fmla="val 6000"/>
            </a:avLst>
          </a:prstGeom>
          <a:solidFill>
            <a:srgbClr val="1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 y="3493008"/>
            <a:ext cx="2743200" cy="502920"/>
          </a:xfrm>
          <a:prstGeom prst="rect">
            <a:avLst/>
          </a:prstGeom>
          <a:noFill/>
        </p:spPr>
        <p:txBody>
          <a:bodyPr wrap="square" anchor="ctr" lIns="0" rIns="0" tIns="0" bIns="0">
            <a:spAutoFit/>
          </a:bodyPr>
          <a:lstStyle/>
          <a:p>
            <a:pPr algn="l">
              <a:spcAft>
                <a:spcPts val="0"/>
              </a:spcAft>
            </a:pPr>
            <a:r>
              <a:rPr sz="1400" b="1" i="0">
                <a:solidFill>
                  <a:srgbClr val="F2F5F8"/>
                </a:solidFill>
                <a:latin typeface="Segoe UI"/>
              </a:rPr>
              <a:t>Dossiers</a:t>
            </a:r>
          </a:p>
        </p:txBody>
      </p:sp>
      <p:sp>
        <p:nvSpPr>
          <p:cNvPr id="22" name="TextBox 21"/>
          <p:cNvSpPr txBox="1"/>
          <p:nvPr/>
        </p:nvSpPr>
        <p:spPr>
          <a:xfrm>
            <a:off x="3383280" y="3493008"/>
            <a:ext cx="2560320" cy="502920"/>
          </a:xfrm>
          <a:prstGeom prst="rect">
            <a:avLst/>
          </a:prstGeom>
          <a:noFill/>
        </p:spPr>
        <p:txBody>
          <a:bodyPr wrap="square" anchor="ctr" lIns="0" rIns="0" tIns="0" bIns="0">
            <a:spAutoFit/>
          </a:bodyPr>
          <a:lstStyle/>
          <a:p>
            <a:pPr algn="r">
              <a:spcAft>
                <a:spcPts val="0"/>
              </a:spcAft>
            </a:pPr>
            <a:r>
              <a:rPr sz="1400" b="1" i="0">
                <a:solidFill>
                  <a:srgbClr val="F87171"/>
                </a:solidFill>
                <a:latin typeface="Segoe UI"/>
              </a:rPr>
              <a:t>10</a:t>
            </a:r>
          </a:p>
        </p:txBody>
      </p:sp>
      <p:sp>
        <p:nvSpPr>
          <p:cNvPr id="23" name="TextBox 22"/>
          <p:cNvSpPr txBox="1"/>
          <p:nvPr/>
        </p:nvSpPr>
        <p:spPr>
          <a:xfrm>
            <a:off x="5943600" y="3493008"/>
            <a:ext cx="2743200" cy="502920"/>
          </a:xfrm>
          <a:prstGeom prst="rect">
            <a:avLst/>
          </a:prstGeom>
          <a:noFill/>
        </p:spPr>
        <p:txBody>
          <a:bodyPr wrap="square" anchor="ctr" lIns="0" rIns="0" tIns="0" bIns="0">
            <a:spAutoFit/>
          </a:bodyPr>
          <a:lstStyle/>
          <a:p>
            <a:pPr algn="r">
              <a:spcAft>
                <a:spcPts val="0"/>
              </a:spcAft>
            </a:pPr>
            <a:r>
              <a:rPr sz="1400" b="1" i="0">
                <a:solidFill>
                  <a:srgbClr val="FBBF24"/>
                </a:solidFill>
                <a:latin typeface="Segoe UI"/>
              </a:rPr>
              <a:t>30 - 39</a:t>
            </a:r>
          </a:p>
        </p:txBody>
      </p:sp>
      <p:sp>
        <p:nvSpPr>
          <p:cNvPr id="24" name="TextBox 23"/>
          <p:cNvSpPr txBox="1"/>
          <p:nvPr/>
        </p:nvSpPr>
        <p:spPr>
          <a:xfrm>
            <a:off x="8686800" y="3493008"/>
            <a:ext cx="2834640" cy="502920"/>
          </a:xfrm>
          <a:prstGeom prst="rect">
            <a:avLst/>
          </a:prstGeom>
          <a:noFill/>
        </p:spPr>
        <p:txBody>
          <a:bodyPr wrap="square" anchor="ctr" lIns="0" rIns="0" tIns="0" bIns="0">
            <a:spAutoFit/>
          </a:bodyPr>
          <a:lstStyle/>
          <a:p>
            <a:pPr algn="r">
              <a:spcAft>
                <a:spcPts val="0"/>
              </a:spcAft>
            </a:pPr>
            <a:r>
              <a:rPr sz="1400" b="1" i="0">
                <a:solidFill>
                  <a:srgbClr val="3DD68C"/>
                </a:solidFill>
                <a:latin typeface="Segoe UI"/>
              </a:rPr>
              <a:t>35 - 45</a:t>
            </a:r>
          </a:p>
        </p:txBody>
      </p:sp>
      <p:sp>
        <p:nvSpPr>
          <p:cNvPr id="25" name="TextBox 24"/>
          <p:cNvSpPr txBox="1"/>
          <p:nvPr/>
        </p:nvSpPr>
        <p:spPr>
          <a:xfrm>
            <a:off x="640080" y="3995928"/>
            <a:ext cx="2743200" cy="502920"/>
          </a:xfrm>
          <a:prstGeom prst="rect">
            <a:avLst/>
          </a:prstGeom>
          <a:noFill/>
        </p:spPr>
        <p:txBody>
          <a:bodyPr wrap="square" anchor="ctr" lIns="0" rIns="0" tIns="0" bIns="0">
            <a:spAutoFit/>
          </a:bodyPr>
          <a:lstStyle/>
          <a:p>
            <a:pPr algn="l">
              <a:spcAft>
                <a:spcPts val="0"/>
              </a:spcAft>
            </a:pPr>
            <a:r>
              <a:rPr sz="1400" b="1" i="0">
                <a:solidFill>
                  <a:srgbClr val="F2F5F8"/>
                </a:solidFill>
                <a:latin typeface="Segoe UI"/>
              </a:rPr>
              <a:t>Reuniones</a:t>
            </a:r>
          </a:p>
        </p:txBody>
      </p:sp>
      <p:sp>
        <p:nvSpPr>
          <p:cNvPr id="26" name="TextBox 25"/>
          <p:cNvSpPr txBox="1"/>
          <p:nvPr/>
        </p:nvSpPr>
        <p:spPr>
          <a:xfrm>
            <a:off x="3383280" y="3995928"/>
            <a:ext cx="2560320" cy="502920"/>
          </a:xfrm>
          <a:prstGeom prst="rect">
            <a:avLst/>
          </a:prstGeom>
          <a:noFill/>
        </p:spPr>
        <p:txBody>
          <a:bodyPr wrap="square" anchor="ctr" lIns="0" rIns="0" tIns="0" bIns="0">
            <a:spAutoFit/>
          </a:bodyPr>
          <a:lstStyle/>
          <a:p>
            <a:pPr algn="r">
              <a:spcAft>
                <a:spcPts val="0"/>
              </a:spcAft>
            </a:pPr>
            <a:r>
              <a:rPr sz="1400" b="1" i="0">
                <a:solidFill>
                  <a:srgbClr val="F87171"/>
                </a:solidFill>
                <a:latin typeface="Segoe UI"/>
              </a:rPr>
              <a:t>1</a:t>
            </a:r>
          </a:p>
        </p:txBody>
      </p:sp>
      <p:sp>
        <p:nvSpPr>
          <p:cNvPr id="27" name="TextBox 26"/>
          <p:cNvSpPr txBox="1"/>
          <p:nvPr/>
        </p:nvSpPr>
        <p:spPr>
          <a:xfrm>
            <a:off x="5943600" y="3995928"/>
            <a:ext cx="2743200" cy="502920"/>
          </a:xfrm>
          <a:prstGeom prst="rect">
            <a:avLst/>
          </a:prstGeom>
          <a:noFill/>
        </p:spPr>
        <p:txBody>
          <a:bodyPr wrap="square" anchor="ctr" lIns="0" rIns="0" tIns="0" bIns="0">
            <a:spAutoFit/>
          </a:bodyPr>
          <a:lstStyle/>
          <a:p>
            <a:pPr algn="r">
              <a:spcAft>
                <a:spcPts val="0"/>
              </a:spcAft>
            </a:pPr>
            <a:r>
              <a:rPr sz="1400" b="1" i="0">
                <a:solidFill>
                  <a:srgbClr val="FBBF24"/>
                </a:solidFill>
                <a:latin typeface="Segoe UI"/>
              </a:rPr>
              <a:t>2 - 3</a:t>
            </a:r>
          </a:p>
        </p:txBody>
      </p:sp>
      <p:sp>
        <p:nvSpPr>
          <p:cNvPr id="28" name="TextBox 27"/>
          <p:cNvSpPr txBox="1"/>
          <p:nvPr/>
        </p:nvSpPr>
        <p:spPr>
          <a:xfrm>
            <a:off x="8686800" y="3995928"/>
            <a:ext cx="2834640" cy="502920"/>
          </a:xfrm>
          <a:prstGeom prst="rect">
            <a:avLst/>
          </a:prstGeom>
          <a:noFill/>
        </p:spPr>
        <p:txBody>
          <a:bodyPr wrap="square" anchor="ctr" lIns="0" rIns="0" tIns="0" bIns="0">
            <a:spAutoFit/>
          </a:bodyPr>
          <a:lstStyle/>
          <a:p>
            <a:pPr algn="r">
              <a:spcAft>
                <a:spcPts val="0"/>
              </a:spcAft>
            </a:pPr>
            <a:r>
              <a:rPr sz="1400" b="1" i="0">
                <a:solidFill>
                  <a:srgbClr val="3DD68C"/>
                </a:solidFill>
                <a:latin typeface="Segoe UI"/>
              </a:rPr>
              <a:t>8 - 12</a:t>
            </a:r>
          </a:p>
        </p:txBody>
      </p:sp>
      <p:sp>
        <p:nvSpPr>
          <p:cNvPr id="29" name="Rounded Rectangle 28"/>
          <p:cNvSpPr/>
          <p:nvPr/>
        </p:nvSpPr>
        <p:spPr>
          <a:xfrm>
            <a:off x="640080" y="4343400"/>
            <a:ext cx="5303520" cy="1234440"/>
          </a:xfrm>
          <a:prstGeom prst="roundRect">
            <a:avLst>
              <a:gd name="adj" fmla="val 6000"/>
            </a:avLst>
          </a:prstGeom>
          <a:solidFill>
            <a:srgbClr val="181D25"/>
          </a:solidFill>
          <a:ln w="1524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68680" y="4498848"/>
            <a:ext cx="4846320" cy="1005840"/>
          </a:xfrm>
          <a:prstGeom prst="rect">
            <a:avLst/>
          </a:prstGeom>
          <a:noFill/>
        </p:spPr>
        <p:txBody>
          <a:bodyPr wrap="square" anchor="t" lIns="0" rIns="0" tIns="0" bIns="0">
            <a:spAutoFit/>
          </a:bodyPr>
          <a:lstStyle/>
          <a:p>
            <a:pPr algn="l">
              <a:lnSpc>
                <a:spcPct val="135000"/>
              </a:lnSpc>
              <a:spcAft>
                <a:spcPts val="0"/>
              </a:spcAft>
            </a:pPr>
            <a:r>
              <a:rPr sz="1250" b="0" i="0">
                <a:solidFill>
                  <a:srgbClr val="F2F5F8"/>
                </a:solidFill>
                <a:latin typeface="Segoe UI"/>
              </a:rPr>
              <a:t>Arreglar solo el mensaje recupera el volumen de</a:t>
            </a:r>
          </a:p>
          <a:p>
            <a:pPr algn="l">
              <a:lnSpc>
                <a:spcPct val="135000"/>
              </a:lnSpc>
              <a:spcAft>
                <a:spcPts val="0"/>
              </a:spcAft>
            </a:pPr>
            <a:r>
              <a:rPr sz="1250" b="0" i="0">
                <a:solidFill>
                  <a:srgbClr val="F2F5F8"/>
                </a:solidFill>
                <a:latin typeface="Segoe UI"/>
              </a:rPr>
              <a:t>conversaciones, pero casi no mueve las reuniones.</a:t>
            </a:r>
          </a:p>
          <a:p>
            <a:pPr algn="l">
              <a:lnSpc>
                <a:spcPct val="135000"/>
              </a:lnSpc>
              <a:spcAft>
                <a:spcPts val="0"/>
              </a:spcAft>
            </a:pPr>
            <a:r>
              <a:rPr sz="1250" b="0" i="0">
                <a:solidFill>
                  <a:srgbClr val="F2F5F8"/>
                </a:solidFill>
                <a:latin typeface="Segoe UI"/>
              </a:rPr>
              <a:t/>
            </a:r>
          </a:p>
          <a:p>
            <a:pPr algn="l">
              <a:lnSpc>
                <a:spcPct val="135000"/>
              </a:lnSpc>
              <a:spcAft>
                <a:spcPts val="0"/>
              </a:spcAft>
            </a:pPr>
            <a:r>
              <a:rPr sz="1250" b="0" i="0">
                <a:solidFill>
                  <a:srgbClr val="F2F5F8"/>
                </a:solidFill>
                <a:latin typeface="Segoe UI"/>
              </a:rPr>
              <a:t>El mensaje abre la puerta. No la cruza.</a:t>
            </a:r>
          </a:p>
        </p:txBody>
      </p:sp>
      <p:sp>
        <p:nvSpPr>
          <p:cNvPr id="31" name="Rounded Rectangle 30"/>
          <p:cNvSpPr/>
          <p:nvPr/>
        </p:nvSpPr>
        <p:spPr>
          <a:xfrm>
            <a:off x="6217920" y="4343400"/>
            <a:ext cx="5303520" cy="1234440"/>
          </a:xfrm>
          <a:prstGeom prst="roundRect">
            <a:avLst>
              <a:gd name="adj" fmla="val 6000"/>
            </a:avLst>
          </a:prstGeom>
          <a:solidFill>
            <a:srgbClr val="181D25"/>
          </a:solidFill>
          <a:ln w="15240">
            <a:solidFill>
              <a:srgbClr val="3DD6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46520" y="4498848"/>
            <a:ext cx="4846320" cy="1005840"/>
          </a:xfrm>
          <a:prstGeom prst="rect">
            <a:avLst/>
          </a:prstGeom>
          <a:noFill/>
        </p:spPr>
        <p:txBody>
          <a:bodyPr wrap="square" anchor="t" lIns="0" rIns="0" tIns="0" bIns="0">
            <a:spAutoFit/>
          </a:bodyPr>
          <a:lstStyle/>
          <a:p>
            <a:pPr algn="l">
              <a:lnSpc>
                <a:spcPct val="135000"/>
              </a:lnSpc>
              <a:spcAft>
                <a:spcPts val="0"/>
              </a:spcAft>
            </a:pPr>
            <a:r>
              <a:rPr sz="1250" b="0" i="0">
                <a:solidFill>
                  <a:srgbClr val="F2F5F8"/>
                </a:solidFill>
                <a:latin typeface="Segoe UI"/>
              </a:rPr>
              <a:t>La secuencia de 7 toques es lo que multiplica</a:t>
            </a:r>
          </a:p>
          <a:p>
            <a:pPr algn="l">
              <a:lnSpc>
                <a:spcPct val="135000"/>
              </a:lnSpc>
              <a:spcAft>
                <a:spcPts val="0"/>
              </a:spcAft>
            </a:pPr>
            <a:r>
              <a:rPr sz="1250" b="0" i="0">
                <a:solidFill>
                  <a:srgbClr val="F2F5F8"/>
                </a:solidFill>
                <a:latin typeface="Segoe UI"/>
              </a:rPr>
              <a:t>las reuniones por 8-12.</a:t>
            </a:r>
          </a:p>
          <a:p>
            <a:pPr algn="l">
              <a:lnSpc>
                <a:spcPct val="135000"/>
              </a:lnSpc>
              <a:spcAft>
                <a:spcPts val="0"/>
              </a:spcAft>
            </a:pPr>
            <a:r>
              <a:rPr sz="1250" b="0" i="0">
                <a:solidFill>
                  <a:srgbClr val="F2F5F8"/>
                </a:solidFill>
                <a:latin typeface="Segoe UI"/>
              </a:rPr>
              <a:t/>
            </a:r>
          </a:p>
          <a:p>
            <a:pPr algn="l">
              <a:lnSpc>
                <a:spcPct val="135000"/>
              </a:lnSpc>
              <a:spcAft>
                <a:spcPts val="0"/>
              </a:spcAft>
            </a:pPr>
            <a:r>
              <a:rPr sz="1250" b="0" i="0">
                <a:solidFill>
                  <a:srgbClr val="F2F5F8"/>
                </a:solidFill>
                <a:latin typeface="Segoe UI"/>
              </a:rPr>
              <a:t>Es la unica correccion que toca el numero que importa.</a:t>
            </a:r>
          </a:p>
        </p:txBody>
      </p:sp>
      <p:sp>
        <p:nvSpPr>
          <p:cNvPr id="33" name="Rounded Rectangle 32"/>
          <p:cNvSpPr/>
          <p:nvPr/>
        </p:nvSpPr>
        <p:spPr>
          <a:xfrm>
            <a:off x="640080" y="5760720"/>
            <a:ext cx="10881360" cy="566928"/>
          </a:xfrm>
          <a:prstGeom prst="roundRect">
            <a:avLst>
              <a:gd name="adj" fmla="val 6000"/>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68680" y="5870448"/>
            <a:ext cx="10424160" cy="365760"/>
          </a:xfrm>
          <a:prstGeom prst="rect">
            <a:avLst/>
          </a:prstGeom>
          <a:noFill/>
        </p:spPr>
        <p:txBody>
          <a:bodyPr wrap="square" anchor="t" lIns="0" rIns="0" tIns="0" bIns="0">
            <a:spAutoFit/>
          </a:bodyPr>
          <a:lstStyle/>
          <a:p>
            <a:pPr algn="l">
              <a:spcAft>
                <a:spcPts val="0"/>
              </a:spcAft>
            </a:pPr>
            <a:r>
              <a:rPr sz="1100" b="0" i="0">
                <a:solidFill>
                  <a:srgbClr val="8A94A6"/>
                </a:solidFill>
                <a:latin typeface="Segoe UI"/>
              </a:rPr>
              <a:t>Base de calculo: tasas historicas propias (junio-julio) para el mensaje, y benchmark de mercado 1:1 ABM (4-8%) para la secuencia completa.</a:t>
            </a:r>
          </a:p>
        </p:txBody>
      </p:sp>
      <p:sp>
        <p:nvSpPr>
          <p:cNvPr id="35" name="TextBox 34"/>
          <p:cNvSpPr txBox="1"/>
          <p:nvPr/>
        </p:nvSpPr>
        <p:spPr>
          <a:xfrm>
            <a:off x="640080" y="6355080"/>
            <a:ext cx="8229600" cy="274320"/>
          </a:xfrm>
          <a:prstGeom prst="rect">
            <a:avLst/>
          </a:prstGeom>
          <a:noFill/>
        </p:spPr>
        <p:txBody>
          <a:bodyPr wrap="square" anchor="t" lIns="0" rIns="0" tIns="0" bIns="0">
            <a:spAutoFit/>
          </a:bodyPr>
          <a:lstStyle/>
          <a:p>
            <a:pPr algn="l">
              <a:spcAft>
                <a:spcPts val="0"/>
              </a:spcAft>
            </a:pPr>
            <a:r>
              <a:rPr sz="900" b="0" i="0">
                <a:solidFill>
                  <a:srgbClr val="8A94A6"/>
                </a:solidFill>
                <a:latin typeface="Segoe UI"/>
              </a:rPr>
              <a:t>Hint Media · Plan de accion</a:t>
            </a:r>
          </a:p>
        </p:txBody>
      </p:sp>
      <p:sp>
        <p:nvSpPr>
          <p:cNvPr id="36" name="TextBox 35"/>
          <p:cNvSpPr txBox="1"/>
          <p:nvPr/>
        </p:nvSpPr>
        <p:spPr>
          <a:xfrm>
            <a:off x="10972800" y="6355080"/>
            <a:ext cx="576072" cy="274320"/>
          </a:xfrm>
          <a:prstGeom prst="rect">
            <a:avLst/>
          </a:prstGeom>
          <a:noFill/>
        </p:spPr>
        <p:txBody>
          <a:bodyPr wrap="square" anchor="t" lIns="0" rIns="0" tIns="0" bIns="0">
            <a:spAutoFit/>
          </a:bodyPr>
          <a:lstStyle/>
          <a:p>
            <a:pPr algn="r">
              <a:spcAft>
                <a:spcPts val="0"/>
              </a:spcAft>
            </a:pPr>
            <a:r>
              <a:rPr sz="900" b="0" i="0">
                <a:solidFill>
                  <a:srgbClr val="8A94A6"/>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188720"/>
            <a:ext cx="7315200" cy="274320"/>
          </a:xfrm>
          <a:prstGeom prst="rect">
            <a:avLst/>
          </a:prstGeom>
          <a:noFill/>
        </p:spPr>
        <p:txBody>
          <a:bodyPr wrap="square" anchor="t" lIns="0" rIns="0" tIns="0" bIns="0">
            <a:spAutoFit/>
          </a:bodyPr>
          <a:lstStyle/>
          <a:p>
            <a:pPr algn="l">
              <a:spcAft>
                <a:spcPts val="0"/>
              </a:spcAft>
            </a:pPr>
            <a:r>
              <a:rPr sz="1200" b="1" i="0">
                <a:solidFill>
                  <a:srgbClr val="E8B45B"/>
                </a:solidFill>
                <a:latin typeface="Segoe UI"/>
              </a:rPr>
              <a:t>SI SOLO SE HACEN TRES COSAS</a:t>
            </a:r>
          </a:p>
        </p:txBody>
      </p:sp>
      <p:sp>
        <p:nvSpPr>
          <p:cNvPr id="4" name="TextBox 3"/>
          <p:cNvSpPr txBox="1"/>
          <p:nvPr/>
        </p:nvSpPr>
        <p:spPr>
          <a:xfrm>
            <a:off x="822960" y="1645920"/>
            <a:ext cx="10058400" cy="731520"/>
          </a:xfrm>
          <a:prstGeom prst="rect">
            <a:avLst/>
          </a:prstGeom>
          <a:noFill/>
        </p:spPr>
        <p:txBody>
          <a:bodyPr wrap="square" anchor="t" lIns="0" rIns="0" tIns="0" bIns="0">
            <a:spAutoFit/>
          </a:bodyPr>
          <a:lstStyle/>
          <a:p>
            <a:pPr algn="l">
              <a:spcAft>
                <a:spcPts val="0"/>
              </a:spcAft>
            </a:pPr>
            <a:r>
              <a:rPr sz="4200" b="1" i="0">
                <a:solidFill>
                  <a:srgbClr val="F2F5F8"/>
                </a:solidFill>
                <a:latin typeface="Segoe UI"/>
              </a:rPr>
              <a:t>Las tres que importan</a:t>
            </a:r>
          </a:p>
        </p:txBody>
      </p:sp>
      <p:sp>
        <p:nvSpPr>
          <p:cNvPr id="5" name="Rounded Rectangle 4"/>
          <p:cNvSpPr/>
          <p:nvPr/>
        </p:nvSpPr>
        <p:spPr>
          <a:xfrm>
            <a:off x="822960" y="2743200"/>
            <a:ext cx="658368" cy="658368"/>
          </a:xfrm>
          <a:prstGeom prst="roundRect">
            <a:avLst>
              <a:gd name="adj" fmla="val 6000"/>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2852928"/>
            <a:ext cx="658368" cy="457200"/>
          </a:xfrm>
          <a:prstGeom prst="rect">
            <a:avLst/>
          </a:prstGeom>
          <a:noFill/>
        </p:spPr>
        <p:txBody>
          <a:bodyPr wrap="square" anchor="t" lIns="0" rIns="0" tIns="0" bIns="0">
            <a:spAutoFit/>
          </a:bodyPr>
          <a:lstStyle/>
          <a:p>
            <a:pPr algn="ctr">
              <a:spcAft>
                <a:spcPts val="0"/>
              </a:spcAft>
            </a:pPr>
            <a:r>
              <a:rPr sz="2600" b="1" i="0">
                <a:solidFill>
                  <a:srgbClr val="0E1116"/>
                </a:solidFill>
                <a:latin typeface="Segoe UI"/>
              </a:rPr>
              <a:t>1</a:t>
            </a:r>
          </a:p>
        </p:txBody>
      </p:sp>
      <p:sp>
        <p:nvSpPr>
          <p:cNvPr id="7" name="TextBox 6"/>
          <p:cNvSpPr txBox="1"/>
          <p:nvPr/>
        </p:nvSpPr>
        <p:spPr>
          <a:xfrm>
            <a:off x="1691640" y="2761488"/>
            <a:ext cx="9601200" cy="365760"/>
          </a:xfrm>
          <a:prstGeom prst="rect">
            <a:avLst/>
          </a:prstGeom>
          <a:noFill/>
        </p:spPr>
        <p:txBody>
          <a:bodyPr wrap="square" anchor="t" lIns="0" rIns="0" tIns="0" bIns="0">
            <a:spAutoFit/>
          </a:bodyPr>
          <a:lstStyle/>
          <a:p>
            <a:pPr algn="l">
              <a:spcAft>
                <a:spcPts val="0"/>
              </a:spcAft>
            </a:pPr>
            <a:r>
              <a:rPr sz="1900" b="1" i="0">
                <a:solidFill>
                  <a:srgbClr val="F2F5F8"/>
                </a:solidFill>
                <a:latin typeface="Segoe UI"/>
              </a:rPr>
              <a:t>Devolver el MSG1 a como era en junio</a:t>
            </a:r>
          </a:p>
        </p:txBody>
      </p:sp>
      <p:sp>
        <p:nvSpPr>
          <p:cNvPr id="8" name="TextBox 7"/>
          <p:cNvSpPr txBox="1"/>
          <p:nvPr/>
        </p:nvSpPr>
        <p:spPr>
          <a:xfrm>
            <a:off x="1691640" y="3127248"/>
            <a:ext cx="9601200" cy="365760"/>
          </a:xfrm>
          <a:prstGeom prst="rect">
            <a:avLst/>
          </a:prstGeom>
          <a:noFill/>
        </p:spPr>
        <p:txBody>
          <a:bodyPr wrap="square" anchor="t" lIns="0" rIns="0" tIns="0" bIns="0">
            <a:spAutoFit/>
          </a:bodyPr>
          <a:lstStyle/>
          <a:p>
            <a:pPr algn="l">
              <a:spcAft>
                <a:spcPts val="0"/>
              </a:spcAft>
            </a:pPr>
            <a:r>
              <a:rPr sz="1250" b="0" i="0">
                <a:solidFill>
                  <a:srgbClr val="8A94A6"/>
                </a:solidFill>
                <a:latin typeface="Segoe UI"/>
              </a:rPr>
              <a:t>CTA "tenia una consulta", sin Hint, 60 palabras. Es gratis y vale 3,6x en respuesta.</a:t>
            </a:r>
          </a:p>
        </p:txBody>
      </p:sp>
      <p:sp>
        <p:nvSpPr>
          <p:cNvPr id="9" name="Rounded Rectangle 8"/>
          <p:cNvSpPr/>
          <p:nvPr/>
        </p:nvSpPr>
        <p:spPr>
          <a:xfrm>
            <a:off x="822960" y="3794760"/>
            <a:ext cx="658368" cy="658368"/>
          </a:xfrm>
          <a:prstGeom prst="roundRect">
            <a:avLst>
              <a:gd name="adj" fmla="val 6000"/>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3904488"/>
            <a:ext cx="658368" cy="457200"/>
          </a:xfrm>
          <a:prstGeom prst="rect">
            <a:avLst/>
          </a:prstGeom>
          <a:noFill/>
        </p:spPr>
        <p:txBody>
          <a:bodyPr wrap="square" anchor="t" lIns="0" rIns="0" tIns="0" bIns="0">
            <a:spAutoFit/>
          </a:bodyPr>
          <a:lstStyle/>
          <a:p>
            <a:pPr algn="ctr">
              <a:spcAft>
                <a:spcPts val="0"/>
              </a:spcAft>
            </a:pPr>
            <a:r>
              <a:rPr sz="2600" b="1" i="0">
                <a:solidFill>
                  <a:srgbClr val="0E1116"/>
                </a:solidFill>
                <a:latin typeface="Segoe UI"/>
              </a:rPr>
              <a:t>2</a:t>
            </a:r>
          </a:p>
        </p:txBody>
      </p:sp>
      <p:sp>
        <p:nvSpPr>
          <p:cNvPr id="11" name="TextBox 10"/>
          <p:cNvSpPr txBox="1"/>
          <p:nvPr/>
        </p:nvSpPr>
        <p:spPr>
          <a:xfrm>
            <a:off x="1691640" y="3813048"/>
            <a:ext cx="9601200" cy="365760"/>
          </a:xfrm>
          <a:prstGeom prst="rect">
            <a:avLst/>
          </a:prstGeom>
          <a:noFill/>
        </p:spPr>
        <p:txBody>
          <a:bodyPr wrap="square" anchor="t" lIns="0" rIns="0" tIns="0" bIns="0">
            <a:spAutoFit/>
          </a:bodyPr>
          <a:lstStyle/>
          <a:p>
            <a:pPr algn="l">
              <a:spcAft>
                <a:spcPts val="0"/>
              </a:spcAft>
            </a:pPr>
            <a:r>
              <a:rPr sz="1900" b="1" i="0">
                <a:solidFill>
                  <a:srgbClr val="F2F5F8"/>
                </a:solidFill>
                <a:latin typeface="Segoe UI"/>
              </a:rPr>
              <a:t>Nadie sale del sistema con un solo toque</a:t>
            </a:r>
          </a:p>
        </p:txBody>
      </p:sp>
      <p:sp>
        <p:nvSpPr>
          <p:cNvPr id="12" name="TextBox 11"/>
          <p:cNvSpPr txBox="1"/>
          <p:nvPr/>
        </p:nvSpPr>
        <p:spPr>
          <a:xfrm>
            <a:off x="1691640" y="4178808"/>
            <a:ext cx="9601200" cy="365760"/>
          </a:xfrm>
          <a:prstGeom prst="rect">
            <a:avLst/>
          </a:prstGeom>
          <a:noFill/>
        </p:spPr>
        <p:txBody>
          <a:bodyPr wrap="square" anchor="t" lIns="0" rIns="0" tIns="0" bIns="0">
            <a:spAutoFit/>
          </a:bodyPr>
          <a:lstStyle/>
          <a:p>
            <a:pPr algn="l">
              <a:spcAft>
                <a:spcPts val="0"/>
              </a:spcAft>
            </a:pPr>
            <a:r>
              <a:rPr sz="1250" b="0" i="0">
                <a:solidFill>
                  <a:srgbClr val="8A94A6"/>
                </a:solidFill>
                <a:latin typeface="Segoe UI"/>
              </a:rPr>
              <a:t>Siete toques o una negativa explicita. Es lo unico que convierte conversaciones en reuniones.</a:t>
            </a:r>
          </a:p>
        </p:txBody>
      </p:sp>
      <p:sp>
        <p:nvSpPr>
          <p:cNvPr id="13" name="Rounded Rectangle 12"/>
          <p:cNvSpPr/>
          <p:nvPr/>
        </p:nvSpPr>
        <p:spPr>
          <a:xfrm>
            <a:off x="822960" y="4846320"/>
            <a:ext cx="658368" cy="658368"/>
          </a:xfrm>
          <a:prstGeom prst="roundRect">
            <a:avLst>
              <a:gd name="adj" fmla="val 6000"/>
            </a:avLst>
          </a:prstGeom>
          <a:solidFill>
            <a:srgbClr val="E8B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60" y="4956048"/>
            <a:ext cx="658368" cy="457200"/>
          </a:xfrm>
          <a:prstGeom prst="rect">
            <a:avLst/>
          </a:prstGeom>
          <a:noFill/>
        </p:spPr>
        <p:txBody>
          <a:bodyPr wrap="square" anchor="t" lIns="0" rIns="0" tIns="0" bIns="0">
            <a:spAutoFit/>
          </a:bodyPr>
          <a:lstStyle/>
          <a:p>
            <a:pPr algn="ctr">
              <a:spcAft>
                <a:spcPts val="0"/>
              </a:spcAft>
            </a:pPr>
            <a:r>
              <a:rPr sz="2600" b="1" i="0">
                <a:solidFill>
                  <a:srgbClr val="0E1116"/>
                </a:solidFill>
                <a:latin typeface="Segoe UI"/>
              </a:rPr>
              <a:t>3</a:t>
            </a:r>
          </a:p>
        </p:txBody>
      </p:sp>
      <p:sp>
        <p:nvSpPr>
          <p:cNvPr id="15" name="TextBox 14"/>
          <p:cNvSpPr txBox="1"/>
          <p:nvPr/>
        </p:nvSpPr>
        <p:spPr>
          <a:xfrm>
            <a:off x="1691640" y="4864608"/>
            <a:ext cx="9601200" cy="365760"/>
          </a:xfrm>
          <a:prstGeom prst="rect">
            <a:avLst/>
          </a:prstGeom>
          <a:noFill/>
        </p:spPr>
        <p:txBody>
          <a:bodyPr wrap="square" anchor="t" lIns="0" rIns="0" tIns="0" bIns="0">
            <a:spAutoFit/>
          </a:bodyPr>
          <a:lstStyle/>
          <a:p>
            <a:pPr algn="l">
              <a:spcAft>
                <a:spcPts val="0"/>
              </a:spcAft>
            </a:pPr>
            <a:r>
              <a:rPr sz="1900" b="1" i="0">
                <a:solidFill>
                  <a:srgbClr val="F2F5F8"/>
                </a:solidFill>
                <a:latin typeface="Segoe UI"/>
              </a:rPr>
              <a:t>Trabajar los 179 leads tibios antes de buscar uno nuevo</a:t>
            </a:r>
          </a:p>
        </p:txBody>
      </p:sp>
      <p:sp>
        <p:nvSpPr>
          <p:cNvPr id="16" name="TextBox 15"/>
          <p:cNvSpPr txBox="1"/>
          <p:nvPr/>
        </p:nvSpPr>
        <p:spPr>
          <a:xfrm>
            <a:off x="1691640" y="5230368"/>
            <a:ext cx="9601200" cy="365760"/>
          </a:xfrm>
          <a:prstGeom prst="rect">
            <a:avLst/>
          </a:prstGeom>
          <a:noFill/>
        </p:spPr>
        <p:txBody>
          <a:bodyPr wrap="square" anchor="t" lIns="0" rIns="0" tIns="0" bIns="0">
            <a:spAutoFit/>
          </a:bodyPr>
          <a:lstStyle/>
          <a:p>
            <a:pPr algn="l">
              <a:spcAft>
                <a:spcPts val="0"/>
              </a:spcAft>
            </a:pPr>
            <a:r>
              <a:rPr sz="1250" b="0" i="0">
                <a:solidFill>
                  <a:srgbClr val="8A94A6"/>
                </a:solidFill>
                <a:latin typeface="Segoe UI"/>
              </a:rPr>
              <a:t>97 respondieron sin seguimiento y 82 tienen dossier sin follow-up. Ese stock ya esta pago.</a:t>
            </a:r>
          </a:p>
        </p:txBody>
      </p:sp>
      <p:sp>
        <p:nvSpPr>
          <p:cNvPr id="17" name="Rectangle 16"/>
          <p:cNvSpPr/>
          <p:nvPr/>
        </p:nvSpPr>
        <p:spPr>
          <a:xfrm>
            <a:off x="822960" y="5943600"/>
            <a:ext cx="10515600" cy="31750"/>
          </a:xfrm>
          <a:prstGeom prst="rect">
            <a:avLst/>
          </a:prstGeom>
          <a:solidFill>
            <a:srgbClr val="22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6172200"/>
            <a:ext cx="10058400" cy="365760"/>
          </a:xfrm>
          <a:prstGeom prst="rect">
            <a:avLst/>
          </a:prstGeom>
          <a:noFill/>
        </p:spPr>
        <p:txBody>
          <a:bodyPr wrap="square" anchor="t" lIns="0" rIns="0" tIns="0" bIns="0">
            <a:spAutoFit/>
          </a:bodyPr>
          <a:lstStyle/>
          <a:p>
            <a:pPr algn="l">
              <a:spcAft>
                <a:spcPts val="0"/>
              </a:spcAft>
            </a:pPr>
            <a:r>
              <a:rPr sz="1100" b="0" i="0">
                <a:solidFill>
                  <a:srgbClr val="8A94A6"/>
                </a:solidFill>
                <a:latin typeface="Segoe UI"/>
              </a:rPr>
              <a:t>Hint Media  ·  LinkedIn Outreach  ·  Septiembre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