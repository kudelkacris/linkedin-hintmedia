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9DF9"/>
                </a:solidFill>
                <a:latin typeface="Segoe UI"/>
              </a:rPr>
              <a:t>HINT MEDIA  ·  LINKEDIN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2F5F8"/>
                </a:solidFill>
                <a:latin typeface="Segoe UI"/>
              </a:rPr>
              <a:t>Informe Septiembre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A94A6"/>
                </a:solidFill>
                <a:latin typeface="Segoe UI"/>
              </a:rPr>
              <a:t>Analisis del mes y comparativa de la evolucion junio - julio - agosto - septiembre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137160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F5F8"/>
                </a:solidFill>
                <a:latin typeface="Segoe UI"/>
              </a:rPr>
              <a:t>1.102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conversaciones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analizadas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389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F5F8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9834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meses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comparados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389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F5F8"/>
                </a:solidFill>
                <a:latin typeface="Segoe UI"/>
              </a:rPr>
              <a:t>108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9834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dossiers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enviados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38912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2F5F8"/>
                </a:solidFill>
                <a:latin typeface="Segoe U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9834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reuniones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conseguidas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4A6"/>
                </a:solidFill>
                <a:latin typeface="Segoe UI"/>
              </a:rPr>
              <a:t>20 de septiembre de 2026  ·  Fuente: conversaciones/*.md + historial.json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RESUMEN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Septiembre fue el peor mes del proyecto. Y sabemos por 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2203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7171"/>
                </a:solidFill>
                <a:latin typeface="Segoe UI"/>
              </a:rPr>
              <a:t>15,9%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968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Tasa de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junio fue 75,6%  ▼ -59,7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0168" y="1975104"/>
            <a:ext cx="2203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7171"/>
                </a:solidFill>
                <a:latin typeface="Segoe UI"/>
              </a:rPr>
              <a:t>3,2%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5968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Tasa de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834640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junio fue 15,7%  ▼ -12,5 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2203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87171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968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SEG1 enviados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34640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en junio fueron 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08008" y="1975104"/>
            <a:ext cx="2203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BBF24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596896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Reunion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834640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sobre 315 contactos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29000"/>
            <a:ext cx="10972800" cy="10515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F2F5F8"/>
                </a:solidFill>
                <a:latin typeface="Segoe UI"/>
              </a:rPr>
              <a:t>La causa no es el mercado ni la lista. Es un cambio de metodologia que se hizo el 20/08/26: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F2F5F8"/>
                </a:solidFill>
                <a:latin typeface="Segoe UI"/>
              </a:rPr>
              <a:t>el MSG1 paso a mencionar Hint Media y a cerrar con "Vale la pena que te cuente..." en vez de "tenia una consulta".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91456"/>
            <a:ext cx="91440" cy="91440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4709160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El CTA se rompio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56048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"Tenia una consulta" convierte 57,3%. "Vale la pena que te cuente" convierte 15,9%.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13248"/>
            <a:ext cx="91440" cy="91440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5330952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Hint entro al primer mensaje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577840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Con Hint en el MSG1: 16,0% de respuesta. Sin Hint: 59,1%.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791456"/>
            <a:ext cx="91440" cy="91440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65392" y="4709160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El seguimiento desaparecio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956048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93,7% de los contactos de septiembre recibieron un solo mensaje. Cero SEG1.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413248"/>
            <a:ext cx="91440" cy="91440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65392" y="5330952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Se quemaron 34 respuestas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577840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68% de quienes contestaron en septiembre nunca recibieron un MSG2.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Evolucion mes a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Los cuatro meses del proyecto, mismos criterios de medicion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Contactos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Respuestas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Tasa resp.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MSG2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Dossiers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Tasa doss.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SEG1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20574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Reuniones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48640" y="2404872"/>
            <a:ext cx="11064240" cy="420624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441448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75,6%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15,7%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441448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62072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44,5%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12,4%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2862072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246120"/>
            <a:ext cx="11064240" cy="420624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3282696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25,9%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10,8%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3282696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70332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315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15,9%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3,2%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3703320"/>
            <a:ext cx="1143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480560"/>
            <a:ext cx="10972800" cy="86868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4400" y="46451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F2F5F8"/>
                </a:solidFill>
                <a:latin typeface="Segoe UI"/>
              </a:rPr>
              <a:t>El volumen casi se duplico (172 → 315 contactos) mientras la conversion se dividio por cinco.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F2F5F8"/>
                </a:solidFill>
                <a:latin typeface="Segoe UI"/>
              </a:rPr>
              <a:t>Mas contactos no compenso peor mensaje: en valor absoluto pasamos de 27 dossiers a 10.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Nota de metodo: la cohorte de septiembre con 15+ dias de maduracion rinde 28,6% de respuesta, no 15,9%. Aun corrigiendo ese sesgo, la caida frente a junio (75,6%) y julio (44,5%) es real.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La curva de la caida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Tasa de respuesta y tasa de dossier por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RESPUESTA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33172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011680" y="2331720"/>
            <a:ext cx="2765145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47488" y="231343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75.6%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916936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011680" y="2916936"/>
            <a:ext cx="1627632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47488" y="289864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44.5%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838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502152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011680" y="3502152"/>
            <a:ext cx="947318" cy="38404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47488" y="3483864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25.9%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087368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011680" y="4087368"/>
            <a:ext cx="581558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47488" y="406908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15.9%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DOSSIER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1343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233172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2552192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808208" y="231343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15.7%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9864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916936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772400" y="2916936"/>
            <a:ext cx="2015744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808208" y="289864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838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502152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772400" y="3502152"/>
            <a:ext cx="1755648" cy="38404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808208" y="3483864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10.8%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087368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772400" y="4087368"/>
            <a:ext cx="520192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808208" y="406908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3.2%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92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A94A6"/>
                </a:solidFill>
                <a:latin typeface="Segoe UI"/>
              </a:rPr>
              <a:t>CONTACTOS NUEVOS POR 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39512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5257800"/>
            <a:ext cx="2926080" cy="20116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011680" y="5257800"/>
            <a:ext cx="1437959" cy="201168"/>
          </a:xfrm>
          <a:prstGeom prst="roundRect">
            <a:avLst>
              <a:gd name="adj" fmla="val 6000"/>
            </a:avLst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47488" y="523951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A94A6"/>
                </a:solidFill>
                <a:latin typeface="Segoe UI"/>
              </a:rPr>
              <a:t>172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504688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11680" y="5522976"/>
            <a:ext cx="2926080" cy="20116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2011680" y="5522976"/>
            <a:ext cx="2365944" cy="201168"/>
          </a:xfrm>
          <a:prstGeom prst="roundRect">
            <a:avLst>
              <a:gd name="adj" fmla="val 6000"/>
            </a:avLst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047488" y="5504688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8A94A6"/>
                </a:solidFill>
                <a:latin typeface="Segoe UI"/>
              </a:rPr>
              <a:t>283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76986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5788152"/>
            <a:ext cx="2926080" cy="20116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2011680" y="5788152"/>
            <a:ext cx="2775595" cy="201168"/>
          </a:xfrm>
          <a:prstGeom prst="roundRect">
            <a:avLst>
              <a:gd name="adj" fmla="val 6000"/>
            </a:avLst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47488" y="5769864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5B9DF9"/>
                </a:solidFill>
                <a:latin typeface="Segoe UI"/>
              </a:rPr>
              <a:t>332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035040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11680" y="6053328"/>
            <a:ext cx="2926080" cy="20116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2011680" y="6053328"/>
            <a:ext cx="2633472" cy="201168"/>
          </a:xfrm>
          <a:prstGeom prst="roundRect">
            <a:avLst>
              <a:gd name="adj" fmla="val 6000"/>
            </a:avLst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047488" y="6035040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5B9DF9"/>
                </a:solidFill>
                <a:latin typeface="Segoe UI"/>
              </a:rPr>
              <a:t>315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89204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675120" y="507492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El dossier cayo 3,4x mas rapido que la respuesta.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Significa que ademas de responder menos, los que responden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avanzan menos: el MSG2 dejo de funcionar como puente.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CAUSA RAIZ  ·  1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El CTA del MSG1 es el factor mas determinante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Comparacion entre las dos formas de cerrar el primer mensaje, sobre toda la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"Tenia una consulta"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94560"/>
            <a:ext cx="6766560" cy="402336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840480" y="2194560"/>
            <a:ext cx="6253611" cy="402336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716768" y="2176272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57.3%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9776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"Ofrece dossier directo"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798064"/>
            <a:ext cx="6766560" cy="402336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840480" y="2798064"/>
            <a:ext cx="2237330" cy="402336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16768" y="2779776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20.5%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"Propone reunion"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401568"/>
            <a:ext cx="6766560" cy="402336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840480" y="3401568"/>
            <a:ext cx="2608399" cy="402336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16768" y="3383280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23.9%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86784"/>
            <a:ext cx="3200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"Vale la pena que te cuente..."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005072"/>
            <a:ext cx="6766560" cy="402336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840480" y="4005072"/>
            <a:ext cx="1735295" cy="402336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716768" y="3986784"/>
            <a:ext cx="914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15.9%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874519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RESPUESTA SEGUN EL CIERRE DEL MSG1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3DD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45079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DD68C"/>
                </a:solidFill>
                <a:latin typeface="Segoe UI"/>
              </a:rPr>
              <a:t>"Tenia una consulta"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1032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n = 342    ·    57,3% responden    ·    15,8% dossier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343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37960" y="45079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87171"/>
                </a:solidFill>
                <a:latin typeface="Segoe UI"/>
              </a:rPr>
              <a:t>"Vale la pena que te cuente"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1032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n = 290    ·    15,9% responden    ·    2,8% dossier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9788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600760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B45B"/>
                </a:solidFill>
                <a:latin typeface="Segoe UI"/>
              </a:rPr>
              <a:t>Pedir ayuda abre la conversacion. Anunciar que vas a contar algo la cierra. 3,6x en respuesta, 5,6x en dossier.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CAUSA RAIZ  ·  2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Mencionar Hint en el primer mensaje corta la respuesta a la mitad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El cambio de metodologia del 20/08/26 introdujo Hint Media dentro del MSG1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Variante del MSG1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03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Dossier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1031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Palabras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45059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4023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SIN mencionar Hint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87168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462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8716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3DD68C"/>
                </a:solidFill>
                <a:latin typeface="Segoe UI"/>
              </a:rPr>
              <a:t>59,1%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8716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3DD68C"/>
                </a:solidFill>
                <a:latin typeface="Segoe UI"/>
              </a:rPr>
              <a:t>14,5%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48716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4023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CON Hint en el MSG1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62656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563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6265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16,0%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96265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F87171"/>
                </a:solidFill>
                <a:latin typeface="Segoe UI"/>
              </a:rPr>
              <a:t>5,3%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6265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Control: solo agosto y septiembre, para descartar que sea un efecto del paso del tiempo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Variante del MSG1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31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931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Respuesta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931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Dossier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2452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48640" y="4279392"/>
            <a:ext cx="11064240" cy="420624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4315968"/>
            <a:ext cx="4023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SIN mencionar Hint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15968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315968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42,6%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315968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14,8%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36592"/>
            <a:ext cx="4023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CON Hint en el MSG1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736592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533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736592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16,7%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736592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5,6%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4400" y="5504688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F2F5F8"/>
                </a:solidFill>
                <a:latin typeface="Segoe UI"/>
              </a:rPr>
              <a:t>El efecto se sostiene dentro del mismo periodo: 2,5x en respuesta y 2,6x en dossier.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F2F5F8"/>
                </a:solidFill>
                <a:latin typeface="Segoe UI"/>
              </a:rPr>
              <a:t>El CLAUDE.md original prohibia mencionar Hint en el MSG1. Esa regla estaba bien y se quito.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CAUSA RAIZ  ·  3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Los mensajes se alargaron 62% y la respuesta cayo con ellos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Tasa de respuesta segun la cantidad de palabras del MSG1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Menos de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194560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468880" y="2194560"/>
            <a:ext cx="3004819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79008" y="217627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67.6%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60 a 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761488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468880" y="2761488"/>
            <a:ext cx="1751329" cy="38404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79008" y="274320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39.4%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90 a 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328416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68880" y="3328416"/>
            <a:ext cx="902335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79008" y="331012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20.3%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77056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120 o mas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895344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468880" y="3895344"/>
            <a:ext cx="684530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779008" y="387705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15.4%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RESPUESTA SEGUN LARGO DEL MSG1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87451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LARGO MEDIO DEL MSG1 POR 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7627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194560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321040" y="2194560"/>
            <a:ext cx="1481099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945368" y="2176272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7432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761488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321040" y="2761488"/>
            <a:ext cx="1845716" cy="38404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945368" y="2743200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31012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328416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321040" y="3328416"/>
            <a:ext cx="2398928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945368" y="3310128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7705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895344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321040" y="3895344"/>
            <a:ext cx="2177643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945368" y="3877056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Controlado dentro de cada mes, el efecto se mantiene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937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4937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Corto (&lt;75 pal.)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937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Medio (75-100)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9377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Largo (100+)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23036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11064240" cy="347472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5321808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321808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96,8% resp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321808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100,0% resp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321808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66928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669280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46,6% resp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5669280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46,0% resp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669280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7,7% resp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980176"/>
            <a:ext cx="11064240" cy="347472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40080" y="6016752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6016752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45,9% resp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0" y="6016752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28,0% resp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016752"/>
            <a:ext cx="28346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16,2% resp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CAUSA RAIZ  ·  4 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El seguimiento se apago por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Contactos que recibieron un unico mensaje y nunca un segundo toque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148840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468880" y="2148840"/>
            <a:ext cx="2584094" cy="384048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808208" y="213055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31.4%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715768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468880" y="2715768"/>
            <a:ext cx="4649724" cy="38404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808208" y="269748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56.5%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64408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282696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68880" y="3282696"/>
            <a:ext cx="6542532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808208" y="326440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79.5%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31336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849624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468880" y="3849624"/>
            <a:ext cx="7711135" cy="384048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808208" y="383133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93.7%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828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% DE CONTACTOS CON UN SOLO MENSAJE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43982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7171"/>
                </a:solidFill>
                <a:latin typeface="Segoe UI"/>
              </a:rPr>
              <a:t>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9103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Leads quemados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30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respondieron y nunca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recibieron un MSG2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251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30168" y="43982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7171"/>
                </a:solidFill>
                <a:latin typeface="Segoe UI"/>
              </a:rPr>
              <a:t>68%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9103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De las respuestas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de septiembre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5330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quedaron sin seguimiento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51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19088" y="43982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7171"/>
                </a:solidFill>
                <a:latin typeface="Segoe UI"/>
              </a:rPr>
              <a:t>75,9%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9103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De los dossiers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330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nunca recibieron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un SEG1 de follow-up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4251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08008" y="439826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7171"/>
                </a:solidFill>
                <a:latin typeface="Segoe UI"/>
              </a:rPr>
              <a:t>0,9%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9103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2F5F8"/>
                </a:solidFill>
                <a:latin typeface="Segoe UI"/>
              </a:rPr>
              <a:t>Dossier → reunion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8008" y="53309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108 dossiers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8A94A6"/>
                </a:solidFill>
                <a:latin typeface="Segoe UI"/>
              </a:rPr>
              <a:t>produjeron 1 reunion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6035040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68680" y="610819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B45B"/>
                </a:solidFill>
                <a:latin typeface="Segoe UI"/>
              </a:rPr>
              <a:t>El benchmark del sector es 6 a 12 toques para agendar una reunion B2B. Hint Media entrega 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QUIEN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Genero: las mujeres responden mas, pero les escribimos cada vez menos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Mix de la base y conversion por genero, mes a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574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Mix mujeres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0574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Resp. mujeres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0574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Mix hombres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0574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Resp. hombres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41448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44,2%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41448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85,5%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41448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DD68C"/>
                </a:solidFill>
                <a:latin typeface="Segoe UI"/>
              </a:rPr>
              <a:t>40,1%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41448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73,9%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2549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25496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37,1%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825496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43,8%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25496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56,2%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825496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43,4%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172968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209544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209544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31,3%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209544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25,0%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209544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66,6%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09544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26,7%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935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593592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27,9%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593592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20,5%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593592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70,5%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593592"/>
            <a:ext cx="2148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F2F5F8"/>
                </a:solidFill>
                <a:latin typeface="Segoe UI"/>
              </a:rPr>
              <a:t>14,4%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14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1248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3DD68C"/>
                </a:solidFill>
                <a:latin typeface="Segoe UI"/>
              </a:rPr>
              <a:t>41,6%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4864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Respuesta mujeres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(total proyecto)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114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30168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BBF24"/>
                </a:solidFill>
                <a:latin typeface="Segoe UI"/>
              </a:rPr>
              <a:t>31,4%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864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Respuesta hombres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(total proyecto)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114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19088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3DD68C"/>
                </a:solidFill>
                <a:latin typeface="Segoe UI"/>
              </a:rPr>
              <a:t>5 de 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864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Reuniones conseguidas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fueron con mujeres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4114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208008" y="4297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7171"/>
                </a:solidFill>
                <a:latin typeface="Segoe UI"/>
              </a:rPr>
              <a:t>-16,3 pts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8008" y="4864608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Caida del mix femenino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de junio a septiembre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71500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68680" y="583387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Las listas de septiembre (construccion, mineria, fintech, founders) son estructuralmente masculinas. Eso solo ya costo puntos de conversion.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QUIEN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Seniority: el CEO en frio es el peor interlocutor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Tasa de respuesta y de dossier por nivel jerarquico, base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8483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C-Level (CTO/CFO/CMO)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0312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291840" y="2103120"/>
            <a:ext cx="1776666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41848" y="20848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57.1%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9631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Coordinador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51460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291840" y="2514600"/>
            <a:ext cx="2075370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41848" y="249631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66.7%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0779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Gerente /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92608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291840" y="2926080"/>
            <a:ext cx="1235265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41848" y="290779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39.7%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927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Especialista / Consultor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33756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291840" y="3337560"/>
            <a:ext cx="1104582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41848" y="331927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3075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Director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74904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291840" y="3749040"/>
            <a:ext cx="986345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41848" y="373075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4223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Founder / Socio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16052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291840" y="4160520"/>
            <a:ext cx="986345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41848" y="41422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5371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CEO / Presidente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57200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291840" y="4572000"/>
            <a:ext cx="784098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41848" y="455371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25.2%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65192"/>
            <a:ext cx="2651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Profesional tecnico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4983480"/>
            <a:ext cx="224028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291840" y="4983480"/>
            <a:ext cx="777875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41848" y="496519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25.0%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1810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RESPUESTA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18105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DOSSIER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08483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C-Level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210312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8412480" y="2103120"/>
            <a:ext cx="2083974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853928" y="20848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14.3%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49631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Coordinador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251460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853928" y="249631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90779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Gerente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292608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8412480" y="2926080"/>
            <a:ext cx="1588484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853928" y="290779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10.9%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31927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Especialista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333756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412480" y="3337560"/>
            <a:ext cx="947261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853928" y="331927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6.5%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373075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Director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374904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8412480" y="3749040"/>
            <a:ext cx="1326165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853928" y="373075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9.1%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414223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Founder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416052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8412480" y="4160520"/>
            <a:ext cx="1675923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0853928" y="41422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11.5%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455371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CEO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457200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8412480" y="4572000"/>
            <a:ext cx="786955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853928" y="455371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5.4%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496519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Tecnico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412480" y="498348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8412480" y="4983480"/>
            <a:ext cx="2083974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853928" y="496519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14.3%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E8B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68680" y="568756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Curiosidad: el Coordinador responde mas que nadie (66,7%) y pide dossier en 0% de los casos. Conversa, pero no decide.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El C-Level funcional (CTO, CFO, CMO) es el mejor blanco real: 57,1% responde y 14,3% pide dossier.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QUIEN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Sector: estamos invirtiendo el volumen en los peores mercados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Tamano de la base vs. tasa de dossier, base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Contactos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Respuesta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Dossier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011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Veredicto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Agencia /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957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957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82,6%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26,1%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3957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Mejor ratio, base chica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386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Consultoria / RRHH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386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7386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50,0%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386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20,6%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7386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Escalar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449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0815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Energia / Oil &amp; 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815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815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24,5%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815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13,8%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0815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Solido, mantener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244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Salud / Farma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4244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4244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47,4%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244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13,2%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244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Escalar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307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7673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Educacion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7673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7673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36,2%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673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10,1%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7673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Bueno pero fuera de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102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Retail / Consumo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1102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1102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45,0%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1102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8,3%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1102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Responde, no compra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4165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44531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Construccion / Real Est.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44531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4531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23,1%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4531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egoe UI"/>
              </a:rPr>
              <a:t>6,6%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44531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Caro para lo que rinde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7960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Tecnologia / SaaS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47960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47960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26,1%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7960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6,2%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47960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Mayor volumen, peor retorno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1023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0080" y="51389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Mineria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6160" y="51389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51389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27,1%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51389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3,5%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51389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Revisar o abandonar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481828"/>
            <a:ext cx="29260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Finanzas / Seguros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5481828"/>
            <a:ext cx="13716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54818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31,6%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5481828"/>
            <a:ext cx="14630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2,6%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0" y="5481828"/>
            <a:ext cx="35661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Revisar o abandonar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580644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68680" y="590702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B45B"/>
                </a:solidFill>
                <a:latin typeface="Segoe UI"/>
              </a:rPr>
              <a:t>Tecnologia + Mineria + Construccion = 463 contactos (42% de la base) y solo 27 dossiers. Consultoria + Salud = 72 contactos y 12 dossiers.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QUIEN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Geografia: Argentina es el 40% de la base y esta por debajo del promedio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Tasa de respuesta y dossier por pais, base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Costa Rica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148840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468880" y="2148840"/>
            <a:ext cx="2770430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41848" y="213055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61.5%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Panama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551176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468880" y="2551176"/>
            <a:ext cx="2720877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41848" y="2532888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60.4%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35224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Chile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2953512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68880" y="2953512"/>
            <a:ext cx="1873982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41848" y="2935224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41.6%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Colombia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355848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468880" y="3355848"/>
            <a:ext cx="1441524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41848" y="3337560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39896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Espana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758184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468880" y="3758184"/>
            <a:ext cx="1428010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641848" y="3739896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31.7%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42232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Mexico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160520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2468880" y="4160520"/>
            <a:ext cx="1202772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41848" y="41422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26.7%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44568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Argentina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4562856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468880" y="4562856"/>
            <a:ext cx="1148715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41848" y="4544568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25.5%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46904"/>
            <a:ext cx="18288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Peru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965192"/>
            <a:ext cx="306324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468880" y="4965192"/>
            <a:ext cx="752295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41848" y="4946904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16.7%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1847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RESPUESTA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18470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TASA DE DOSSIER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13055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Panama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214884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8412480" y="2148840"/>
            <a:ext cx="2086275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853928" y="213055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17.0%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532888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Colombia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2551176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8412480" y="2551176"/>
            <a:ext cx="1570842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853928" y="2532888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12.8%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935224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Chile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2953512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412480" y="2953512"/>
            <a:ext cx="1374487" cy="283464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853928" y="2935224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Segoe UI"/>
              </a:rPr>
              <a:t>11.2%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337560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Argentina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355848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8412480" y="3355848"/>
            <a:ext cx="1165860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853928" y="3337560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9.5%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739896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Costa Rica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3758184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8412480" y="3758184"/>
            <a:ext cx="1079954" cy="283464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0853928" y="3739896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Segoe UI"/>
              </a:rPr>
              <a:t>8.8%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142232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Espana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4160520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8412480" y="4160520"/>
            <a:ext cx="589066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853928" y="4142232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4.8%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4544568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Mexico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562856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412480" y="4562856"/>
            <a:ext cx="404982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853928" y="4544568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3.3%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4946904"/>
            <a:ext cx="164592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2F5F8"/>
                </a:solidFill>
                <a:latin typeface="Segoe UI"/>
              </a:rPr>
              <a:t>Peru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4965192"/>
            <a:ext cx="2331720" cy="283464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8412480" y="4965192"/>
            <a:ext cx="343621" cy="283464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853928" y="4946904"/>
            <a:ext cx="7772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87171"/>
                </a:solidFill>
                <a:latin typeface="Segoe UI"/>
              </a:rPr>
              <a:t>2.8%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E8B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68680" y="55595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Panama (n=53) rinde 17,0% de dossier: casi el doble que Argentina (n=440, 9,5%). Centroamerica y Caribe contestan mucho mas.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Peru y Mexico, con 96 contactos combinados, produjeron 3 dossiers. Son los candidatos mas claros a recortar.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QUE NOS DIJERON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Anatomia de las 368 respuestas con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Clasificacion automatica de lo que contesto el prospecto y su conversion posterior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Tipo de respuesta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0116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Casos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Dossier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Tasa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8640" y="23591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Da mail o telefono directo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957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3957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957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55,2%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386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Pide el dossier o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7386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386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7386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45,6%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449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30815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Interes explicito ("contame", "dale")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815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815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815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33,9%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244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Respuesta larga y elaborada (&gt;400 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4244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4244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244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30,2%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307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7673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Deriva a otra persona del equipo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7673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7673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7673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30,0%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102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Pregunta que hacemos / que vendemos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1102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1102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1102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25,0%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165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44531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Solo cortesia ("gracias", "suerte")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4531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68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4531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4531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20,6%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960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Propone reunion o llamada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7960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7960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7960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20,0%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102352"/>
            <a:ext cx="11064240" cy="3429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51389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Objecion de timing ("mas adelante")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1389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1389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1389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9,5%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481828"/>
            <a:ext cx="512064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Rechazo directo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5481828"/>
            <a:ext cx="15544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481828"/>
            <a:ext cx="173736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5481828"/>
            <a:ext cx="246888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9,1%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80644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68680" y="590702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8B45B"/>
                </a:solidFill>
                <a:latin typeface="Segoe UI"/>
              </a:rPr>
              <a:t>La senal mas fuerte de compra es que den un mail: 55,2% termina en dossier. Es el unico momento donde hay que dejar todo y responder.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QUE NOS DIJERON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Como cambiaron las respuestas mes a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Porcentaje sobre el total de respuestas de cada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Tipo de respuesta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057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Junio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057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Julio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57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Agosto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574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Septiembre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0574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Tendencia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5000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48640" y="240487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44144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Interes explicito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414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51,9%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414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49,2%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414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51,2%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4144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56,0%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44144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estable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Propone reunion o llamada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8072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0,0%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072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8072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4,7%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0720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12,0%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0720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sube 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3639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317296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Deriva a otra persona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1729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1,9%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1729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7296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8,1%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7296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12,0%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17296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3DD68C"/>
                </a:solidFill>
                <a:latin typeface="Segoe UI"/>
              </a:rPr>
              <a:t>sube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538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Pregunta que hacemos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53872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0,9%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53872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1,6%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53872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4,7%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53872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10,0%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53872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sube 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6791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Objecion de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90448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5,6%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90448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3,2%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0448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4,7%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0448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14,0%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90448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sube 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27024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Rechazo directo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2702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2,8%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2702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0,8%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2702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3,5%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27024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8,0%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427024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sube 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59943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463600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F5F8"/>
                </a:solidFill>
                <a:latin typeface="Segoe UI"/>
              </a:rPr>
              <a:t>Solo cortesia / brush-off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46360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28,7%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6360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14,5%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63600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11,6%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63600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18,0%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4636008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Segoe UI"/>
              </a:rPr>
              <a:t>vuelve a subir 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5166360"/>
            <a:ext cx="5303520" cy="11430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3DD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68680" y="53035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LO BUENO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Quien contesta ahora propone reunion (12%) y deriva a la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persona correcta (12%). Las respuestas son de mejor calidad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comercial que en junio.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5166360"/>
            <a:ext cx="5303520" cy="114300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46520" y="53035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LO MALO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10% pregunta que hacemos: el MSG1 menciona Hint pero no se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entiende. Y la objecion de timing se triplico, senal de que el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2F5F8"/>
                </a:solidFill>
                <a:latin typeface="Segoe UI"/>
              </a:rPr>
              <a:t>mensaje llega como pitch y no como consulta.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RESULTADO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Las 8 reuniones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Siete de las ocho NO pasaron por el dossier: salieron de conversaciones sostenidas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Prospecto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116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0116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Pais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0116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Genero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Giovanna Troncoso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957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39572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Agencia /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957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39572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Keylin 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76148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76148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Turismo / Eventos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6148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Costa 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76148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09067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1272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Luis Perez (Foamtec)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1272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Junio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12724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Industria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1272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Mexico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1272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Hombre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9300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Alejandra Salas Petit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49300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49300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Comunicacion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9300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Espana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49300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2219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85876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Ana Beatriz Estrada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85876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85876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Servicios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85876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Panama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8587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22452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Silvia Rojas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224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Julio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22452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Retail / E-commerce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22452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Costa Rica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22452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553712"/>
            <a:ext cx="11064240" cy="3657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459028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Luis A. Baquero Franco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459028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Agosto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459028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Tecnologia / SaaS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59028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Colombia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459028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Hombre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9560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Analia Angulo Rodriguez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49560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Septiembre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956048"/>
            <a:ext cx="2834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Consultoria Marketing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95604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Argentina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95604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Mujer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2578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41248" y="538581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87171"/>
                </a:solidFill>
                <a:latin typeface="Segoe UI"/>
              </a:rPr>
              <a:t>7 de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" y="58795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NO pasaron por dossier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29000" y="52578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630168" y="538581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DD68C"/>
                </a:solidFill>
                <a:latin typeface="Segoe UI"/>
              </a:rPr>
              <a:t>6 de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58795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Fueron mujeres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52578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19088" y="538581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DD68C"/>
                </a:solidFill>
                <a:latin typeface="Segoe UI"/>
              </a:rPr>
              <a:t>5 de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19088" y="58795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Salieron de conversar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06840" y="52578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208008" y="538581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BBF24"/>
                </a:solidFill>
                <a:latin typeface="Segoe UI"/>
              </a:rPr>
              <a:t>0,73%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08008" y="587959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A94A6"/>
                </a:solidFill>
                <a:latin typeface="Segoe UI"/>
              </a:rPr>
              <a:t>Contacto → reunion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CONTEXTO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Como estamos contra el benchmark del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Datos publicos 2026 de Belkins, Expandi y Overloop sobre outreach B2B en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Metrica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Benchmark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574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Hint junio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57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Hint septiembre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0574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A6"/>
                </a:solidFill>
                <a:latin typeface="Segoe UI"/>
              </a:rPr>
              <a:t>Lectura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10881360" cy="12700"/>
          </a:xfrm>
          <a:prstGeom prst="rect">
            <a:avLst/>
          </a:prstGeom>
          <a:solidFill>
            <a:srgbClr val="22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48640" y="2404872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Respuesta post-conexion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4144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7,2% - 10,4%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4144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75,6%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41448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15,9%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44144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Seguimos arriba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5292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Mensaje personalizado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5292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9,4%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85292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75,6%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852928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15,9%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5292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3DD68C"/>
                </a:solidFill>
                <a:latin typeface="Segoe UI"/>
              </a:rPr>
              <a:t>Seguimos arriba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27832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26440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Reunion (cold 1:muchos)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26440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0,8% - 2,5%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26440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1,74%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64408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0,32%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6440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Caimos al piso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7588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Reunion (1:1 tipo ABM)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6758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4% - 8%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67588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1,74%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675888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0,32%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67588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Muy por debajo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50792"/>
            <a:ext cx="11064240" cy="41148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4087368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F5F8"/>
                </a:solidFill>
                <a:latin typeface="Segoe UI"/>
              </a:rPr>
              <a:t>Toques hasta la reunion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08736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6 a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08736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~3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087368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F2F5F8"/>
                </a:solidFill>
                <a:latin typeface="Segoe UI"/>
              </a:rPr>
              <a:t>~1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08736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 i="0">
                <a:solidFill>
                  <a:srgbClr val="F87171"/>
                </a:solidFill>
                <a:latin typeface="Segoe UI"/>
              </a:rPr>
              <a:t>Critico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43484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3DD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8680" y="459028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LA BUENA NOTICIA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Incluso en su peor mes, Hint Media responde 15,9%: entre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1,5x y 2x el benchmark del mercado (7,2% - 10,4%).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El metodo de analisis previo funciona. El problema no 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la calidad del research, es como se convierte en mensaje.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43484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46520" y="459028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LA MALA NOTICIA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Hint hace trabajo de calidad ABM (analisis individual,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senal humana, hipotesis) y cobra resultado de spray-and-pray.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La razon es unica: un solo toque. El mercado necesita entre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F2F5F8"/>
                </a:solidFill>
                <a:latin typeface="Segoe UI"/>
              </a:rPr>
              <a:t>6 y 12 para agendar. Ahi se pierde todo el esfuerzo previo.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Curiosidades del trimestre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A94A6"/>
                </a:solidFill>
                <a:latin typeface="Segoe UI"/>
              </a:rPr>
              <a:t>Cosas que los datos dicen y no se ven en el dia a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82496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139696"/>
            <a:ext cx="91440" cy="91440"/>
          </a:xfrm>
          <a:prstGeom prst="roundRect">
            <a:avLst>
              <a:gd name="adj" fmla="val 6000"/>
            </a:avLst>
          </a:prstGeom>
          <a:solidFill>
            <a:srgbClr val="E8B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10625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El analisis previo predice el resultado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1062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8A94A6"/>
                </a:solidFill>
                <a:latin typeface="Segoe UI"/>
              </a:rPr>
              <a:t>Los contactos con Confidence HIGH en el .md convierten 11,0% a dossier. Los MEDIUM, 4,2%. Los LOW, 0%. Cuando el analisis duda, el mensaje no funciona: conviene descartar el contacto antes que escribirlo.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52928"/>
            <a:ext cx="91440" cy="91440"/>
          </a:xfrm>
          <a:prstGeom prst="roundRect">
            <a:avLst>
              <a:gd name="adj" fmla="val 6000"/>
            </a:avLst>
          </a:prstGeom>
          <a:solidFill>
            <a:srgbClr val="E8B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10625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Las mejores charlas no dejaron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17520"/>
            <a:ext cx="1062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8A94A6"/>
                </a:solidFill>
                <a:latin typeface="Segoe UI"/>
              </a:rPr>
              <a:t>Las 8 respuestas mas largas del proyecto (hasta 3.042 caracteres) terminaron todas SIN dossier. Conversaciones excelentes que nunca se pidieron avanzar.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91440" cy="91440"/>
          </a:xfrm>
          <a:prstGeom prst="roundRect">
            <a:avLst>
              <a:gd name="adj" fmla="val 6000"/>
            </a:avLst>
          </a:prstGeom>
          <a:solidFill>
            <a:srgbClr val="E8B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3483864"/>
            <a:ext cx="10625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El angulo del mensaje casi no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30752"/>
            <a:ext cx="1062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8A94A6"/>
                </a:solidFill>
                <a:latin typeface="Segoe UI"/>
              </a:rPr>
              <a:t>Publicacion, frase textual, logro o trayectoria rinden todos entre 37% y 41%. Lo que cambia el resultado es el CTA y si mencionas Hint, no de donde sacaste la senal.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9392"/>
            <a:ext cx="91440" cy="91440"/>
          </a:xfrm>
          <a:prstGeom prst="roundRect">
            <a:avLst>
              <a:gd name="adj" fmla="val 6000"/>
            </a:avLst>
          </a:prstGeom>
          <a:solidFill>
            <a:srgbClr val="E8B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4197096"/>
            <a:ext cx="10625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Coordinadores: el espejismo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443984"/>
            <a:ext cx="1062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8A94A6"/>
                </a:solidFill>
                <a:latin typeface="Segoe UI"/>
              </a:rPr>
              <a:t>66,7% de respuesta, la mas alta de todas las jerarquias, y 0% de dossier sobre 18 casos. Conversan encantados y no deciden nada.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92624"/>
            <a:ext cx="91440" cy="91440"/>
          </a:xfrm>
          <a:prstGeom prst="roundRect">
            <a:avLst>
              <a:gd name="adj" fmla="val 6000"/>
            </a:avLst>
          </a:prstGeom>
          <a:solidFill>
            <a:srgbClr val="E8B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4910328"/>
            <a:ext cx="10625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5F8"/>
                </a:solidFill>
                <a:latin typeface="Segoe UI"/>
              </a:rPr>
              <a:t>Septiembre produjo cero SEG1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157216"/>
            <a:ext cx="10625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8A94A6"/>
                </a:solidFill>
                <a:latin typeface="Segoe UI"/>
              </a:rPr>
              <a:t>Primera vez en el proyecto. En junio se mandaron 48. El follow-up no se degrado: se apago.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Que dice septiembre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05840" cy="38100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181D25"/>
          </a:solidFill>
          <a:ln w="15240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F2F5F8"/>
                </a:solidFill>
                <a:latin typeface="Segoe UI"/>
              </a:rPr>
              <a:t>El motor de investigacion de Hint Media funciona y esta muy por encima del mercado.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i="0">
                <a:solidFill>
                  <a:srgbClr val="F2F5F8"/>
                </a:solidFill>
                <a:latin typeface="Segoe UI"/>
              </a:rPr>
              <a:t>Lo que se rompio en agosto y septiembre fue la capa de conversion: el mensaje y el seguimiento.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9DF9"/>
                </a:solidFill>
                <a:latin typeface="Segoe UI"/>
              </a:rPr>
              <a:t>LAS OCHO CORRECCIONES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48456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3566160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1. El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13048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Volver a "tenia una consulta". 57,3% vs 15,9%.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4215384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2. Hint fuera del MSG1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462272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59,1% vs 16,0% de respuesta.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46904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6112" y="4864608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3. Mensajes de 60 palabras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11496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67,6% vs 15,4% en los de 120+.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96128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5513832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4. Seguimiento obligatorio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760720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De 1 toque a 6. Es el unico camino a la reunion.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48456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65392" y="3566160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5. Menos volumen, mejor lista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813048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42% de la base esta en los 3 peores sectores.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297680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65392" y="4215384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6. Recuperar el mix femenino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462272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41,6% vs 31,4% de respuesta. 6 de 8 reuniones.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946904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65392" y="4864608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7. Apuntar al C-Level funcional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111496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57,1% responde. El CEO en frio, 25,2%.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596128"/>
            <a:ext cx="91440" cy="91440"/>
          </a:xfrm>
          <a:prstGeom prst="roundRect">
            <a:avLst>
              <a:gd name="adj" fmla="val 6000"/>
            </a:avLst>
          </a:prstGeom>
          <a:solidFill>
            <a:srgbClr val="3DD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65392" y="5513832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F5F8"/>
                </a:solidFill>
                <a:latin typeface="Segoe UI"/>
              </a:rPr>
              <a:t>8. Rescatar los 97 leads quemados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760720"/>
            <a:ext cx="4956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8A94A6"/>
                </a:solidFill>
                <a:latin typeface="Segoe UI"/>
              </a:rPr>
              <a:t>Ya respondieron. Estan sin tocar.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Hint Media · Informe Septiembre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55080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